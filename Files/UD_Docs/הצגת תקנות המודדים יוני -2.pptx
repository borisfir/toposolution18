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0" r:id="rId2"/>
  </p:sldMasterIdLst>
  <p:notesMasterIdLst>
    <p:notesMasterId r:id="rId29"/>
  </p:notesMasterIdLst>
  <p:sldIdLst>
    <p:sldId id="256" r:id="rId3"/>
    <p:sldId id="257" r:id="rId4"/>
    <p:sldId id="283" r:id="rId5"/>
    <p:sldId id="282" r:id="rId6"/>
    <p:sldId id="284" r:id="rId7"/>
    <p:sldId id="285" r:id="rId8"/>
    <p:sldId id="258" r:id="rId9"/>
    <p:sldId id="322" r:id="rId10"/>
    <p:sldId id="259" r:id="rId11"/>
    <p:sldId id="260" r:id="rId12"/>
    <p:sldId id="278" r:id="rId13"/>
    <p:sldId id="321" r:id="rId14"/>
    <p:sldId id="286" r:id="rId15"/>
    <p:sldId id="279" r:id="rId16"/>
    <p:sldId id="287" r:id="rId17"/>
    <p:sldId id="323" r:id="rId18"/>
    <p:sldId id="324" r:id="rId19"/>
    <p:sldId id="316" r:id="rId20"/>
    <p:sldId id="318" r:id="rId21"/>
    <p:sldId id="319" r:id="rId22"/>
    <p:sldId id="320" r:id="rId23"/>
    <p:sldId id="325" r:id="rId24"/>
    <p:sldId id="326" r:id="rId25"/>
    <p:sldId id="327" r:id="rId26"/>
    <p:sldId id="313" r:id="rId27"/>
    <p:sldId id="312" r:id="rId28"/>
  </p:sldIdLst>
  <p:sldSz cx="9144000" cy="6858000" type="screen4x3"/>
  <p:notesSz cx="6873875" cy="10063163"/>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FF66"/>
    <a:srgbClr val="000066"/>
    <a:srgbClr val="0000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סגנון בהיר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ללא סגנון, ללא רשת">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סגנון בהיר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94660"/>
  </p:normalViewPr>
  <p:slideViewPr>
    <p:cSldViewPr>
      <p:cViewPr>
        <p:scale>
          <a:sx n="70" d="100"/>
          <a:sy n="70" d="100"/>
        </p:scale>
        <p:origin x="-606" y="-102"/>
      </p:cViewPr>
      <p:guideLst>
        <p:guide orient="horz" pos="4156"/>
        <p:guide pos="2880"/>
      </p:guideLst>
    </p:cSldViewPr>
  </p:slideViewPr>
  <p:notesTextViewPr>
    <p:cViewPr>
      <p:scale>
        <a:sx n="1" d="1"/>
        <a:sy n="1" d="1"/>
      </p:scale>
      <p:origin x="0" y="0"/>
    </p:cViewPr>
  </p:notesTextViewPr>
  <p:sorterViewPr>
    <p:cViewPr>
      <p:scale>
        <a:sx n="100" d="100"/>
        <a:sy n="100" d="100"/>
      </p:scale>
      <p:origin x="0" y="255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95196" y="0"/>
            <a:ext cx="2978679" cy="503158"/>
          </a:xfrm>
          <a:prstGeom prst="rect">
            <a:avLst/>
          </a:prstGeom>
        </p:spPr>
        <p:txBody>
          <a:bodyPr vert="horz" lIns="96780" tIns="48390" rIns="96780" bIns="48390" rtlCol="1"/>
          <a:lstStyle>
            <a:lvl1pPr algn="r">
              <a:defRPr sz="1300"/>
            </a:lvl1pPr>
          </a:lstStyle>
          <a:p>
            <a:endParaRPr lang="he-IL"/>
          </a:p>
        </p:txBody>
      </p:sp>
      <p:sp>
        <p:nvSpPr>
          <p:cNvPr id="3" name="מציין מיקום של תאריך 2"/>
          <p:cNvSpPr>
            <a:spLocks noGrp="1"/>
          </p:cNvSpPr>
          <p:nvPr>
            <p:ph type="dt" idx="1"/>
          </p:nvPr>
        </p:nvSpPr>
        <p:spPr>
          <a:xfrm>
            <a:off x="1592" y="0"/>
            <a:ext cx="2978679" cy="503158"/>
          </a:xfrm>
          <a:prstGeom prst="rect">
            <a:avLst/>
          </a:prstGeom>
        </p:spPr>
        <p:txBody>
          <a:bodyPr vert="horz" lIns="96780" tIns="48390" rIns="96780" bIns="48390" rtlCol="1"/>
          <a:lstStyle>
            <a:lvl1pPr algn="l">
              <a:defRPr sz="1300"/>
            </a:lvl1pPr>
          </a:lstStyle>
          <a:p>
            <a:fld id="{6C89C4B1-E012-4133-A0D8-0710F8DAD71C}" type="datetimeFigureOut">
              <a:rPr lang="he-IL" smtClean="0"/>
              <a:pPr/>
              <a:t>י"ג/תמוז/תשע"ג</a:t>
            </a:fld>
            <a:endParaRPr lang="he-IL"/>
          </a:p>
        </p:txBody>
      </p:sp>
      <p:sp>
        <p:nvSpPr>
          <p:cNvPr id="4" name="מציין מיקום של תמונת שקופית 3"/>
          <p:cNvSpPr>
            <a:spLocks noGrp="1" noRot="1" noChangeAspect="1"/>
          </p:cNvSpPr>
          <p:nvPr>
            <p:ph type="sldImg" idx="2"/>
          </p:nvPr>
        </p:nvSpPr>
        <p:spPr>
          <a:xfrm>
            <a:off x="920750" y="754063"/>
            <a:ext cx="5032375" cy="3775075"/>
          </a:xfrm>
          <a:prstGeom prst="rect">
            <a:avLst/>
          </a:prstGeom>
          <a:noFill/>
          <a:ln w="12700">
            <a:solidFill>
              <a:prstClr val="black"/>
            </a:solidFill>
          </a:ln>
        </p:spPr>
        <p:txBody>
          <a:bodyPr vert="horz" lIns="96780" tIns="48390" rIns="96780" bIns="48390" rtlCol="1" anchor="ctr"/>
          <a:lstStyle/>
          <a:p>
            <a:endParaRPr lang="he-IL"/>
          </a:p>
        </p:txBody>
      </p:sp>
      <p:sp>
        <p:nvSpPr>
          <p:cNvPr id="5" name="מציין מיקום של הערות 4"/>
          <p:cNvSpPr>
            <a:spLocks noGrp="1"/>
          </p:cNvSpPr>
          <p:nvPr>
            <p:ph type="body" sz="quarter" idx="3"/>
          </p:nvPr>
        </p:nvSpPr>
        <p:spPr>
          <a:xfrm>
            <a:off x="687388" y="4780003"/>
            <a:ext cx="5499100" cy="4528423"/>
          </a:xfrm>
          <a:prstGeom prst="rect">
            <a:avLst/>
          </a:prstGeom>
        </p:spPr>
        <p:txBody>
          <a:bodyPr vert="horz" lIns="96780" tIns="48390" rIns="96780" bIns="48390" rtlCol="1"/>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3895196" y="9558258"/>
            <a:ext cx="2978679" cy="503158"/>
          </a:xfrm>
          <a:prstGeom prst="rect">
            <a:avLst/>
          </a:prstGeom>
        </p:spPr>
        <p:txBody>
          <a:bodyPr vert="horz" lIns="96780" tIns="48390" rIns="96780" bIns="48390" rtlCol="1" anchor="b"/>
          <a:lstStyle>
            <a:lvl1pPr algn="r">
              <a:defRPr sz="1300"/>
            </a:lvl1pPr>
          </a:lstStyle>
          <a:p>
            <a:endParaRPr lang="he-IL"/>
          </a:p>
        </p:txBody>
      </p:sp>
      <p:sp>
        <p:nvSpPr>
          <p:cNvPr id="7" name="מציין מיקום של מספר שקופית 6"/>
          <p:cNvSpPr>
            <a:spLocks noGrp="1"/>
          </p:cNvSpPr>
          <p:nvPr>
            <p:ph type="sldNum" sz="quarter" idx="5"/>
          </p:nvPr>
        </p:nvSpPr>
        <p:spPr>
          <a:xfrm>
            <a:off x="1592" y="9558258"/>
            <a:ext cx="2978679" cy="503158"/>
          </a:xfrm>
          <a:prstGeom prst="rect">
            <a:avLst/>
          </a:prstGeom>
        </p:spPr>
        <p:txBody>
          <a:bodyPr vert="horz" lIns="96780" tIns="48390" rIns="96780" bIns="48390" rtlCol="1" anchor="b"/>
          <a:lstStyle>
            <a:lvl1pPr algn="l">
              <a:defRPr sz="1300"/>
            </a:lvl1pPr>
          </a:lstStyle>
          <a:p>
            <a:fld id="{CE6E99BF-0250-4935-9FDC-850B9585E58A}" type="slidenum">
              <a:rPr lang="he-IL" smtClean="0"/>
              <a:pPr/>
              <a:t>‹#›</a:t>
            </a:fld>
            <a:endParaRPr lang="he-IL"/>
          </a:p>
        </p:txBody>
      </p:sp>
    </p:spTree>
    <p:extLst>
      <p:ext uri="{BB962C8B-B14F-4D97-AF65-F5344CB8AC3E}">
        <p14:creationId xmlns:p14="http://schemas.microsoft.com/office/powerpoint/2010/main" xmlns="" val="290831416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5"/>
            <a:ext cx="7772400" cy="1470025"/>
          </a:xfrm>
        </p:spPr>
        <p:txBody>
          <a:body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450E5F6A-82C0-4357-8E9E-D485BE210B5E}" type="datetimeFigureOut">
              <a:rPr lang="he-IL" smtClean="0"/>
              <a:pPr/>
              <a:t>י"ג/תמוז/תשע"ג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6436D5AC-6280-4863-A44B-47AA97A328C3}" type="slidenum">
              <a:rPr lang="he-IL" smtClean="0"/>
              <a:pPr/>
              <a:t>‹#›</a:t>
            </a:fld>
            <a:endParaRPr lang="he-IL"/>
          </a:p>
        </p:txBody>
      </p:sp>
    </p:spTree>
    <p:extLst>
      <p:ext uri="{BB962C8B-B14F-4D97-AF65-F5344CB8AC3E}">
        <p14:creationId xmlns:p14="http://schemas.microsoft.com/office/powerpoint/2010/main" xmlns="" val="2913643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50E5F6A-82C0-4357-8E9E-D485BE210B5E}" type="datetimeFigureOut">
              <a:rPr lang="he-IL" smtClean="0"/>
              <a:pPr/>
              <a:t>י"ג/תמוז/תשע"ג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6436D5AC-6280-4863-A44B-47AA97A328C3}" type="slidenum">
              <a:rPr lang="he-IL" smtClean="0"/>
              <a:pPr/>
              <a:t>‹#›</a:t>
            </a:fld>
            <a:endParaRPr lang="he-IL"/>
          </a:p>
        </p:txBody>
      </p:sp>
    </p:spTree>
    <p:extLst>
      <p:ext uri="{BB962C8B-B14F-4D97-AF65-F5344CB8AC3E}">
        <p14:creationId xmlns:p14="http://schemas.microsoft.com/office/powerpoint/2010/main" xmlns="" val="3468178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0"/>
            <a:ext cx="7772400" cy="1362075"/>
          </a:xfrm>
        </p:spPr>
        <p:txBody>
          <a:bodyPr anchor="t"/>
          <a:lstStyle>
            <a:lvl1pPr algn="r">
              <a:defRPr sz="4000" b="1" cap="all"/>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450E5F6A-82C0-4357-8E9E-D485BE210B5E}" type="datetimeFigureOut">
              <a:rPr lang="he-IL" smtClean="0"/>
              <a:pPr/>
              <a:t>י"ג/תמוז/תשע"ג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6436D5AC-6280-4863-A44B-47AA97A328C3}" type="slidenum">
              <a:rPr lang="he-IL" smtClean="0"/>
              <a:pPr/>
              <a:t>‹#›</a:t>
            </a:fld>
            <a:endParaRPr lang="he-IL"/>
          </a:p>
        </p:txBody>
      </p:sp>
    </p:spTree>
    <p:extLst>
      <p:ext uri="{BB962C8B-B14F-4D97-AF65-F5344CB8AC3E}">
        <p14:creationId xmlns:p14="http://schemas.microsoft.com/office/powerpoint/2010/main" xmlns="" val="3651842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450E5F6A-82C0-4357-8E9E-D485BE210B5E}" type="datetimeFigureOut">
              <a:rPr lang="he-IL" smtClean="0"/>
              <a:pPr/>
              <a:t>י"ג/תמוז/תשע"ג</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6436D5AC-6280-4863-A44B-47AA97A328C3}" type="slidenum">
              <a:rPr lang="he-IL" smtClean="0"/>
              <a:pPr/>
              <a:t>‹#›</a:t>
            </a:fld>
            <a:endParaRPr lang="he-IL"/>
          </a:p>
        </p:txBody>
      </p:sp>
    </p:spTree>
    <p:extLst>
      <p:ext uri="{BB962C8B-B14F-4D97-AF65-F5344CB8AC3E}">
        <p14:creationId xmlns:p14="http://schemas.microsoft.com/office/powerpoint/2010/main" xmlns="" val="2718925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6" name="מציין מיקום תוכן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450E5F6A-82C0-4357-8E9E-D485BE210B5E}" type="datetimeFigureOut">
              <a:rPr lang="he-IL" smtClean="0"/>
              <a:pPr/>
              <a:t>י"ג/תמוז/תשע"ג</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6436D5AC-6280-4863-A44B-47AA97A328C3}" type="slidenum">
              <a:rPr lang="he-IL" smtClean="0"/>
              <a:pPr/>
              <a:t>‹#›</a:t>
            </a:fld>
            <a:endParaRPr lang="he-IL"/>
          </a:p>
        </p:txBody>
      </p:sp>
    </p:spTree>
    <p:extLst>
      <p:ext uri="{BB962C8B-B14F-4D97-AF65-F5344CB8AC3E}">
        <p14:creationId xmlns:p14="http://schemas.microsoft.com/office/powerpoint/2010/main" xmlns="" val="3305566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450E5F6A-82C0-4357-8E9E-D485BE210B5E}" type="datetimeFigureOut">
              <a:rPr lang="he-IL" smtClean="0"/>
              <a:pPr/>
              <a:t>י"ג/תמוז/תשע"ג</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6436D5AC-6280-4863-A44B-47AA97A328C3}" type="slidenum">
              <a:rPr lang="he-IL" smtClean="0"/>
              <a:pPr/>
              <a:t>‹#›</a:t>
            </a:fld>
            <a:endParaRPr lang="he-IL"/>
          </a:p>
        </p:txBody>
      </p:sp>
    </p:spTree>
    <p:extLst>
      <p:ext uri="{BB962C8B-B14F-4D97-AF65-F5344CB8AC3E}">
        <p14:creationId xmlns:p14="http://schemas.microsoft.com/office/powerpoint/2010/main" xmlns="" val="632484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450E5F6A-82C0-4357-8E9E-D485BE210B5E}" type="datetimeFigureOut">
              <a:rPr lang="he-IL" smtClean="0"/>
              <a:pPr/>
              <a:t>י"ג/תמוז/תשע"ג</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6436D5AC-6280-4863-A44B-47AA97A328C3}" type="slidenum">
              <a:rPr lang="he-IL" smtClean="0"/>
              <a:pPr/>
              <a:t>‹#›</a:t>
            </a:fld>
            <a:endParaRPr lang="he-IL"/>
          </a:p>
        </p:txBody>
      </p:sp>
    </p:spTree>
    <p:extLst>
      <p:ext uri="{BB962C8B-B14F-4D97-AF65-F5344CB8AC3E}">
        <p14:creationId xmlns:p14="http://schemas.microsoft.com/office/powerpoint/2010/main" xmlns="" val="2988154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3008313" cy="1162050"/>
          </a:xfrm>
        </p:spPr>
        <p:txBody>
          <a:bodyPr anchor="b"/>
          <a:lstStyle>
            <a:lvl1pPr algn="r">
              <a:defRPr sz="2000" b="1"/>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450E5F6A-82C0-4357-8E9E-D485BE210B5E}" type="datetimeFigureOut">
              <a:rPr lang="he-IL" smtClean="0"/>
              <a:pPr/>
              <a:t>י"ג/תמוז/תשע"ג</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6436D5AC-6280-4863-A44B-47AA97A328C3}" type="slidenum">
              <a:rPr lang="he-IL" smtClean="0"/>
              <a:pPr/>
              <a:t>‹#›</a:t>
            </a:fld>
            <a:endParaRPr lang="he-IL"/>
          </a:p>
        </p:txBody>
      </p:sp>
    </p:spTree>
    <p:extLst>
      <p:ext uri="{BB962C8B-B14F-4D97-AF65-F5344CB8AC3E}">
        <p14:creationId xmlns:p14="http://schemas.microsoft.com/office/powerpoint/2010/main" xmlns="" val="799429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450E5F6A-82C0-4357-8E9E-D485BE210B5E}" type="datetimeFigureOut">
              <a:rPr lang="he-IL" smtClean="0"/>
              <a:pPr/>
              <a:t>י"ג/תמוז/תשע"ג</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6436D5AC-6280-4863-A44B-47AA97A328C3}" type="slidenum">
              <a:rPr lang="he-IL" smtClean="0"/>
              <a:pPr/>
              <a:t>‹#›</a:t>
            </a:fld>
            <a:endParaRPr lang="he-IL"/>
          </a:p>
        </p:txBody>
      </p:sp>
    </p:spTree>
    <p:extLst>
      <p:ext uri="{BB962C8B-B14F-4D97-AF65-F5344CB8AC3E}">
        <p14:creationId xmlns:p14="http://schemas.microsoft.com/office/powerpoint/2010/main" xmlns="" val="1354974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50E5F6A-82C0-4357-8E9E-D485BE210B5E}" type="datetimeFigureOut">
              <a:rPr lang="he-IL" smtClean="0"/>
              <a:pPr/>
              <a:t>י"ג/תמוז/תשע"ג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6436D5AC-6280-4863-A44B-47AA97A328C3}" type="slidenum">
              <a:rPr lang="he-IL" smtClean="0"/>
              <a:pPr/>
              <a:t>‹#›</a:t>
            </a:fld>
            <a:endParaRPr lang="he-IL"/>
          </a:p>
        </p:txBody>
      </p:sp>
    </p:spTree>
    <p:extLst>
      <p:ext uri="{BB962C8B-B14F-4D97-AF65-F5344CB8AC3E}">
        <p14:creationId xmlns:p14="http://schemas.microsoft.com/office/powerpoint/2010/main" xmlns="" val="4272691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38"/>
            <a:ext cx="2057400" cy="5851525"/>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457200" y="274638"/>
            <a:ext cx="6019800" cy="5851525"/>
          </a:xfrm>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50E5F6A-82C0-4357-8E9E-D485BE210B5E}" type="datetimeFigureOut">
              <a:rPr lang="he-IL" smtClean="0"/>
              <a:pPr/>
              <a:t>י"ג/תמוז/תשע"ג</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6436D5AC-6280-4863-A44B-47AA97A328C3}" type="slidenum">
              <a:rPr lang="he-IL" smtClean="0"/>
              <a:pPr/>
              <a:t>‹#›</a:t>
            </a:fld>
            <a:endParaRPr lang="he-IL"/>
          </a:p>
        </p:txBody>
      </p:sp>
    </p:spTree>
    <p:extLst>
      <p:ext uri="{BB962C8B-B14F-4D97-AF65-F5344CB8AC3E}">
        <p14:creationId xmlns:p14="http://schemas.microsoft.com/office/powerpoint/2010/main" xmlns="" val="3559730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5"/>
            <a:ext cx="7772400" cy="1470025"/>
          </a:xfrm>
        </p:spPr>
        <p:txBody>
          <a:body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450E5F6A-82C0-4357-8E9E-D485BE210B5E}" type="datetimeFigureOut">
              <a:rPr lang="he-IL" smtClean="0">
                <a:solidFill>
                  <a:prstClr val="black">
                    <a:tint val="75000"/>
                  </a:prstClr>
                </a:solidFill>
              </a:rPr>
              <a:pPr/>
              <a:t>י"ג/תמוז/תשע"ג</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6436D5AC-6280-4863-A44B-47AA97A328C3}"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xmlns="" val="6320162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50E5F6A-82C0-4357-8E9E-D485BE210B5E}" type="datetimeFigureOut">
              <a:rPr lang="he-IL" smtClean="0">
                <a:solidFill>
                  <a:prstClr val="black">
                    <a:tint val="75000"/>
                  </a:prstClr>
                </a:solidFill>
              </a:rPr>
              <a:pPr/>
              <a:t>י"ג/תמוז/תשע"ג</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6436D5AC-6280-4863-A44B-47AA97A328C3}"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xmlns="" val="5562602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0"/>
            <a:ext cx="7772400" cy="1362075"/>
          </a:xfrm>
        </p:spPr>
        <p:txBody>
          <a:bodyPr anchor="t"/>
          <a:lstStyle>
            <a:lvl1pPr algn="r">
              <a:defRPr sz="4000" b="1" cap="all"/>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450E5F6A-82C0-4357-8E9E-D485BE210B5E}" type="datetimeFigureOut">
              <a:rPr lang="he-IL" smtClean="0">
                <a:solidFill>
                  <a:prstClr val="black">
                    <a:tint val="75000"/>
                  </a:prstClr>
                </a:solidFill>
              </a:rPr>
              <a:pPr/>
              <a:t>י"ג/תמוז/תשע"ג</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6436D5AC-6280-4863-A44B-47AA97A328C3}"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xmlns="" val="35338330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450E5F6A-82C0-4357-8E9E-D485BE210B5E}" type="datetimeFigureOut">
              <a:rPr lang="he-IL" smtClean="0">
                <a:solidFill>
                  <a:prstClr val="black">
                    <a:tint val="75000"/>
                  </a:prstClr>
                </a:solidFill>
              </a:rPr>
              <a:pPr/>
              <a:t>י"ג/תמוז/תשע"ג</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6436D5AC-6280-4863-A44B-47AA97A328C3}"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xmlns="" val="3314106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6" name="מציין מיקום תוכן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450E5F6A-82C0-4357-8E9E-D485BE210B5E}" type="datetimeFigureOut">
              <a:rPr lang="he-IL" smtClean="0">
                <a:solidFill>
                  <a:prstClr val="black">
                    <a:tint val="75000"/>
                  </a:prstClr>
                </a:solidFill>
              </a:rPr>
              <a:pPr/>
              <a:t>י"ג/תמוז/תשע"ג</a:t>
            </a:fld>
            <a:endParaRPr lang="he-IL">
              <a:solidFill>
                <a:prstClr val="black">
                  <a:tint val="75000"/>
                </a:prstClr>
              </a:solidFill>
            </a:endParaRPr>
          </a:p>
        </p:txBody>
      </p:sp>
      <p:sp>
        <p:nvSpPr>
          <p:cNvPr id="8" name="מציין מיקום של כותרת תחתונה 7"/>
          <p:cNvSpPr>
            <a:spLocks noGrp="1"/>
          </p:cNvSpPr>
          <p:nvPr>
            <p:ph type="ftr" sz="quarter" idx="11"/>
          </p:nvPr>
        </p:nvSpPr>
        <p:spPr/>
        <p:txBody>
          <a:bodyPr/>
          <a:lstStyle/>
          <a:p>
            <a:endParaRPr lang="he-IL">
              <a:solidFill>
                <a:prstClr val="black">
                  <a:tint val="75000"/>
                </a:prstClr>
              </a:solidFill>
            </a:endParaRPr>
          </a:p>
        </p:txBody>
      </p:sp>
      <p:sp>
        <p:nvSpPr>
          <p:cNvPr id="9" name="מציין מיקום של מספר שקופית 8"/>
          <p:cNvSpPr>
            <a:spLocks noGrp="1"/>
          </p:cNvSpPr>
          <p:nvPr>
            <p:ph type="sldNum" sz="quarter" idx="12"/>
          </p:nvPr>
        </p:nvSpPr>
        <p:spPr/>
        <p:txBody>
          <a:bodyPr/>
          <a:lstStyle/>
          <a:p>
            <a:fld id="{6436D5AC-6280-4863-A44B-47AA97A328C3}"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xmlns="" val="40563355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450E5F6A-82C0-4357-8E9E-D485BE210B5E}" type="datetimeFigureOut">
              <a:rPr lang="he-IL" smtClean="0">
                <a:solidFill>
                  <a:prstClr val="black">
                    <a:tint val="75000"/>
                  </a:prstClr>
                </a:solidFill>
              </a:rPr>
              <a:pPr/>
              <a:t>י"ג/תמוז/תשע"ג</a:t>
            </a:fld>
            <a:endParaRPr lang="he-IL">
              <a:solidFill>
                <a:prstClr val="black">
                  <a:tint val="75000"/>
                </a:prstClr>
              </a:solidFill>
            </a:endParaRPr>
          </a:p>
        </p:txBody>
      </p:sp>
      <p:sp>
        <p:nvSpPr>
          <p:cNvPr id="4" name="מציין מיקום של כותרת תחתונה 3"/>
          <p:cNvSpPr>
            <a:spLocks noGrp="1"/>
          </p:cNvSpPr>
          <p:nvPr>
            <p:ph type="ftr" sz="quarter" idx="11"/>
          </p:nvPr>
        </p:nvSpPr>
        <p:spPr/>
        <p:txBody>
          <a:bodyPr/>
          <a:lstStyle/>
          <a:p>
            <a:endParaRPr lang="he-IL">
              <a:solidFill>
                <a:prstClr val="black">
                  <a:tint val="75000"/>
                </a:prstClr>
              </a:solidFill>
            </a:endParaRPr>
          </a:p>
        </p:txBody>
      </p:sp>
      <p:sp>
        <p:nvSpPr>
          <p:cNvPr id="5" name="מציין מיקום של מספר שקופית 4"/>
          <p:cNvSpPr>
            <a:spLocks noGrp="1"/>
          </p:cNvSpPr>
          <p:nvPr>
            <p:ph type="sldNum" sz="quarter" idx="12"/>
          </p:nvPr>
        </p:nvSpPr>
        <p:spPr/>
        <p:txBody>
          <a:bodyPr/>
          <a:lstStyle/>
          <a:p>
            <a:fld id="{6436D5AC-6280-4863-A44B-47AA97A328C3}"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xmlns="" val="1461346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450E5F6A-82C0-4357-8E9E-D485BE210B5E}" type="datetimeFigureOut">
              <a:rPr lang="he-IL" smtClean="0">
                <a:solidFill>
                  <a:prstClr val="black">
                    <a:tint val="75000"/>
                  </a:prstClr>
                </a:solidFill>
              </a:rPr>
              <a:pPr/>
              <a:t>י"ג/תמוז/תשע"ג</a:t>
            </a:fld>
            <a:endParaRPr lang="he-IL">
              <a:solidFill>
                <a:prstClr val="black">
                  <a:tint val="75000"/>
                </a:prstClr>
              </a:solidFill>
            </a:endParaRPr>
          </a:p>
        </p:txBody>
      </p:sp>
      <p:sp>
        <p:nvSpPr>
          <p:cNvPr id="3" name="מציין מיקום של כותרת תחתונה 2"/>
          <p:cNvSpPr>
            <a:spLocks noGrp="1"/>
          </p:cNvSpPr>
          <p:nvPr>
            <p:ph type="ftr" sz="quarter" idx="11"/>
          </p:nvPr>
        </p:nvSpPr>
        <p:spPr/>
        <p:txBody>
          <a:bodyPr/>
          <a:lstStyle/>
          <a:p>
            <a:endParaRPr lang="he-IL">
              <a:solidFill>
                <a:prstClr val="black">
                  <a:tint val="75000"/>
                </a:prstClr>
              </a:solidFill>
            </a:endParaRPr>
          </a:p>
        </p:txBody>
      </p:sp>
      <p:sp>
        <p:nvSpPr>
          <p:cNvPr id="4" name="מציין מיקום של מספר שקופית 3"/>
          <p:cNvSpPr>
            <a:spLocks noGrp="1"/>
          </p:cNvSpPr>
          <p:nvPr>
            <p:ph type="sldNum" sz="quarter" idx="12"/>
          </p:nvPr>
        </p:nvSpPr>
        <p:spPr/>
        <p:txBody>
          <a:bodyPr/>
          <a:lstStyle/>
          <a:p>
            <a:fld id="{6436D5AC-6280-4863-A44B-47AA97A328C3}"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xmlns="" val="3987556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3008313" cy="1162050"/>
          </a:xfrm>
        </p:spPr>
        <p:txBody>
          <a:bodyPr anchor="b"/>
          <a:lstStyle>
            <a:lvl1pPr algn="r">
              <a:defRPr sz="2000" b="1"/>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450E5F6A-82C0-4357-8E9E-D485BE210B5E}" type="datetimeFigureOut">
              <a:rPr lang="he-IL" smtClean="0">
                <a:solidFill>
                  <a:prstClr val="black">
                    <a:tint val="75000"/>
                  </a:prstClr>
                </a:solidFill>
              </a:rPr>
              <a:pPr/>
              <a:t>י"ג/תמוז/תשע"ג</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6436D5AC-6280-4863-A44B-47AA97A328C3}"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xmlns="" val="37868414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450E5F6A-82C0-4357-8E9E-D485BE210B5E}" type="datetimeFigureOut">
              <a:rPr lang="he-IL" smtClean="0">
                <a:solidFill>
                  <a:prstClr val="black">
                    <a:tint val="75000"/>
                  </a:prstClr>
                </a:solidFill>
              </a:rPr>
              <a:pPr/>
              <a:t>י"ג/תמוז/תשע"ג</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6436D5AC-6280-4863-A44B-47AA97A328C3}"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xmlns="" val="40225658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50E5F6A-82C0-4357-8E9E-D485BE210B5E}" type="datetimeFigureOut">
              <a:rPr lang="he-IL" smtClean="0">
                <a:solidFill>
                  <a:prstClr val="black">
                    <a:tint val="75000"/>
                  </a:prstClr>
                </a:solidFill>
              </a:rPr>
              <a:pPr/>
              <a:t>י"ג/תמוז/תשע"ג</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6436D5AC-6280-4863-A44B-47AA97A328C3}"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xmlns="" val="1980594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38"/>
            <a:ext cx="2057400" cy="5851525"/>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457200" y="274638"/>
            <a:ext cx="6019800" cy="5851525"/>
          </a:xfrm>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50E5F6A-82C0-4357-8E9E-D485BE210B5E}" type="datetimeFigureOut">
              <a:rPr lang="he-IL" smtClean="0">
                <a:solidFill>
                  <a:prstClr val="black">
                    <a:tint val="75000"/>
                  </a:prstClr>
                </a:solidFill>
              </a:rPr>
              <a:pPr/>
              <a:t>י"ג/תמוז/תשע"ג</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6436D5AC-6280-4863-A44B-47AA97A328C3}"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xmlns="" val="1978972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4.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450E5F6A-82C0-4357-8E9E-D485BE210B5E}" type="datetimeFigureOut">
              <a:rPr lang="he-IL" smtClean="0"/>
              <a:pPr/>
              <a:t>י"ג/תמוז/תשע"ג</a:t>
            </a:fld>
            <a:endParaRPr lang="he-IL"/>
          </a:p>
        </p:txBody>
      </p:sp>
      <p:sp>
        <p:nvSpPr>
          <p:cNvPr id="5" name="מציין מיקום של כותרת תחתונה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6436D5AC-6280-4863-A44B-47AA97A328C3}" type="slidenum">
              <a:rPr lang="he-IL" smtClean="0"/>
              <a:pPr/>
              <a:t>‹#›</a:t>
            </a:fld>
            <a:endParaRPr lang="he-IL"/>
          </a:p>
        </p:txBody>
      </p:sp>
      <p:pic>
        <p:nvPicPr>
          <p:cNvPr id="7" name="תמונה 6"/>
          <p:cNvPicPr>
            <a:picLocks noChangeAspect="1"/>
          </p:cNvPicPr>
          <p:nvPr userDrawn="1"/>
        </p:nvPicPr>
        <p:blipFill>
          <a:blip r:embed="rId13" cstate="print">
            <a:extLst>
              <a:ext uri="{28A0092B-C50C-407E-A947-70E740481C1C}">
                <a14:useLocalDpi xmlns:a14="http://schemas.microsoft.com/office/drawing/2010/main" xmlns="" val="0"/>
              </a:ext>
            </a:extLst>
          </a:blip>
          <a:stretch>
            <a:fillRect/>
          </a:stretch>
        </p:blipFill>
        <p:spPr>
          <a:xfrm>
            <a:off x="0" y="0"/>
            <a:ext cx="9144000" cy="6858000"/>
          </a:xfrm>
          <a:prstGeom prst="rect">
            <a:avLst/>
          </a:prstGeom>
        </p:spPr>
      </p:pic>
      <p:pic>
        <p:nvPicPr>
          <p:cNvPr id="8" name="תמונה 7"/>
          <p:cNvPicPr>
            <a:picLocks noChangeAspect="1"/>
          </p:cNvPicPr>
          <p:nvPr userDrawn="1"/>
        </p:nvPicPr>
        <p:blipFill>
          <a:blip r:embed="rId14" cstate="print">
            <a:extLst>
              <a:ext uri="{28A0092B-C50C-407E-A947-70E740481C1C}">
                <a14:useLocalDpi xmlns:a14="http://schemas.microsoft.com/office/drawing/2010/main" xmlns="" val="0"/>
              </a:ext>
            </a:extLst>
          </a:blip>
          <a:stretch>
            <a:fillRect/>
          </a:stretch>
        </p:blipFill>
        <p:spPr>
          <a:xfrm>
            <a:off x="251520" y="188640"/>
            <a:ext cx="1044134" cy="792000"/>
          </a:xfrm>
          <a:prstGeom prst="rect">
            <a:avLst/>
          </a:prstGeom>
        </p:spPr>
      </p:pic>
      <p:pic>
        <p:nvPicPr>
          <p:cNvPr id="9" name="תמונה 8"/>
          <p:cNvPicPr>
            <a:picLocks noChangeAspect="1"/>
          </p:cNvPicPr>
          <p:nvPr userDrawn="1"/>
        </p:nvPicPr>
        <p:blipFill>
          <a:blip r:embed="rId15" cstate="print">
            <a:extLst>
              <a:ext uri="{28A0092B-C50C-407E-A947-70E740481C1C}">
                <a14:useLocalDpi xmlns:a14="http://schemas.microsoft.com/office/drawing/2010/main" xmlns="" val="0"/>
              </a:ext>
            </a:extLst>
          </a:blip>
          <a:stretch>
            <a:fillRect/>
          </a:stretch>
        </p:blipFill>
        <p:spPr>
          <a:xfrm>
            <a:off x="8244408" y="249600"/>
            <a:ext cx="579121" cy="752858"/>
          </a:xfrm>
          <a:prstGeom prst="rect">
            <a:avLst/>
          </a:prstGeom>
        </p:spPr>
      </p:pic>
      <p:sp>
        <p:nvSpPr>
          <p:cNvPr id="10" name="TextBox 9"/>
          <p:cNvSpPr txBox="1"/>
          <p:nvPr userDrawn="1"/>
        </p:nvSpPr>
        <p:spPr>
          <a:xfrm>
            <a:off x="3131840" y="-99392"/>
            <a:ext cx="2952328" cy="1354217"/>
          </a:xfrm>
          <a:prstGeom prst="rect">
            <a:avLst/>
          </a:prstGeom>
          <a:noFill/>
        </p:spPr>
        <p:txBody>
          <a:bodyPr wrap="square" rtlCol="1">
            <a:spAutoFit/>
          </a:bodyPr>
          <a:lstStyle/>
          <a:p>
            <a:endParaRPr lang="he-IL" dirty="0" smtClean="0"/>
          </a:p>
          <a:p>
            <a:pPr algn="ctr"/>
            <a:r>
              <a:rPr lang="he-IL" sz="1400" dirty="0" smtClean="0">
                <a:solidFill>
                  <a:schemeClr val="tx2"/>
                </a:solidFill>
              </a:rPr>
              <a:t>מדינת ישראל</a:t>
            </a:r>
          </a:p>
          <a:p>
            <a:pPr algn="ctr"/>
            <a:r>
              <a:rPr lang="he-IL" sz="1400" dirty="0" smtClean="0">
                <a:solidFill>
                  <a:schemeClr val="tx2"/>
                </a:solidFill>
              </a:rPr>
              <a:t>משרד הבינוי והשיכון</a:t>
            </a:r>
          </a:p>
          <a:p>
            <a:pPr algn="ctr"/>
            <a:r>
              <a:rPr lang="he-IL" b="1" dirty="0" smtClean="0">
                <a:solidFill>
                  <a:schemeClr val="tx2"/>
                </a:solidFill>
              </a:rPr>
              <a:t>המרכז למיפוי ישראל</a:t>
            </a:r>
          </a:p>
          <a:p>
            <a:endParaRPr lang="he-IL" dirty="0"/>
          </a:p>
        </p:txBody>
      </p:sp>
    </p:spTree>
    <p:extLst>
      <p:ext uri="{BB962C8B-B14F-4D97-AF65-F5344CB8AC3E}">
        <p14:creationId xmlns:p14="http://schemas.microsoft.com/office/powerpoint/2010/main" xmlns="" val="1177630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450E5F6A-82C0-4357-8E9E-D485BE210B5E}" type="datetimeFigureOut">
              <a:rPr lang="he-IL" smtClean="0">
                <a:solidFill>
                  <a:prstClr val="black">
                    <a:tint val="75000"/>
                  </a:prstClr>
                </a:solidFill>
              </a:rPr>
              <a:pPr/>
              <a:t>י"ג/תמוז/תשע"ג</a:t>
            </a:fld>
            <a:endParaRPr lang="he-IL">
              <a:solidFill>
                <a:prstClr val="black">
                  <a:tint val="75000"/>
                </a:prstClr>
              </a:solidFill>
            </a:endParaRPr>
          </a:p>
        </p:txBody>
      </p:sp>
      <p:sp>
        <p:nvSpPr>
          <p:cNvPr id="5" name="מציין מיקום של כותרת תחתונה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solidFill>
                <a:prstClr val="black">
                  <a:tint val="75000"/>
                </a:prstClr>
              </a:solidFill>
            </a:endParaRPr>
          </a:p>
        </p:txBody>
      </p:sp>
      <p:sp>
        <p:nvSpPr>
          <p:cNvPr id="6" name="מציין מיקום של מספר שקופית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6436D5AC-6280-4863-A44B-47AA97A328C3}" type="slidenum">
              <a:rPr lang="he-IL" smtClean="0">
                <a:solidFill>
                  <a:prstClr val="black">
                    <a:tint val="75000"/>
                  </a:prstClr>
                </a:solidFill>
              </a:rPr>
              <a:pPr/>
              <a:t>‹#›</a:t>
            </a:fld>
            <a:endParaRPr lang="he-IL">
              <a:solidFill>
                <a:prstClr val="black">
                  <a:tint val="75000"/>
                </a:prstClr>
              </a:solidFill>
            </a:endParaRPr>
          </a:p>
        </p:txBody>
      </p:sp>
      <p:pic>
        <p:nvPicPr>
          <p:cNvPr id="7" name="תמונה 6"/>
          <p:cNvPicPr>
            <a:picLocks noChangeAspect="1"/>
          </p:cNvPicPr>
          <p:nvPr userDrawn="1"/>
        </p:nvPicPr>
        <p:blipFill>
          <a:blip r:embed="rId13" cstate="print">
            <a:extLst>
              <a:ext uri="{28A0092B-C50C-407E-A947-70E740481C1C}">
                <a14:useLocalDpi xmlns:a14="http://schemas.microsoft.com/office/drawing/2010/main" xmlns="" val="0"/>
              </a:ext>
            </a:extLst>
          </a:blip>
          <a:stretch>
            <a:fillRect/>
          </a:stretch>
        </p:blipFill>
        <p:spPr>
          <a:xfrm>
            <a:off x="0" y="0"/>
            <a:ext cx="9144000" cy="6858000"/>
          </a:xfrm>
          <a:prstGeom prst="rect">
            <a:avLst/>
          </a:prstGeom>
        </p:spPr>
      </p:pic>
      <p:sp>
        <p:nvSpPr>
          <p:cNvPr id="8" name="TextBox 7"/>
          <p:cNvSpPr txBox="1"/>
          <p:nvPr userDrawn="1"/>
        </p:nvSpPr>
        <p:spPr>
          <a:xfrm>
            <a:off x="3059832" y="116632"/>
            <a:ext cx="3024336" cy="584775"/>
          </a:xfrm>
          <a:prstGeom prst="rect">
            <a:avLst/>
          </a:prstGeom>
          <a:noFill/>
        </p:spPr>
        <p:txBody>
          <a:bodyPr wrap="square" rtlCol="1">
            <a:spAutoFit/>
          </a:bodyPr>
          <a:lstStyle/>
          <a:p>
            <a:pPr algn="ctr"/>
            <a:r>
              <a:rPr lang="he-IL" sz="1400" dirty="0" smtClean="0">
                <a:solidFill>
                  <a:srgbClr val="1F497D"/>
                </a:solidFill>
              </a:rPr>
              <a:t>המרכז למיפוי ישראל</a:t>
            </a:r>
          </a:p>
          <a:p>
            <a:pPr algn="ctr"/>
            <a:endParaRPr lang="he-IL" dirty="0">
              <a:solidFill>
                <a:prstClr val="black"/>
              </a:solidFill>
            </a:endParaRPr>
          </a:p>
        </p:txBody>
      </p:sp>
      <p:pic>
        <p:nvPicPr>
          <p:cNvPr id="9" name="תמונה 8"/>
          <p:cNvPicPr>
            <a:picLocks noChangeAspect="1"/>
          </p:cNvPicPr>
          <p:nvPr userDrawn="1"/>
        </p:nvPicPr>
        <p:blipFill>
          <a:blip r:embed="rId14" cstate="print">
            <a:extLst>
              <a:ext uri="{28A0092B-C50C-407E-A947-70E740481C1C}">
                <a14:useLocalDpi xmlns:a14="http://schemas.microsoft.com/office/drawing/2010/main" xmlns="" val="0"/>
              </a:ext>
            </a:extLst>
          </a:blip>
          <a:stretch>
            <a:fillRect/>
          </a:stretch>
        </p:blipFill>
        <p:spPr>
          <a:xfrm>
            <a:off x="216927" y="260648"/>
            <a:ext cx="854292" cy="648000"/>
          </a:xfrm>
          <a:prstGeom prst="rect">
            <a:avLst/>
          </a:prstGeom>
        </p:spPr>
      </p:pic>
      <p:pic>
        <p:nvPicPr>
          <p:cNvPr id="10" name="תמונה 9"/>
          <p:cNvPicPr>
            <a:picLocks noChangeAspect="1"/>
          </p:cNvPicPr>
          <p:nvPr userDrawn="1"/>
        </p:nvPicPr>
        <p:blipFill>
          <a:blip r:embed="rId15" cstate="print">
            <a:extLst>
              <a:ext uri="{28A0092B-C50C-407E-A947-70E740481C1C}">
                <a14:useLocalDpi xmlns:a14="http://schemas.microsoft.com/office/drawing/2010/main" xmlns="" val="0"/>
              </a:ext>
            </a:extLst>
          </a:blip>
          <a:stretch>
            <a:fillRect/>
          </a:stretch>
        </p:blipFill>
        <p:spPr>
          <a:xfrm>
            <a:off x="8388424" y="260648"/>
            <a:ext cx="504056" cy="655273"/>
          </a:xfrm>
          <a:prstGeom prst="rect">
            <a:avLst/>
          </a:prstGeom>
        </p:spPr>
      </p:pic>
    </p:spTree>
    <p:extLst>
      <p:ext uri="{BB962C8B-B14F-4D97-AF65-F5344CB8AC3E}">
        <p14:creationId xmlns:p14="http://schemas.microsoft.com/office/powerpoint/2010/main" xmlns="" val="7768569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wm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07504" y="1646407"/>
            <a:ext cx="8928992" cy="1200329"/>
          </a:xfrm>
          <a:prstGeom prst="rect">
            <a:avLst/>
          </a:prstGeom>
          <a:noFill/>
        </p:spPr>
        <p:txBody>
          <a:bodyPr wrap="square" rtlCol="1">
            <a:spAutoFit/>
          </a:bodyPr>
          <a:lstStyle/>
          <a:p>
            <a:pPr algn="ctr"/>
            <a:r>
              <a:rPr lang="he-IL" sz="3600" b="1" dirty="0" smtClean="0"/>
              <a:t>תקנות המודדים 2013</a:t>
            </a:r>
          </a:p>
          <a:p>
            <a:pPr algn="ctr"/>
            <a:r>
              <a:rPr lang="he-IL" sz="3600" b="1" dirty="0" smtClean="0"/>
              <a:t>פרק גיאודזיה ופרק </a:t>
            </a:r>
            <a:r>
              <a:rPr lang="he-IL" sz="3600" b="1" dirty="0" err="1" smtClean="0"/>
              <a:t>קדסטר</a:t>
            </a:r>
            <a:r>
              <a:rPr lang="he-IL" sz="3600" b="1" dirty="0" smtClean="0"/>
              <a:t> </a:t>
            </a:r>
            <a:endParaRPr lang="en-US" sz="3600" dirty="0"/>
          </a:p>
        </p:txBody>
      </p:sp>
      <p:sp>
        <p:nvSpPr>
          <p:cNvPr id="15" name="TextBox 14"/>
          <p:cNvSpPr txBox="1"/>
          <p:nvPr/>
        </p:nvSpPr>
        <p:spPr>
          <a:xfrm>
            <a:off x="0" y="3143248"/>
            <a:ext cx="8928992" cy="954107"/>
          </a:xfrm>
          <a:prstGeom prst="rect">
            <a:avLst/>
          </a:prstGeom>
          <a:noFill/>
        </p:spPr>
        <p:txBody>
          <a:bodyPr wrap="square" rtlCol="1">
            <a:spAutoFit/>
          </a:bodyPr>
          <a:lstStyle/>
          <a:p>
            <a:pPr algn="ctr"/>
            <a:r>
              <a:rPr lang="he-IL" sz="2800" b="1" dirty="0" smtClean="0">
                <a:solidFill>
                  <a:srgbClr val="000066"/>
                </a:solidFill>
              </a:rPr>
              <a:t>מפגשי </a:t>
            </a:r>
            <a:r>
              <a:rPr lang="he-IL" sz="2800" b="1" dirty="0" smtClean="0">
                <a:solidFill>
                  <a:srgbClr val="000066"/>
                </a:solidFill>
              </a:rPr>
              <a:t>מודדים</a:t>
            </a:r>
            <a:endParaRPr lang="he-IL" sz="2800" b="1" dirty="0" smtClean="0">
              <a:solidFill>
                <a:srgbClr val="000066"/>
              </a:solidFill>
            </a:endParaRPr>
          </a:p>
          <a:p>
            <a:pPr algn="ctr"/>
            <a:r>
              <a:rPr lang="he-IL" sz="2800" b="1" dirty="0" smtClean="0">
                <a:solidFill>
                  <a:srgbClr val="000066"/>
                </a:solidFill>
              </a:rPr>
              <a:t>יוני/ יולי 2013</a:t>
            </a:r>
          </a:p>
        </p:txBody>
      </p:sp>
      <p:pic>
        <p:nvPicPr>
          <p:cNvPr id="5" name="Picture 2" descr="http://www.agudat-hamodedim.org.il/Portals/_default/Skins/AgudatH/images/a_top_index.jpg"/>
          <p:cNvPicPr>
            <a:picLocks noChangeAspect="1" noChangeArrowheads="1"/>
          </p:cNvPicPr>
          <p:nvPr/>
        </p:nvPicPr>
        <p:blipFill>
          <a:blip r:embed="rId2" cstate="print">
            <a:lum bright="25000" contrast="-41000"/>
          </a:blip>
          <a:srcRect r="21593"/>
          <a:stretch>
            <a:fillRect/>
          </a:stretch>
        </p:blipFill>
        <p:spPr bwMode="auto">
          <a:xfrm>
            <a:off x="-1" y="5167483"/>
            <a:ext cx="9144001" cy="1690518"/>
          </a:xfrm>
          <a:prstGeom prst="rect">
            <a:avLst/>
          </a:prstGeom>
          <a:noFill/>
        </p:spPr>
      </p:pic>
    </p:spTree>
    <p:extLst>
      <p:ext uri="{BB962C8B-B14F-4D97-AF65-F5344CB8AC3E}">
        <p14:creationId xmlns:p14="http://schemas.microsoft.com/office/powerpoint/2010/main" xmlns="" val="10882624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לבן 2"/>
          <p:cNvSpPr/>
          <p:nvPr/>
        </p:nvSpPr>
        <p:spPr>
          <a:xfrm>
            <a:off x="6919537" y="908720"/>
            <a:ext cx="798617" cy="523220"/>
          </a:xfrm>
          <a:prstGeom prst="rect">
            <a:avLst/>
          </a:prstGeom>
        </p:spPr>
        <p:txBody>
          <a:bodyPr wrap="none">
            <a:spAutoFit/>
          </a:bodyPr>
          <a:lstStyle/>
          <a:p>
            <a:pPr lvl="0" algn="just"/>
            <a:r>
              <a:rPr lang="he-IL" sz="2800" b="1" dirty="0" smtClean="0">
                <a:solidFill>
                  <a:srgbClr val="000066"/>
                </a:solidFill>
              </a:rPr>
              <a:t>תוכן</a:t>
            </a:r>
            <a:endParaRPr lang="he-IL" sz="2800" b="1" dirty="0">
              <a:solidFill>
                <a:srgbClr val="000066"/>
              </a:solidFill>
            </a:endParaRPr>
          </a:p>
        </p:txBody>
      </p:sp>
      <p:sp>
        <p:nvSpPr>
          <p:cNvPr id="4" name="TextBox 3"/>
          <p:cNvSpPr txBox="1"/>
          <p:nvPr/>
        </p:nvSpPr>
        <p:spPr>
          <a:xfrm>
            <a:off x="755576" y="1587564"/>
            <a:ext cx="6984776" cy="3046988"/>
          </a:xfrm>
          <a:prstGeom prst="rect">
            <a:avLst/>
          </a:prstGeom>
          <a:noFill/>
        </p:spPr>
        <p:txBody>
          <a:bodyPr wrap="square" rtlCol="1">
            <a:spAutoFit/>
          </a:bodyPr>
          <a:lstStyle/>
          <a:p>
            <a:pPr marL="171450" indent="-171450">
              <a:lnSpc>
                <a:spcPct val="200000"/>
              </a:lnSpc>
              <a:buFont typeface="Arial" pitchFamily="34" charset="0"/>
              <a:buChar char="•"/>
            </a:pPr>
            <a:r>
              <a:rPr lang="he-IL" sz="2400" dirty="0" smtClean="0">
                <a:solidFill>
                  <a:srgbClr val="000066"/>
                </a:solidFill>
              </a:rPr>
              <a:t>הקדמה</a:t>
            </a:r>
          </a:p>
          <a:p>
            <a:pPr marL="171450" indent="-171450">
              <a:lnSpc>
                <a:spcPct val="200000"/>
              </a:lnSpc>
              <a:buFont typeface="Arial" pitchFamily="34" charset="0"/>
              <a:buChar char="•"/>
            </a:pPr>
            <a:r>
              <a:rPr lang="he-IL" sz="2400" dirty="0" smtClean="0">
                <a:solidFill>
                  <a:srgbClr val="000066"/>
                </a:solidFill>
              </a:rPr>
              <a:t>שינויים עיקריים בתקנות הגיאודזיה וההנחיות הנלוות</a:t>
            </a:r>
          </a:p>
          <a:p>
            <a:pPr marL="171450" indent="-171450">
              <a:lnSpc>
                <a:spcPct val="200000"/>
              </a:lnSpc>
              <a:buFont typeface="Arial" pitchFamily="34" charset="0"/>
              <a:buChar char="•"/>
            </a:pPr>
            <a:r>
              <a:rPr lang="he-IL" sz="2400" dirty="0" smtClean="0">
                <a:solidFill>
                  <a:srgbClr val="000066"/>
                </a:solidFill>
              </a:rPr>
              <a:t>שינויים עיקריים בתקנות </a:t>
            </a:r>
            <a:r>
              <a:rPr lang="he-IL" sz="2400" dirty="0" err="1" smtClean="0">
                <a:solidFill>
                  <a:srgbClr val="000066"/>
                </a:solidFill>
              </a:rPr>
              <a:t>הקדסטר</a:t>
            </a:r>
            <a:r>
              <a:rPr lang="he-IL" sz="2400" dirty="0" smtClean="0">
                <a:solidFill>
                  <a:srgbClr val="000066"/>
                </a:solidFill>
              </a:rPr>
              <a:t> וההנחיות הנלוות</a:t>
            </a:r>
          </a:p>
          <a:p>
            <a:pPr marL="171450" indent="-171450">
              <a:lnSpc>
                <a:spcPct val="200000"/>
              </a:lnSpc>
              <a:buFont typeface="Arial" pitchFamily="34" charset="0"/>
              <a:buChar char="•"/>
            </a:pPr>
            <a:r>
              <a:rPr lang="he-IL" sz="2400" dirty="0" smtClean="0">
                <a:solidFill>
                  <a:srgbClr val="000066"/>
                </a:solidFill>
              </a:rPr>
              <a:t>סיכום והמשך </a:t>
            </a:r>
            <a:r>
              <a:rPr lang="he-IL" sz="2400" dirty="0" smtClean="0">
                <a:solidFill>
                  <a:srgbClr val="000066"/>
                </a:solidFill>
              </a:rPr>
              <a:t>פעילות</a:t>
            </a:r>
            <a:endParaRPr lang="he-IL" sz="2400" dirty="0" smtClean="0">
              <a:solidFill>
                <a:srgbClr val="000066"/>
              </a:solidFill>
            </a:endParaRPr>
          </a:p>
        </p:txBody>
      </p:sp>
      <p:pic>
        <p:nvPicPr>
          <p:cNvPr id="5" name="Picture 2" descr="C:\Documents and Settings\felus\Local Settings\Temporary Internet Files\Content.IE5\7QYT5X9U\MC900301308[1].wmf"/>
          <p:cNvPicPr>
            <a:picLocks noChangeAspect="1" noChangeArrowheads="1"/>
          </p:cNvPicPr>
          <p:nvPr/>
        </p:nvPicPr>
        <p:blipFill>
          <a:blip r:embed="rId2" cstate="print"/>
          <a:srcRect/>
          <a:stretch>
            <a:fillRect/>
          </a:stretch>
        </p:blipFill>
        <p:spPr bwMode="auto">
          <a:xfrm>
            <a:off x="0" y="5095874"/>
            <a:ext cx="1428727" cy="1762126"/>
          </a:xfrm>
          <a:prstGeom prst="rect">
            <a:avLst/>
          </a:prstGeom>
          <a:noFill/>
        </p:spPr>
      </p:pic>
    </p:spTree>
    <p:extLst>
      <p:ext uri="{BB962C8B-B14F-4D97-AF65-F5344CB8AC3E}">
        <p14:creationId xmlns:p14="http://schemas.microsoft.com/office/powerpoint/2010/main" xmlns="" val="26731162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12"/>
          <p:cNvSpPr>
            <a:spLocks noChangeArrowheads="1"/>
          </p:cNvSpPr>
          <p:nvPr/>
        </p:nvSpPr>
        <p:spPr bwMode="auto">
          <a:xfrm>
            <a:off x="93663" y="3702050"/>
            <a:ext cx="2232025" cy="1258888"/>
          </a:xfrm>
          <a:prstGeom prst="ellipse">
            <a:avLst/>
          </a:prstGeom>
          <a:gradFill rotWithShape="1">
            <a:gsLst>
              <a:gs pos="0">
                <a:srgbClr val="33CCFF"/>
              </a:gs>
              <a:gs pos="50000">
                <a:schemeClr val="bg1"/>
              </a:gs>
              <a:gs pos="100000">
                <a:srgbClr val="33CCFF"/>
              </a:gs>
            </a:gsLst>
            <a:lin ang="5400000" scaled="1"/>
          </a:gradFill>
          <a:ln w="9525">
            <a:round/>
            <a:headEnd/>
            <a:tailEnd/>
          </a:ln>
          <a:effectLst/>
          <a:scene3d>
            <a:camera prst="legacyObliqueTopRight"/>
            <a:lightRig rig="legacyFlat3" dir="b"/>
          </a:scene3d>
          <a:sp3d extrusionH="430200" prstMaterial="legacyMatte">
            <a:bevelT w="13500" h="13500" prst="angle"/>
            <a:bevelB w="13500" h="13500" prst="angle"/>
            <a:extrusionClr>
              <a:srgbClr val="33CCFF"/>
            </a:extrusionClr>
          </a:sp3d>
        </p:spPr>
        <p:txBody>
          <a:bodyPr wrap="none" anchor="ctr">
            <a:flatTx/>
          </a:bodyPr>
          <a:lstStyle/>
          <a:p>
            <a:pPr algn="ctr">
              <a:defRPr/>
            </a:pPr>
            <a:r>
              <a:rPr lang="he-IL" sz="2400" b="1" dirty="0" smtClean="0">
                <a:cs typeface="David" pitchFamily="2" charset="-79"/>
              </a:rPr>
              <a:t>מיפוי טופוגרפ</a:t>
            </a:r>
            <a:r>
              <a:rPr lang="he-IL" sz="2000" b="1" dirty="0" smtClean="0">
                <a:cs typeface="David" pitchFamily="2" charset="-79"/>
              </a:rPr>
              <a:t>י</a:t>
            </a:r>
          </a:p>
          <a:p>
            <a:pPr algn="ctr">
              <a:defRPr/>
            </a:pPr>
            <a:r>
              <a:rPr lang="he-IL" sz="2000" b="1" dirty="0" smtClean="0">
                <a:cs typeface="David" pitchFamily="2" charset="-79"/>
              </a:rPr>
              <a:t>טיוטה תפורסם ביולי</a:t>
            </a:r>
            <a:endParaRPr lang="en-US" sz="2000" b="1" dirty="0">
              <a:cs typeface="David" pitchFamily="2" charset="-79"/>
            </a:endParaRPr>
          </a:p>
        </p:txBody>
      </p:sp>
      <p:sp>
        <p:nvSpPr>
          <p:cNvPr id="8" name="Oval 14"/>
          <p:cNvSpPr>
            <a:spLocks noChangeArrowheads="1"/>
          </p:cNvSpPr>
          <p:nvPr/>
        </p:nvSpPr>
        <p:spPr bwMode="auto">
          <a:xfrm>
            <a:off x="3514948" y="4498159"/>
            <a:ext cx="2232025" cy="1258887"/>
          </a:xfrm>
          <a:prstGeom prst="ellipse">
            <a:avLst/>
          </a:prstGeom>
          <a:gradFill rotWithShape="1">
            <a:gsLst>
              <a:gs pos="0">
                <a:srgbClr val="FF9999"/>
              </a:gs>
              <a:gs pos="50000">
                <a:schemeClr val="bg1"/>
              </a:gs>
              <a:gs pos="100000">
                <a:srgbClr val="FF9999"/>
              </a:gs>
            </a:gsLst>
            <a:lin ang="5400000" scaled="1"/>
          </a:gradFill>
          <a:ln w="9525">
            <a:round/>
            <a:headEnd/>
            <a:tailEnd/>
          </a:ln>
          <a:effectLst/>
          <a:scene3d>
            <a:camera prst="legacyObliqueTopRight"/>
            <a:lightRig rig="legacyFlat3" dir="b"/>
          </a:scene3d>
          <a:sp3d extrusionH="430200" prstMaterial="legacyMatte">
            <a:bevelT w="13500" h="13500" prst="angle"/>
            <a:bevelB w="13500" h="13500" prst="angle"/>
            <a:extrusionClr>
              <a:srgbClr val="FF9999"/>
            </a:extrusionClr>
          </a:sp3d>
        </p:spPr>
        <p:txBody>
          <a:bodyPr wrap="none" anchor="ctr">
            <a:flatTx/>
          </a:bodyPr>
          <a:lstStyle/>
          <a:p>
            <a:pPr algn="ctr">
              <a:defRPr/>
            </a:pPr>
            <a:endParaRPr lang="he-IL" sz="2800" b="1" dirty="0" smtClean="0">
              <a:cs typeface="David" pitchFamily="2" charset="-79"/>
            </a:endParaRPr>
          </a:p>
          <a:p>
            <a:pPr algn="ctr">
              <a:defRPr/>
            </a:pPr>
            <a:r>
              <a:rPr lang="he-IL" sz="2800" b="1" dirty="0" err="1" smtClean="0">
                <a:cs typeface="David" pitchFamily="2" charset="-79"/>
              </a:rPr>
              <a:t>קדסטר</a:t>
            </a:r>
            <a:endParaRPr lang="he-IL" sz="2800" b="1" dirty="0" smtClean="0">
              <a:cs typeface="David" pitchFamily="2" charset="-79"/>
            </a:endParaRPr>
          </a:p>
          <a:p>
            <a:pPr algn="ctr">
              <a:defRPr/>
            </a:pPr>
            <a:r>
              <a:rPr lang="he-IL" sz="2000" b="1" dirty="0" smtClean="0">
                <a:cs typeface="David" pitchFamily="2" charset="-79"/>
              </a:rPr>
              <a:t>מדידה ועריכה של</a:t>
            </a:r>
          </a:p>
          <a:p>
            <a:pPr algn="ctr">
              <a:defRPr/>
            </a:pPr>
            <a:r>
              <a:rPr lang="he-IL" sz="2000" b="1" dirty="0" smtClean="0">
                <a:cs typeface="David" pitchFamily="2" charset="-79"/>
              </a:rPr>
              <a:t> </a:t>
            </a:r>
            <a:r>
              <a:rPr lang="he-IL" sz="2000" b="1" dirty="0" err="1" smtClean="0">
                <a:cs typeface="David" pitchFamily="2" charset="-79"/>
              </a:rPr>
              <a:t>תוכנית</a:t>
            </a:r>
            <a:r>
              <a:rPr lang="he-IL" sz="2000" b="1" dirty="0" smtClean="0">
                <a:cs typeface="David" pitchFamily="2" charset="-79"/>
              </a:rPr>
              <a:t> לצרכי רישום</a:t>
            </a:r>
          </a:p>
          <a:p>
            <a:pPr algn="ctr">
              <a:defRPr/>
            </a:pPr>
            <a:endParaRPr lang="en-US" sz="2800" b="1" dirty="0">
              <a:cs typeface="David" pitchFamily="2" charset="-79"/>
            </a:endParaRPr>
          </a:p>
        </p:txBody>
      </p:sp>
      <p:sp>
        <p:nvSpPr>
          <p:cNvPr id="10" name="AutoShape 17"/>
          <p:cNvSpPr>
            <a:spLocks noChangeArrowheads="1"/>
          </p:cNvSpPr>
          <p:nvPr/>
        </p:nvSpPr>
        <p:spPr bwMode="auto">
          <a:xfrm rot="8320117">
            <a:off x="1979613" y="3113088"/>
            <a:ext cx="1320800" cy="26193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33CCFF"/>
          </a:solidFill>
          <a:ln w="9525">
            <a:solidFill>
              <a:schemeClr val="tx1"/>
            </a:solidFill>
            <a:miter lim="800000"/>
            <a:headEnd/>
            <a:tailEnd/>
          </a:ln>
        </p:spPr>
        <p:txBody>
          <a:bodyPr wrap="none" anchor="ctr"/>
          <a:lstStyle/>
          <a:p>
            <a:endParaRPr lang="he-IL"/>
          </a:p>
        </p:txBody>
      </p:sp>
      <p:sp>
        <p:nvSpPr>
          <p:cNvPr id="11" name="AutoShape 18"/>
          <p:cNvSpPr>
            <a:spLocks noChangeArrowheads="1"/>
          </p:cNvSpPr>
          <p:nvPr/>
        </p:nvSpPr>
        <p:spPr bwMode="auto">
          <a:xfrm rot="2511563">
            <a:off x="5781675" y="3116183"/>
            <a:ext cx="1320800" cy="261938"/>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FF99"/>
          </a:solidFill>
          <a:ln w="9525">
            <a:solidFill>
              <a:schemeClr val="tx1"/>
            </a:solidFill>
            <a:miter lim="800000"/>
            <a:headEnd/>
            <a:tailEnd/>
          </a:ln>
        </p:spPr>
        <p:txBody>
          <a:bodyPr wrap="none" anchor="ctr"/>
          <a:lstStyle/>
          <a:p>
            <a:endParaRPr lang="he-IL"/>
          </a:p>
        </p:txBody>
      </p:sp>
      <p:sp>
        <p:nvSpPr>
          <p:cNvPr id="12" name="AutoShape 19"/>
          <p:cNvSpPr>
            <a:spLocks noChangeArrowheads="1"/>
          </p:cNvSpPr>
          <p:nvPr/>
        </p:nvSpPr>
        <p:spPr bwMode="auto">
          <a:xfrm rot="5400000">
            <a:off x="3839592" y="3388813"/>
            <a:ext cx="1320800" cy="261938"/>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9999"/>
          </a:solidFill>
          <a:ln w="9525">
            <a:solidFill>
              <a:schemeClr val="tx1"/>
            </a:solidFill>
            <a:miter lim="800000"/>
            <a:headEnd/>
            <a:tailEnd/>
          </a:ln>
        </p:spPr>
        <p:txBody>
          <a:bodyPr wrap="none" anchor="ctr"/>
          <a:lstStyle/>
          <a:p>
            <a:endParaRPr lang="he-IL"/>
          </a:p>
        </p:txBody>
      </p:sp>
      <p:sp>
        <p:nvSpPr>
          <p:cNvPr id="13" name="Oval 21"/>
          <p:cNvSpPr>
            <a:spLocks noChangeArrowheads="1"/>
          </p:cNvSpPr>
          <p:nvPr/>
        </p:nvSpPr>
        <p:spPr bwMode="auto">
          <a:xfrm>
            <a:off x="6659563" y="3689350"/>
            <a:ext cx="2232025" cy="1258888"/>
          </a:xfrm>
          <a:prstGeom prst="ellipse">
            <a:avLst/>
          </a:prstGeom>
          <a:gradFill rotWithShape="1">
            <a:gsLst>
              <a:gs pos="0">
                <a:srgbClr val="99FF99"/>
              </a:gs>
              <a:gs pos="50000">
                <a:schemeClr val="bg1"/>
              </a:gs>
              <a:gs pos="100000">
                <a:srgbClr val="99FF99"/>
              </a:gs>
            </a:gsLst>
            <a:lin ang="5400000" scaled="1"/>
          </a:gradFill>
          <a:ln w="9525">
            <a:round/>
            <a:headEnd/>
            <a:tailEnd/>
          </a:ln>
          <a:effectLst/>
          <a:scene3d>
            <a:camera prst="legacyObliqueTopRight"/>
            <a:lightRig rig="legacyFlat3" dir="b"/>
          </a:scene3d>
          <a:sp3d extrusionH="430200" prstMaterial="legacyMatte">
            <a:bevelT w="13500" h="13500" prst="angle"/>
            <a:bevelB w="13500" h="13500" prst="angle"/>
            <a:extrusionClr>
              <a:srgbClr val="99FF99"/>
            </a:extrusionClr>
          </a:sp3d>
        </p:spPr>
        <p:txBody>
          <a:bodyPr wrap="none" anchor="ctr">
            <a:flatTx/>
          </a:bodyPr>
          <a:lstStyle/>
          <a:p>
            <a:pPr algn="ctr">
              <a:defRPr/>
            </a:pPr>
            <a:r>
              <a:rPr lang="he-IL" sz="2800" b="1" dirty="0" smtClean="0">
                <a:cs typeface="David" pitchFamily="2" charset="-79"/>
              </a:rPr>
              <a:t>גיאודזיה</a:t>
            </a:r>
          </a:p>
          <a:p>
            <a:pPr algn="ctr">
              <a:defRPr/>
            </a:pPr>
            <a:r>
              <a:rPr lang="he-IL" sz="2000" b="1" dirty="0" smtClean="0">
                <a:cs typeface="David" pitchFamily="2" charset="-79"/>
              </a:rPr>
              <a:t>רשת בקרה </a:t>
            </a:r>
          </a:p>
          <a:p>
            <a:pPr algn="ctr">
              <a:defRPr/>
            </a:pPr>
            <a:r>
              <a:rPr lang="he-IL" sz="2000" b="1" dirty="0" smtClean="0">
                <a:cs typeface="David" pitchFamily="2" charset="-79"/>
              </a:rPr>
              <a:t>אופקית ואנכית</a:t>
            </a:r>
            <a:endParaRPr lang="en-US" sz="2000" b="1" dirty="0">
              <a:cs typeface="David" pitchFamily="2" charset="-79"/>
            </a:endParaRPr>
          </a:p>
        </p:txBody>
      </p:sp>
      <p:sp>
        <p:nvSpPr>
          <p:cNvPr id="18" name="TextBox 17"/>
          <p:cNvSpPr txBox="1"/>
          <p:nvPr/>
        </p:nvSpPr>
        <p:spPr>
          <a:xfrm>
            <a:off x="2843808" y="1412776"/>
            <a:ext cx="3312368" cy="1200329"/>
          </a:xfrm>
          <a:prstGeom prst="rect">
            <a:avLst/>
          </a:prstGeom>
          <a:noFill/>
          <a:ln w="57150">
            <a:solidFill>
              <a:srgbClr val="FF0000"/>
            </a:solidFill>
          </a:ln>
        </p:spPr>
        <p:txBody>
          <a:bodyPr wrap="square" rtlCol="1">
            <a:spAutoFit/>
          </a:bodyPr>
          <a:lstStyle/>
          <a:p>
            <a:pPr algn="ctr"/>
            <a:r>
              <a:rPr lang="he-IL" sz="3600" dirty="0" smtClean="0">
                <a:solidFill>
                  <a:srgbClr val="0000FF"/>
                </a:solidFill>
              </a:rPr>
              <a:t>תקנות המודדים (מדידות ומיפוי)</a:t>
            </a:r>
          </a:p>
        </p:txBody>
      </p:sp>
      <p:grpSp>
        <p:nvGrpSpPr>
          <p:cNvPr id="2" name="קבוצה 16"/>
          <p:cNvGrpSpPr/>
          <p:nvPr/>
        </p:nvGrpSpPr>
        <p:grpSpPr>
          <a:xfrm>
            <a:off x="3242958" y="1705658"/>
            <a:ext cx="6056475" cy="5481839"/>
            <a:chOff x="3242958" y="1705658"/>
            <a:chExt cx="6056475" cy="5481839"/>
          </a:xfrm>
        </p:grpSpPr>
        <p:sp>
          <p:nvSpPr>
            <p:cNvPr id="19" name="קשת 18"/>
            <p:cNvSpPr/>
            <p:nvPr/>
          </p:nvSpPr>
          <p:spPr>
            <a:xfrm rot="7449081">
              <a:off x="3724951" y="1223665"/>
              <a:ext cx="4896544" cy="5860530"/>
            </a:xfrm>
            <a:prstGeom prst="arc">
              <a:avLst>
                <a:gd name="adj1" fmla="val 15955237"/>
                <a:gd name="adj2" fmla="val 0"/>
              </a:avLst>
            </a:prstGeom>
            <a:ln w="28575">
              <a:solidFill>
                <a:srgbClr val="FF00FF"/>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sp>
          <p:nvSpPr>
            <p:cNvPr id="20" name="קשת 19"/>
            <p:cNvSpPr/>
            <p:nvPr/>
          </p:nvSpPr>
          <p:spPr>
            <a:xfrm rot="1655463">
              <a:off x="4086645" y="1808822"/>
              <a:ext cx="4896544" cy="5378675"/>
            </a:xfrm>
            <a:prstGeom prst="arc">
              <a:avLst>
                <a:gd name="adj1" fmla="val 16102114"/>
                <a:gd name="adj2" fmla="val 0"/>
              </a:avLst>
            </a:prstGeom>
            <a:ln w="28575">
              <a:solidFill>
                <a:srgbClr val="FF00FF"/>
              </a:solidFill>
              <a:headEnd type="triangle" w="lg" len="med"/>
              <a:tailEnd type="none" w="med" len="med"/>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sp>
          <p:nvSpPr>
            <p:cNvPr id="21" name="TextBox 20"/>
            <p:cNvSpPr txBox="1"/>
            <p:nvPr/>
          </p:nvSpPr>
          <p:spPr>
            <a:xfrm rot="2321511">
              <a:off x="7613323" y="1940876"/>
              <a:ext cx="1686110" cy="646331"/>
            </a:xfrm>
            <a:prstGeom prst="rect">
              <a:avLst/>
            </a:prstGeom>
            <a:noFill/>
          </p:spPr>
          <p:txBody>
            <a:bodyPr wrap="square" rtlCol="1">
              <a:spAutoFit/>
            </a:bodyPr>
            <a:lstStyle/>
            <a:p>
              <a:pPr algn="ctr"/>
              <a:r>
                <a:rPr lang="he-IL" dirty="0" smtClean="0">
                  <a:solidFill>
                    <a:srgbClr val="FF00FF"/>
                  </a:solidFill>
                </a:rPr>
                <a:t>שינויים</a:t>
              </a:r>
            </a:p>
            <a:p>
              <a:pPr algn="ctr"/>
              <a:r>
                <a:rPr lang="he-IL" dirty="0" smtClean="0">
                  <a:solidFill>
                    <a:srgbClr val="FF00FF"/>
                  </a:solidFill>
                </a:rPr>
                <a:t>ושיפורים</a:t>
              </a:r>
              <a:endParaRPr lang="he-IL" dirty="0">
                <a:solidFill>
                  <a:srgbClr val="FF00FF"/>
                </a:solidFill>
              </a:endParaRPr>
            </a:p>
          </p:txBody>
        </p:sp>
      </p:grpSp>
    </p:spTree>
    <p:extLst>
      <p:ext uri="{BB962C8B-B14F-4D97-AF65-F5344CB8AC3E}">
        <p14:creationId xmlns="" xmlns:p14="http://schemas.microsoft.com/office/powerpoint/2010/main" val="1495645535"/>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lide(fromTop)">
                                      <p:cBhvr>
                                        <p:cTn id="7" dur="500"/>
                                        <p:tgtEl>
                                          <p:spTgt spid="11"/>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1+#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2" presetClass="entr" presetSubtype="1"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slide(fromTop)">
                                      <p:cBhvr>
                                        <p:cTn id="16" dur="500"/>
                                        <p:tgtEl>
                                          <p:spTgt spid="12"/>
                                        </p:tgtEl>
                                      </p:cBhvr>
                                    </p:animEffect>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12" presetClass="entr" presetSubtype="1"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slide(fromTop)">
                                      <p:cBhvr>
                                        <p:cTn id="25" dur="500"/>
                                        <p:tgtEl>
                                          <p:spTgt spid="10"/>
                                        </p:tgtEl>
                                      </p:cBhvr>
                                    </p:animEffect>
                                  </p:childTnLst>
                                </p:cTn>
                              </p:par>
                            </p:childTnLst>
                          </p:cTn>
                        </p:par>
                        <p:par>
                          <p:cTn id="26" fill="hold">
                            <p:stCondLst>
                              <p:cond delay="2500"/>
                            </p:stCondLst>
                            <p:childTnLst>
                              <p:par>
                                <p:cTn id="27" presetID="2" presetClass="entr" presetSubtype="8"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0-#ppt_w/2"/>
                                          </p:val>
                                        </p:tav>
                                        <p:tav tm="100000">
                                          <p:val>
                                            <p:strVal val="#ppt_x"/>
                                          </p:val>
                                        </p:tav>
                                      </p:tavLst>
                                    </p:anim>
                                    <p:anim calcmode="lin" valueType="num">
                                      <p:cBhvr additive="base">
                                        <p:cTn id="3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circle(in)">
                                      <p:cBhvr>
                                        <p:cTn id="35"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285852" y="214290"/>
            <a:ext cx="6643734" cy="706090"/>
          </a:xfrm>
          <a:solidFill>
            <a:schemeClr val="bg1"/>
          </a:solidFill>
          <a:ln>
            <a:noFill/>
          </a:ln>
        </p:spPr>
        <p:txBody>
          <a:bodyPr>
            <a:normAutofit/>
          </a:bodyPr>
          <a:lstStyle/>
          <a:p>
            <a:r>
              <a:rPr lang="he-IL" sz="2800" dirty="0" smtClean="0">
                <a:solidFill>
                  <a:srgbClr val="0000FF"/>
                </a:solidFill>
              </a:rPr>
              <a:t>הנחיות המנהל </a:t>
            </a:r>
            <a:r>
              <a:rPr lang="he-IL" sz="2800" dirty="0" err="1" smtClean="0">
                <a:solidFill>
                  <a:srgbClr val="0000FF"/>
                </a:solidFill>
              </a:rPr>
              <a:t>לקדסטר</a:t>
            </a:r>
            <a:r>
              <a:rPr lang="he-IL" sz="2800" dirty="0" smtClean="0">
                <a:solidFill>
                  <a:srgbClr val="0000FF"/>
                </a:solidFill>
              </a:rPr>
              <a:t> – תוכנית עבודה</a:t>
            </a:r>
            <a:endParaRPr lang="he-IL" sz="2800" dirty="0">
              <a:solidFill>
                <a:srgbClr val="0000FF"/>
              </a:solidFill>
            </a:endParaRPr>
          </a:p>
        </p:txBody>
      </p:sp>
      <p:graphicFrame>
        <p:nvGraphicFramePr>
          <p:cNvPr id="6" name="טבלה 5"/>
          <p:cNvGraphicFramePr>
            <a:graphicFrameLocks noGrp="1"/>
          </p:cNvGraphicFramePr>
          <p:nvPr/>
        </p:nvGraphicFramePr>
        <p:xfrm>
          <a:off x="0" y="1071548"/>
          <a:ext cx="9144001" cy="5650559"/>
        </p:xfrm>
        <a:graphic>
          <a:graphicData uri="http://schemas.openxmlformats.org/drawingml/2006/table">
            <a:tbl>
              <a:tblPr rtl="1"/>
              <a:tblGrid>
                <a:gridCol w="634350"/>
                <a:gridCol w="4993860"/>
                <a:gridCol w="1139822"/>
                <a:gridCol w="2375969"/>
              </a:tblGrid>
              <a:tr h="254742">
                <a:tc>
                  <a:txBody>
                    <a:bodyPr/>
                    <a:lstStyle/>
                    <a:p>
                      <a:pPr algn="ctr" rtl="1" fontAlgn="b"/>
                      <a:r>
                        <a:rPr lang="he-IL" sz="1400" b="1" i="0" u="none" strike="noStrike" dirty="0">
                          <a:solidFill>
                            <a:srgbClr val="000000"/>
                          </a:solidFill>
                          <a:latin typeface="Arial"/>
                        </a:rPr>
                        <a:t>מספר</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1" i="0" u="none" strike="noStrike" dirty="0">
                          <a:solidFill>
                            <a:srgbClr val="000000"/>
                          </a:solidFill>
                          <a:latin typeface="Arial"/>
                        </a:rPr>
                        <a:t>שם הנחיה</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1" i="0" u="none" strike="noStrike" dirty="0">
                          <a:solidFill>
                            <a:srgbClr val="000000"/>
                          </a:solidFill>
                          <a:latin typeface="Arial"/>
                        </a:rPr>
                        <a:t>סטאטוס</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1" i="0" u="none" strike="noStrike" dirty="0" smtClean="0">
                          <a:solidFill>
                            <a:srgbClr val="000000"/>
                          </a:solidFill>
                          <a:latin typeface="Arial"/>
                        </a:rPr>
                        <a:t>הערה/ תאריך</a:t>
                      </a:r>
                      <a:r>
                        <a:rPr lang="he-IL" sz="1400" b="1" i="0" u="none" strike="noStrike" baseline="0" dirty="0" smtClean="0">
                          <a:solidFill>
                            <a:srgbClr val="000000"/>
                          </a:solidFill>
                          <a:latin typeface="Arial"/>
                        </a:rPr>
                        <a:t> צפוי</a:t>
                      </a:r>
                      <a:endParaRPr lang="he-IL" sz="1400" b="1"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54742">
                <a:tc>
                  <a:txBody>
                    <a:bodyPr/>
                    <a:lstStyle/>
                    <a:p>
                      <a:pPr algn="ctr" rtl="0" fontAlgn="b"/>
                      <a:r>
                        <a:rPr lang="he-IL" sz="1400" b="0" i="0" u="none" strike="noStrike">
                          <a:solidFill>
                            <a:srgbClr val="000000"/>
                          </a:solidFill>
                          <a:latin typeface="Arial"/>
                        </a:rPr>
                        <a:t>1</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a:solidFill>
                            <a:srgbClr val="000000"/>
                          </a:solidFill>
                          <a:latin typeface="Arial"/>
                        </a:rPr>
                        <a:t>שחזור גבולות</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dirty="0" smtClean="0">
                          <a:solidFill>
                            <a:srgbClr val="000000"/>
                          </a:solidFill>
                          <a:latin typeface="Arial"/>
                        </a:rPr>
                        <a:t>טיוטה ראשונית</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b"/>
                      <a:r>
                        <a:rPr lang="he-IL" sz="1400" b="0" i="0" u="none" strike="noStrike" dirty="0">
                          <a:solidFill>
                            <a:srgbClr val="000000"/>
                          </a:solidFill>
                          <a:latin typeface="Arial"/>
                        </a:rPr>
                        <a:t> </a:t>
                      </a:r>
                      <a:r>
                        <a:rPr lang="he-IL" sz="1400" b="0" i="0" u="none" strike="noStrike" dirty="0" smtClean="0">
                          <a:solidFill>
                            <a:srgbClr val="000000"/>
                          </a:solidFill>
                          <a:latin typeface="Arial"/>
                        </a:rPr>
                        <a:t>אוגוסט</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497383">
                <a:tc>
                  <a:txBody>
                    <a:bodyPr/>
                    <a:lstStyle/>
                    <a:p>
                      <a:pPr algn="ctr" rtl="0" fontAlgn="b"/>
                      <a:r>
                        <a:rPr lang="he-IL" sz="1400" b="0" i="0" u="none" strike="noStrike">
                          <a:solidFill>
                            <a:srgbClr val="000000"/>
                          </a:solidFill>
                          <a:latin typeface="Arial"/>
                        </a:rPr>
                        <a:t>2</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1" fontAlgn="b"/>
                      <a:r>
                        <a:rPr lang="he-IL" sz="1400" b="0" i="0" u="none" strike="noStrike" dirty="0">
                          <a:solidFill>
                            <a:srgbClr val="000000"/>
                          </a:solidFill>
                          <a:latin typeface="Arial"/>
                        </a:rPr>
                        <a:t>עריכת </a:t>
                      </a:r>
                      <a:r>
                        <a:rPr lang="he-IL" sz="1400" b="0" i="0" u="none" strike="noStrike" dirty="0" err="1">
                          <a:solidFill>
                            <a:srgbClr val="000000"/>
                          </a:solidFill>
                          <a:latin typeface="Arial"/>
                        </a:rPr>
                        <a:t>תצ"ר</a:t>
                      </a:r>
                      <a:r>
                        <a:rPr lang="he-IL" sz="1400" b="0" i="0" u="none" strike="noStrike" dirty="0">
                          <a:solidFill>
                            <a:srgbClr val="000000"/>
                          </a:solidFill>
                          <a:latin typeface="Arial"/>
                        </a:rPr>
                        <a:t> (כולל דוגמאות), כולל </a:t>
                      </a:r>
                      <a:r>
                        <a:rPr lang="he-IL" sz="1400" b="0" i="0" u="none" strike="noStrike" dirty="0" err="1">
                          <a:solidFill>
                            <a:srgbClr val="000000"/>
                          </a:solidFill>
                          <a:latin typeface="Arial"/>
                        </a:rPr>
                        <a:t>תצ"ר</a:t>
                      </a:r>
                      <a:r>
                        <a:rPr lang="he-IL" sz="1400" b="0" i="0" u="none" strike="noStrike" dirty="0">
                          <a:solidFill>
                            <a:srgbClr val="000000"/>
                          </a:solidFill>
                          <a:latin typeface="Arial"/>
                        </a:rPr>
                        <a:t> ראשון</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1" fontAlgn="b"/>
                      <a:r>
                        <a:rPr lang="he-IL" sz="1400" b="0" i="0" u="none" strike="noStrike" dirty="0" smtClean="0">
                          <a:solidFill>
                            <a:srgbClr val="000000"/>
                          </a:solidFill>
                          <a:latin typeface="Arial"/>
                        </a:rPr>
                        <a:t>פורסמה</a:t>
                      </a:r>
                      <a:r>
                        <a:rPr lang="he-IL" sz="1400" b="0" i="0" u="none" strike="noStrike" baseline="0" dirty="0" smtClean="0">
                          <a:solidFill>
                            <a:srgbClr val="000000"/>
                          </a:solidFill>
                          <a:latin typeface="Arial"/>
                        </a:rPr>
                        <a:t> טיוטה</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1" fontAlgn="b"/>
                      <a:r>
                        <a:rPr lang="he-IL" sz="1400" b="0" i="0" u="none" strike="noStrike" dirty="0" smtClean="0">
                          <a:solidFill>
                            <a:srgbClr val="000000"/>
                          </a:solidFill>
                          <a:latin typeface="Arial"/>
                        </a:rPr>
                        <a:t> במסגרת מפרט </a:t>
                      </a:r>
                      <a:r>
                        <a:rPr lang="he-IL" sz="1400" b="0" i="0" u="none" strike="noStrike" dirty="0" err="1" smtClean="0">
                          <a:solidFill>
                            <a:srgbClr val="000000"/>
                          </a:solidFill>
                          <a:latin typeface="Arial"/>
                        </a:rPr>
                        <a:t>חני"ת</a:t>
                      </a:r>
                      <a:r>
                        <a:rPr lang="en-US" sz="1400" b="0" i="0" u="none" strike="noStrike" dirty="0">
                          <a:solidFill>
                            <a:srgbClr val="000000"/>
                          </a:solidFill>
                          <a:latin typeface="Arial"/>
                        </a:rPr>
                        <a:t/>
                      </a:r>
                      <a:br>
                        <a:rPr lang="en-US" sz="1400" b="0" i="0" u="none" strike="noStrike" dirty="0">
                          <a:solidFill>
                            <a:srgbClr val="000000"/>
                          </a:solidFill>
                          <a:latin typeface="Arial"/>
                        </a:rPr>
                      </a:b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r>
              <a:tr h="254742">
                <a:tc>
                  <a:txBody>
                    <a:bodyPr/>
                    <a:lstStyle/>
                    <a:p>
                      <a:pPr algn="ctr" rtl="0" fontAlgn="b"/>
                      <a:r>
                        <a:rPr lang="he-IL" sz="1400" b="0" i="0" u="none" strike="noStrike">
                          <a:solidFill>
                            <a:srgbClr val="000000"/>
                          </a:solidFill>
                          <a:latin typeface="Arial"/>
                        </a:rPr>
                        <a:t>3</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a:solidFill>
                            <a:srgbClr val="000000"/>
                          </a:solidFill>
                          <a:latin typeface="Arial"/>
                        </a:rPr>
                        <a:t>עריכת תוכנית לתיעוד גבולות (כולל דוגמאות)</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dirty="0" smtClean="0">
                          <a:solidFill>
                            <a:srgbClr val="000000"/>
                          </a:solidFill>
                          <a:latin typeface="Arial"/>
                        </a:rPr>
                        <a:t>טיוטה לאישור מנכ"ל</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dirty="0" smtClean="0">
                          <a:solidFill>
                            <a:srgbClr val="000000"/>
                          </a:solidFill>
                          <a:latin typeface="Arial"/>
                        </a:rPr>
                        <a:t>יולי</a:t>
                      </a:r>
                      <a:endParaRPr lang="en-US"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54742">
                <a:tc>
                  <a:txBody>
                    <a:bodyPr/>
                    <a:lstStyle/>
                    <a:p>
                      <a:pPr algn="ctr" rtl="0" fontAlgn="b"/>
                      <a:r>
                        <a:rPr lang="he-IL" sz="1400" b="0" i="0" u="none" strike="noStrike">
                          <a:solidFill>
                            <a:srgbClr val="000000"/>
                          </a:solidFill>
                          <a:latin typeface="Arial"/>
                        </a:rPr>
                        <a:t>4</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dirty="0">
                          <a:solidFill>
                            <a:srgbClr val="000000"/>
                          </a:solidFill>
                          <a:latin typeface="Arial"/>
                        </a:rPr>
                        <a:t>הערות על גבי תשריט של </a:t>
                      </a:r>
                      <a:r>
                        <a:rPr lang="he-IL" sz="1400" b="0" i="0" u="none" strike="noStrike" dirty="0" err="1">
                          <a:solidFill>
                            <a:srgbClr val="000000"/>
                          </a:solidFill>
                          <a:latin typeface="Arial"/>
                        </a:rPr>
                        <a:t>תצ"ר</a:t>
                      </a:r>
                      <a:r>
                        <a:rPr lang="he-IL" sz="1400" b="0" i="0" u="none" strike="noStrike" dirty="0">
                          <a:solidFill>
                            <a:srgbClr val="000000"/>
                          </a:solidFill>
                          <a:latin typeface="Arial"/>
                        </a:rPr>
                        <a:t> או </a:t>
                      </a:r>
                      <a:r>
                        <a:rPr lang="he-IL" sz="1400" b="0" i="0" u="none" strike="noStrike" dirty="0" err="1">
                          <a:solidFill>
                            <a:srgbClr val="000000"/>
                          </a:solidFill>
                          <a:latin typeface="Arial"/>
                        </a:rPr>
                        <a:t>תת"ג</a:t>
                      </a:r>
                      <a:r>
                        <a:rPr lang="he-IL" sz="1400" b="0" i="0" u="none" strike="noStrike" dirty="0">
                          <a:solidFill>
                            <a:srgbClr val="000000"/>
                          </a:solidFill>
                          <a:latin typeface="Arial"/>
                        </a:rPr>
                        <a:t>,</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dirty="0" smtClean="0">
                          <a:solidFill>
                            <a:srgbClr val="000000"/>
                          </a:solidFill>
                          <a:latin typeface="Arial"/>
                        </a:rPr>
                        <a:t>טיוטה ראשונית</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b"/>
                      <a:r>
                        <a:rPr lang="he-IL" sz="1400" b="0" i="0" u="none" strike="noStrike" dirty="0">
                          <a:solidFill>
                            <a:srgbClr val="000000"/>
                          </a:solidFill>
                          <a:latin typeface="Arial"/>
                        </a:rPr>
                        <a:t> </a:t>
                      </a:r>
                      <a:r>
                        <a:rPr lang="he-IL" sz="1400" b="0" i="0" u="none" strike="noStrike" dirty="0" smtClean="0">
                          <a:solidFill>
                            <a:srgbClr val="000000"/>
                          </a:solidFill>
                          <a:latin typeface="Arial"/>
                        </a:rPr>
                        <a:t>אוגוסט</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54742">
                <a:tc>
                  <a:txBody>
                    <a:bodyPr/>
                    <a:lstStyle/>
                    <a:p>
                      <a:pPr algn="ctr" rtl="0" fontAlgn="b"/>
                      <a:r>
                        <a:rPr lang="he-IL" sz="1400" b="0" i="0" u="none" strike="noStrike">
                          <a:solidFill>
                            <a:srgbClr val="000000"/>
                          </a:solidFill>
                          <a:latin typeface="Arial"/>
                        </a:rPr>
                        <a:t>5</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1" fontAlgn="b"/>
                      <a:r>
                        <a:rPr lang="he-IL" sz="1400" b="0" i="0" u="none" strike="noStrike">
                          <a:solidFill>
                            <a:srgbClr val="000000"/>
                          </a:solidFill>
                          <a:latin typeface="Arial"/>
                        </a:rPr>
                        <a:t> פרשה טכנית ו"תוכנית ממוחשבת"</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1" fontAlgn="b"/>
                      <a:r>
                        <a:rPr lang="he-IL" sz="1400" b="0" i="0" u="none" strike="noStrike" dirty="0" smtClean="0">
                          <a:solidFill>
                            <a:srgbClr val="000000"/>
                          </a:solidFill>
                          <a:latin typeface="Arial"/>
                        </a:rPr>
                        <a:t>מתהליך</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1" fontAlgn="b"/>
                      <a:r>
                        <a:rPr lang="he-IL" sz="1400" b="0" i="0" u="none" strike="noStrike" dirty="0" smtClean="0">
                          <a:solidFill>
                            <a:srgbClr val="000000"/>
                          </a:solidFill>
                          <a:latin typeface="Arial"/>
                        </a:rPr>
                        <a:t>במסגרת טופס </a:t>
                      </a:r>
                      <a:r>
                        <a:rPr lang="he-IL" sz="1400" b="0" i="0" u="none" strike="noStrike" dirty="0">
                          <a:solidFill>
                            <a:srgbClr val="000000"/>
                          </a:solidFill>
                          <a:latin typeface="Arial"/>
                        </a:rPr>
                        <a:t>חכם</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r>
              <a:tr h="265425">
                <a:tc>
                  <a:txBody>
                    <a:bodyPr/>
                    <a:lstStyle/>
                    <a:p>
                      <a:pPr algn="ctr" rtl="0" fontAlgn="b"/>
                      <a:r>
                        <a:rPr lang="he-IL" sz="1400" b="0" i="0" u="none" strike="noStrike">
                          <a:solidFill>
                            <a:srgbClr val="000000"/>
                          </a:solidFill>
                          <a:latin typeface="Arial"/>
                        </a:rPr>
                        <a:t>6</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dirty="0">
                          <a:solidFill>
                            <a:srgbClr val="000000"/>
                          </a:solidFill>
                          <a:latin typeface="Arial"/>
                        </a:rPr>
                        <a:t>ביקורת </a:t>
                      </a:r>
                      <a:r>
                        <a:rPr lang="he-IL" sz="1400" b="0" i="0" u="none" strike="noStrike" dirty="0" err="1">
                          <a:solidFill>
                            <a:srgbClr val="000000"/>
                          </a:solidFill>
                          <a:latin typeface="Arial"/>
                        </a:rPr>
                        <a:t>תצ"ר</a:t>
                      </a:r>
                      <a:r>
                        <a:rPr lang="he-IL" sz="1400" b="0" i="0" u="none" strike="noStrike" dirty="0">
                          <a:solidFill>
                            <a:srgbClr val="000000"/>
                          </a:solidFill>
                          <a:latin typeface="Arial"/>
                        </a:rPr>
                        <a:t> ותוכנית לתיעוד </a:t>
                      </a:r>
                      <a:r>
                        <a:rPr lang="he-IL" sz="1400" b="0" i="0" u="none" strike="noStrike" dirty="0" smtClean="0">
                          <a:solidFill>
                            <a:srgbClr val="000000"/>
                          </a:solidFill>
                          <a:latin typeface="Arial"/>
                        </a:rPr>
                        <a:t>גבול</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dirty="0" smtClean="0">
                          <a:solidFill>
                            <a:srgbClr val="000000"/>
                          </a:solidFill>
                          <a:latin typeface="Arial"/>
                        </a:rPr>
                        <a:t>טיוטה בהכנה</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dirty="0" smtClean="0">
                          <a:solidFill>
                            <a:srgbClr val="000000"/>
                          </a:solidFill>
                          <a:latin typeface="Arial"/>
                        </a:rPr>
                        <a:t>תהליך </a:t>
                      </a:r>
                      <a:r>
                        <a:rPr lang="he-IL" sz="1400" b="0" i="0" u="none" strike="noStrike" dirty="0">
                          <a:solidFill>
                            <a:srgbClr val="000000"/>
                          </a:solidFill>
                          <a:latin typeface="Arial"/>
                        </a:rPr>
                        <a:t>ביקורת </a:t>
                      </a:r>
                      <a:r>
                        <a:rPr lang="he-IL" sz="1400" b="0" i="0" u="none" strike="noStrike" dirty="0" smtClean="0">
                          <a:solidFill>
                            <a:srgbClr val="000000"/>
                          </a:solidFill>
                          <a:latin typeface="Arial"/>
                        </a:rPr>
                        <a:t>במסלולים - אוקטובר</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54742">
                <a:tc>
                  <a:txBody>
                    <a:bodyPr/>
                    <a:lstStyle/>
                    <a:p>
                      <a:pPr algn="ctr" rtl="0" fontAlgn="b"/>
                      <a:r>
                        <a:rPr lang="he-IL" sz="1400" b="0" i="0" u="none" strike="noStrike">
                          <a:solidFill>
                            <a:srgbClr val="000000"/>
                          </a:solidFill>
                          <a:latin typeface="Arial"/>
                        </a:rPr>
                        <a:t>7</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1" fontAlgn="b"/>
                      <a:r>
                        <a:rPr lang="he-IL" sz="1400" b="0" i="0" u="none" strike="noStrike" dirty="0">
                          <a:solidFill>
                            <a:srgbClr val="000000"/>
                          </a:solidFill>
                          <a:latin typeface="Arial"/>
                        </a:rPr>
                        <a:t>סיווג נקודות </a:t>
                      </a:r>
                      <a:r>
                        <a:rPr lang="he-IL" sz="1400" b="0" i="0" u="none" strike="noStrike" dirty="0" err="1">
                          <a:solidFill>
                            <a:srgbClr val="000000"/>
                          </a:solidFill>
                          <a:latin typeface="Arial"/>
                        </a:rPr>
                        <a:t>בבנק"ל</a:t>
                      </a:r>
                      <a:r>
                        <a:rPr lang="he-IL" sz="1400" b="0" i="0" u="none" strike="noStrike" dirty="0">
                          <a:solidFill>
                            <a:srgbClr val="000000"/>
                          </a:solidFill>
                          <a:latin typeface="Arial"/>
                        </a:rPr>
                        <a:t> ודיוקם</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1" fontAlgn="b"/>
                      <a:r>
                        <a:rPr lang="he-IL" sz="1400" b="0" i="0" u="none" strike="noStrike" dirty="0" smtClean="0">
                          <a:solidFill>
                            <a:srgbClr val="000000"/>
                          </a:solidFill>
                          <a:latin typeface="Arial"/>
                        </a:rPr>
                        <a:t>פורסמה</a:t>
                      </a:r>
                      <a:r>
                        <a:rPr lang="he-IL" sz="1400" b="0" i="0" u="none" strike="noStrike" baseline="0" dirty="0" smtClean="0">
                          <a:solidFill>
                            <a:srgbClr val="000000"/>
                          </a:solidFill>
                          <a:latin typeface="Arial"/>
                        </a:rPr>
                        <a:t> טיוטה</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0" fontAlgn="b"/>
                      <a:r>
                        <a:rPr lang="he-IL" sz="1400" b="0" i="0" u="none" strike="noStrike" dirty="0">
                          <a:solidFill>
                            <a:srgbClr val="000000"/>
                          </a:solidFill>
                          <a:latin typeface="Arial"/>
                        </a:rPr>
                        <a:t> </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r>
              <a:tr h="497383">
                <a:tc>
                  <a:txBody>
                    <a:bodyPr/>
                    <a:lstStyle/>
                    <a:p>
                      <a:pPr algn="ctr" rtl="0" fontAlgn="b"/>
                      <a:r>
                        <a:rPr lang="he-IL" sz="1400" b="0" i="0" u="none" strike="noStrike" dirty="0">
                          <a:solidFill>
                            <a:srgbClr val="000000"/>
                          </a:solidFill>
                          <a:latin typeface="Arial"/>
                        </a:rPr>
                        <a:t>8</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1" fontAlgn="b"/>
                      <a:r>
                        <a:rPr lang="he-IL" sz="1400" b="0" i="0" u="none" strike="noStrike" dirty="0">
                          <a:solidFill>
                            <a:srgbClr val="000000"/>
                          </a:solidFill>
                          <a:latin typeface="Arial"/>
                        </a:rPr>
                        <a:t>סימון נקודות גבול,פטור מסימון נקודות מפנה בגבול</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1" fontAlgn="b"/>
                      <a:r>
                        <a:rPr lang="he-IL" sz="1400" b="0" i="0" u="none" strike="noStrike" dirty="0" smtClean="0">
                          <a:solidFill>
                            <a:srgbClr val="000000"/>
                          </a:solidFill>
                          <a:latin typeface="Arial"/>
                        </a:rPr>
                        <a:t>טיוטה פורסמה</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1" fontAlgn="b"/>
                      <a:r>
                        <a:rPr lang="he-IL" sz="1400" b="0" i="0" u="none" strike="noStrike" dirty="0" smtClean="0">
                          <a:solidFill>
                            <a:srgbClr val="000000"/>
                          </a:solidFill>
                          <a:latin typeface="Arial"/>
                        </a:rPr>
                        <a:t>חסר עדכון פרק סימון</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r>
              <a:tr h="248007">
                <a:tc>
                  <a:txBody>
                    <a:bodyPr/>
                    <a:lstStyle/>
                    <a:p>
                      <a:pPr algn="ctr" rtl="0" fontAlgn="b"/>
                      <a:r>
                        <a:rPr lang="he-IL" sz="1400" b="0" i="0" u="none" strike="noStrike">
                          <a:solidFill>
                            <a:srgbClr val="000000"/>
                          </a:solidFill>
                          <a:latin typeface="Arial"/>
                        </a:rPr>
                        <a:t>9</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1" fontAlgn="b"/>
                      <a:r>
                        <a:rPr lang="he-IL" sz="1400" b="0" i="0" u="none" strike="noStrike">
                          <a:solidFill>
                            <a:srgbClr val="000000"/>
                          </a:solidFill>
                          <a:latin typeface="Arial"/>
                        </a:rPr>
                        <a:t> הקלות בקביעת קואורדינטות מדויקות של נקודות גבול,</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1" fontAlgn="b"/>
                      <a:r>
                        <a:rPr lang="he-IL" sz="1400" b="0" i="0" u="none" strike="noStrike" dirty="0" smtClean="0">
                          <a:solidFill>
                            <a:srgbClr val="000000"/>
                          </a:solidFill>
                          <a:latin typeface="Arial"/>
                        </a:rPr>
                        <a:t>טיוטה פורסמה</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c>
                  <a:txBody>
                    <a:bodyPr/>
                    <a:lstStyle/>
                    <a:p>
                      <a:pPr algn="ctr" rtl="0" fontAlgn="b"/>
                      <a:r>
                        <a:rPr lang="he-IL" sz="1400" b="0" i="0" u="none" strike="noStrike" dirty="0">
                          <a:solidFill>
                            <a:srgbClr val="000000"/>
                          </a:solidFill>
                          <a:latin typeface="Arial"/>
                        </a:rPr>
                        <a:t> </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66"/>
                    </a:solidFill>
                  </a:tcPr>
                </a:tc>
              </a:tr>
              <a:tr h="497383">
                <a:tc>
                  <a:txBody>
                    <a:bodyPr/>
                    <a:lstStyle/>
                    <a:p>
                      <a:pPr algn="ctr" rtl="0" fontAlgn="b"/>
                      <a:r>
                        <a:rPr lang="he-IL" sz="1400" b="0" i="0" u="none" strike="noStrike">
                          <a:solidFill>
                            <a:srgbClr val="000000"/>
                          </a:solidFill>
                          <a:latin typeface="Arial"/>
                        </a:rPr>
                        <a:t>10</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a:solidFill>
                            <a:srgbClr val="000000"/>
                          </a:solidFill>
                          <a:latin typeface="Arial"/>
                        </a:rPr>
                        <a:t>שיטות חישוב ("התמרות") לנקודות שלא נמצאו</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dirty="0" smtClean="0">
                          <a:solidFill>
                            <a:srgbClr val="000000"/>
                          </a:solidFill>
                          <a:latin typeface="Arial"/>
                        </a:rPr>
                        <a:t>טיוטה ראשונית</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dirty="0" smtClean="0">
                          <a:solidFill>
                            <a:srgbClr val="000000"/>
                          </a:solidFill>
                          <a:latin typeface="Arial"/>
                        </a:rPr>
                        <a:t>יולי</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54742">
                <a:tc>
                  <a:txBody>
                    <a:bodyPr/>
                    <a:lstStyle/>
                    <a:p>
                      <a:pPr algn="ctr" rtl="0" fontAlgn="b"/>
                      <a:r>
                        <a:rPr lang="he-IL" sz="1400" b="0" i="0" u="none" strike="noStrike">
                          <a:solidFill>
                            <a:srgbClr val="000000"/>
                          </a:solidFill>
                          <a:latin typeface="Arial"/>
                        </a:rPr>
                        <a:t>11</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a:solidFill>
                            <a:srgbClr val="000000"/>
                          </a:solidFill>
                          <a:latin typeface="Arial"/>
                        </a:rPr>
                        <a:t>פרטים למדידה ולמיפוי, מדידת נקודות גבול ופרטים</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dirty="0" smtClean="0">
                          <a:solidFill>
                            <a:srgbClr val="000000"/>
                          </a:solidFill>
                          <a:latin typeface="Arial"/>
                        </a:rPr>
                        <a:t>טיוטה ראשונית</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dirty="0" smtClean="0">
                          <a:solidFill>
                            <a:srgbClr val="000000"/>
                          </a:solidFill>
                          <a:latin typeface="Arial"/>
                        </a:rPr>
                        <a:t>תקן</a:t>
                      </a:r>
                      <a:r>
                        <a:rPr lang="he-IL" sz="1400" b="0" i="0" u="none" strike="noStrike" baseline="0" dirty="0" smtClean="0">
                          <a:solidFill>
                            <a:srgbClr val="000000"/>
                          </a:solidFill>
                          <a:latin typeface="Arial"/>
                        </a:rPr>
                        <a:t> בין-משרדי</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54742">
                <a:tc>
                  <a:txBody>
                    <a:bodyPr/>
                    <a:lstStyle/>
                    <a:p>
                      <a:pPr algn="ctr" rtl="0" fontAlgn="b"/>
                      <a:r>
                        <a:rPr lang="he-IL" sz="1400" b="0" i="0" u="none" strike="noStrike">
                          <a:solidFill>
                            <a:srgbClr val="000000"/>
                          </a:solidFill>
                          <a:latin typeface="Arial"/>
                        </a:rPr>
                        <a:t>12</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a:solidFill>
                            <a:srgbClr val="000000"/>
                          </a:solidFill>
                          <a:latin typeface="Arial"/>
                        </a:rPr>
                        <a:t>תיקון מידה רשומה</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he-IL" sz="1400" b="0" i="0" u="none" strike="noStrike" dirty="0">
                          <a:solidFill>
                            <a:srgbClr val="000000"/>
                          </a:solidFill>
                          <a:latin typeface="Arial"/>
                        </a:rPr>
                        <a:t> </a:t>
                      </a:r>
                      <a:r>
                        <a:rPr lang="he-IL" sz="1400" b="0" i="0" u="none" strike="noStrike" dirty="0" smtClean="0">
                          <a:solidFill>
                            <a:srgbClr val="000000"/>
                          </a:solidFill>
                          <a:latin typeface="Arial"/>
                        </a:rPr>
                        <a:t>טיוטה בהכנה</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b"/>
                      <a:r>
                        <a:rPr lang="he-IL" sz="1400" b="0" i="0" u="none" strike="noStrike" dirty="0">
                          <a:solidFill>
                            <a:srgbClr val="000000"/>
                          </a:solidFill>
                          <a:latin typeface="Arial"/>
                        </a:rPr>
                        <a:t> </a:t>
                      </a:r>
                      <a:r>
                        <a:rPr lang="he-IL" sz="1400" b="0" i="0" u="none" strike="noStrike" dirty="0" smtClean="0">
                          <a:solidFill>
                            <a:srgbClr val="000000"/>
                          </a:solidFill>
                          <a:latin typeface="Arial"/>
                        </a:rPr>
                        <a:t>אוגוסט</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54742">
                <a:tc>
                  <a:txBody>
                    <a:bodyPr/>
                    <a:lstStyle/>
                    <a:p>
                      <a:pPr algn="ctr" rtl="0" fontAlgn="b"/>
                      <a:r>
                        <a:rPr lang="he-IL" sz="1400" b="0" i="0" u="none" strike="noStrike">
                          <a:solidFill>
                            <a:srgbClr val="000000"/>
                          </a:solidFill>
                          <a:latin typeface="Arial"/>
                        </a:rPr>
                        <a:t>13</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a:solidFill>
                            <a:srgbClr val="000000"/>
                          </a:solidFill>
                          <a:latin typeface="Arial"/>
                        </a:rPr>
                        <a:t>הנחיות לתיאום שטחים לא יחסי</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dirty="0">
                          <a:solidFill>
                            <a:srgbClr val="000000"/>
                          </a:solidFill>
                          <a:latin typeface="Arial"/>
                        </a:rPr>
                        <a:t> </a:t>
                      </a:r>
                      <a:r>
                        <a:rPr lang="he-IL" sz="1400" b="0" i="0" u="none" strike="noStrike" dirty="0" smtClean="0">
                          <a:solidFill>
                            <a:srgbClr val="000000"/>
                          </a:solidFill>
                          <a:latin typeface="Arial"/>
                        </a:rPr>
                        <a:t>טיוטה בהכנה</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b"/>
                      <a:r>
                        <a:rPr lang="he-IL" sz="1400" b="0" i="0" u="none" strike="noStrike" dirty="0">
                          <a:solidFill>
                            <a:srgbClr val="000000"/>
                          </a:solidFill>
                          <a:latin typeface="Arial"/>
                        </a:rPr>
                        <a:t> </a:t>
                      </a:r>
                      <a:r>
                        <a:rPr lang="he-IL" sz="1400" b="0" i="0" u="none" strike="noStrike" dirty="0" smtClean="0">
                          <a:solidFill>
                            <a:srgbClr val="000000"/>
                          </a:solidFill>
                          <a:latin typeface="Arial"/>
                        </a:rPr>
                        <a:t>ספטמבר</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54742">
                <a:tc>
                  <a:txBody>
                    <a:bodyPr/>
                    <a:lstStyle/>
                    <a:p>
                      <a:pPr algn="ctr" rtl="0" fontAlgn="b"/>
                      <a:r>
                        <a:rPr lang="he-IL" sz="1400" b="0" i="0" u="none" strike="noStrike">
                          <a:solidFill>
                            <a:srgbClr val="000000"/>
                          </a:solidFill>
                          <a:latin typeface="Arial"/>
                        </a:rPr>
                        <a:t>14</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a:solidFill>
                            <a:srgbClr val="000000"/>
                          </a:solidFill>
                          <a:latin typeface="Arial"/>
                        </a:rPr>
                        <a:t>עדכון תצ"ר או תת"ג</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dirty="0" smtClean="0">
                          <a:solidFill>
                            <a:srgbClr val="000000"/>
                          </a:solidFill>
                          <a:latin typeface="Arial"/>
                        </a:rPr>
                        <a:t>טיוטה בהכנה</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b"/>
                      <a:r>
                        <a:rPr lang="he-IL" sz="1400" b="0" i="0" u="none" strike="noStrike" dirty="0">
                          <a:solidFill>
                            <a:srgbClr val="000000"/>
                          </a:solidFill>
                          <a:latin typeface="Arial"/>
                        </a:rPr>
                        <a:t> </a:t>
                      </a:r>
                      <a:r>
                        <a:rPr lang="he-IL" sz="1400" b="0" i="0" u="none" strike="noStrike" dirty="0" smtClean="0">
                          <a:solidFill>
                            <a:srgbClr val="000000"/>
                          </a:solidFill>
                          <a:latin typeface="Arial"/>
                        </a:rPr>
                        <a:t>ספטמבר</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254742">
                <a:tc>
                  <a:txBody>
                    <a:bodyPr/>
                    <a:lstStyle/>
                    <a:p>
                      <a:pPr algn="ctr" rtl="0" fontAlgn="b"/>
                      <a:r>
                        <a:rPr lang="he-IL" sz="1400" b="0" i="0" u="none" strike="noStrike">
                          <a:solidFill>
                            <a:srgbClr val="000000"/>
                          </a:solidFill>
                          <a:latin typeface="Arial"/>
                        </a:rPr>
                        <a:t>15</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a:solidFill>
                            <a:srgbClr val="000000"/>
                          </a:solidFill>
                          <a:latin typeface="Arial"/>
                        </a:rPr>
                        <a:t>תיקון תצ"ר או תת"ג שאושרו</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he-IL" sz="1400" b="0" i="0" u="none" strike="noStrike" dirty="0" smtClean="0">
                          <a:solidFill>
                            <a:srgbClr val="000000"/>
                          </a:solidFill>
                          <a:latin typeface="Arial"/>
                        </a:rPr>
                        <a:t>טיוטה בהכנה</a:t>
                      </a:r>
                      <a:r>
                        <a:rPr lang="he-IL" sz="1400" b="0" i="0" u="none" strike="noStrike" dirty="0">
                          <a:solidFill>
                            <a:srgbClr val="000000"/>
                          </a:solidFill>
                          <a:latin typeface="Arial"/>
                        </a:rPr>
                        <a:t> </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b"/>
                      <a:r>
                        <a:rPr lang="he-IL" sz="1400" b="0" i="0" u="none" strike="noStrike" dirty="0">
                          <a:solidFill>
                            <a:srgbClr val="000000"/>
                          </a:solidFill>
                          <a:latin typeface="Arial"/>
                        </a:rPr>
                        <a:t> </a:t>
                      </a:r>
                      <a:r>
                        <a:rPr lang="he-IL" sz="1400" b="0" i="0" u="none" strike="noStrike" dirty="0" smtClean="0">
                          <a:solidFill>
                            <a:srgbClr val="000000"/>
                          </a:solidFill>
                          <a:latin typeface="Arial"/>
                        </a:rPr>
                        <a:t>ספטמבר</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497383">
                <a:tc>
                  <a:txBody>
                    <a:bodyPr/>
                    <a:lstStyle/>
                    <a:p>
                      <a:pPr algn="ctr" rtl="0" fontAlgn="b"/>
                      <a:r>
                        <a:rPr lang="he-IL" sz="1400" b="0" i="0" u="none" strike="noStrike">
                          <a:solidFill>
                            <a:srgbClr val="000000"/>
                          </a:solidFill>
                          <a:latin typeface="Arial"/>
                        </a:rPr>
                        <a:t>16</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1" fontAlgn="b"/>
                      <a:r>
                        <a:rPr lang="he-IL" sz="1400" b="0" i="0" u="none" strike="noStrike">
                          <a:solidFill>
                            <a:srgbClr val="000000"/>
                          </a:solidFill>
                          <a:latin typeface="Arial"/>
                        </a:rPr>
                        <a:t>תכנית לצורכי רישום הכוללת שינוי גבולות גושים</a:t>
                      </a:r>
                      <a:br>
                        <a:rPr lang="he-IL" sz="1400" b="0" i="0" u="none" strike="noStrike">
                          <a:solidFill>
                            <a:srgbClr val="000000"/>
                          </a:solidFill>
                          <a:latin typeface="Arial"/>
                        </a:rPr>
                      </a:br>
                      <a:r>
                        <a:rPr lang="he-IL" sz="1400" b="0" i="0" u="none" strike="noStrike">
                          <a:solidFill>
                            <a:srgbClr val="000000"/>
                          </a:solidFill>
                          <a:latin typeface="Arial"/>
                        </a:rPr>
                        <a:t>ו/או יצירת גוש כולל הצעה לגוש חדש</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he-IL" sz="1400" b="0" i="0" u="none" strike="noStrike" dirty="0" smtClean="0">
                          <a:solidFill>
                            <a:srgbClr val="000000"/>
                          </a:solidFill>
                          <a:latin typeface="Arial"/>
                        </a:rPr>
                        <a:t>טיוטה בהכנה</a:t>
                      </a:r>
                    </a:p>
                    <a:p>
                      <a:pPr algn="ctr" rtl="0" fontAlgn="b"/>
                      <a:r>
                        <a:rPr lang="he-IL" sz="1400" b="0" i="0" u="none" strike="noStrike" dirty="0">
                          <a:solidFill>
                            <a:srgbClr val="000000"/>
                          </a:solidFill>
                          <a:latin typeface="Arial"/>
                        </a:rPr>
                        <a:t> </a:t>
                      </a: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b"/>
                      <a:r>
                        <a:rPr lang="he-IL" sz="1400" b="0" i="0" u="none" strike="noStrike" dirty="0">
                          <a:solidFill>
                            <a:srgbClr val="000000"/>
                          </a:solidFill>
                          <a:latin typeface="Arial"/>
                        </a:rPr>
                        <a:t> </a:t>
                      </a:r>
                      <a:r>
                        <a:rPr lang="he-IL" sz="1400" b="0" i="0" u="none" strike="noStrike" dirty="0" smtClean="0">
                          <a:solidFill>
                            <a:srgbClr val="000000"/>
                          </a:solidFill>
                          <a:latin typeface="Arial"/>
                        </a:rPr>
                        <a:t>ספטמבר</a:t>
                      </a:r>
                      <a:endParaRPr lang="he-IL" sz="1400" b="0" i="0" u="none" strike="noStrike" dirty="0">
                        <a:solidFill>
                          <a:srgbClr val="000000"/>
                        </a:solidFill>
                        <a:latin typeface="Arial"/>
                      </a:endParaRPr>
                    </a:p>
                  </a:txBody>
                  <a:tcPr marL="6080" marR="6080" marT="60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bl>
          </a:graphicData>
        </a:graphic>
      </p:graphicFrame>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2" name="מציין מיקום תוכן 2"/>
          <p:cNvSpPr>
            <a:spLocks noGrp="1"/>
          </p:cNvSpPr>
          <p:nvPr>
            <p:ph idx="1"/>
          </p:nvPr>
        </p:nvSpPr>
        <p:spPr>
          <a:xfrm>
            <a:off x="214313" y="1071562"/>
            <a:ext cx="8586787" cy="5786437"/>
          </a:xfrm>
        </p:spPr>
        <p:txBody>
          <a:bodyPr>
            <a:normAutofit fontScale="92500" lnSpcReduction="10000"/>
          </a:bodyPr>
          <a:lstStyle/>
          <a:p>
            <a:r>
              <a:rPr lang="he-IL" sz="2400" b="1" dirty="0" smtClean="0"/>
              <a:t>1925: פקודת מודדים </a:t>
            </a:r>
            <a:r>
              <a:rPr lang="he-IL" sz="2400" dirty="0" smtClean="0"/>
              <a:t>(</a:t>
            </a:r>
            <a:r>
              <a:rPr lang="he-IL" sz="2400" dirty="0"/>
              <a:t>תקנות עפ"י סעיף 7), צו חתום ע"י הנציב העליון הרברט </a:t>
            </a:r>
            <a:r>
              <a:rPr lang="he-IL" sz="2400" dirty="0" smtClean="0"/>
              <a:t>סמואל. כוללות: "</a:t>
            </a:r>
            <a:r>
              <a:rPr lang="he-IL" sz="2400" dirty="0" err="1"/>
              <a:t>רשיונות</a:t>
            </a:r>
            <a:r>
              <a:rPr lang="he-IL" sz="2400" dirty="0"/>
              <a:t> למודדים</a:t>
            </a:r>
            <a:r>
              <a:rPr lang="he-IL" sz="2400" dirty="0" smtClean="0"/>
              <a:t>", "</a:t>
            </a:r>
            <a:r>
              <a:rPr lang="he-IL" sz="2400" dirty="0"/>
              <a:t>עשית המדידות שיטות</a:t>
            </a:r>
            <a:r>
              <a:rPr lang="he-IL" sz="2400" dirty="0" smtClean="0"/>
              <a:t>", "</a:t>
            </a:r>
            <a:r>
              <a:rPr lang="he-IL" sz="2400" dirty="0"/>
              <a:t>סימנים</a:t>
            </a:r>
            <a:r>
              <a:rPr lang="he-IL" sz="2400" dirty="0" smtClean="0"/>
              <a:t>", "</a:t>
            </a:r>
            <a:r>
              <a:rPr lang="he-IL" sz="2400" dirty="0"/>
              <a:t>תכניות</a:t>
            </a:r>
            <a:r>
              <a:rPr lang="he-IL" sz="2400" dirty="0" smtClean="0"/>
              <a:t>"</a:t>
            </a:r>
          </a:p>
          <a:p>
            <a:r>
              <a:rPr lang="he-IL" sz="2400" b="1" dirty="0" smtClean="0"/>
              <a:t>1946</a:t>
            </a:r>
            <a:r>
              <a:rPr lang="he-IL" sz="2400" dirty="0" smtClean="0"/>
              <a:t>: </a:t>
            </a:r>
            <a:r>
              <a:rPr lang="en-US" sz="2400" b="1" dirty="0"/>
              <a:t>Survey </a:t>
            </a:r>
            <a:r>
              <a:rPr lang="en-US" sz="2400" b="1" dirty="0" smtClean="0"/>
              <a:t>Legislation</a:t>
            </a:r>
            <a:r>
              <a:rPr lang="he-IL" sz="2400" dirty="0" smtClean="0"/>
              <a:t> כולל </a:t>
            </a:r>
            <a:r>
              <a:rPr lang="en-US" sz="2400" dirty="0" smtClean="0"/>
              <a:t>Survey ordinance</a:t>
            </a:r>
            <a:r>
              <a:rPr lang="he-IL" sz="2400" dirty="0" smtClean="0"/>
              <a:t>, </a:t>
            </a:r>
            <a:r>
              <a:rPr lang="en-US" sz="2400" dirty="0" smtClean="0"/>
              <a:t>Survey </a:t>
            </a:r>
            <a:r>
              <a:rPr lang="en-US" sz="2400" dirty="0"/>
              <a:t>(fees) </a:t>
            </a:r>
            <a:r>
              <a:rPr lang="en-US" sz="2400" dirty="0" smtClean="0"/>
              <a:t>rules</a:t>
            </a:r>
            <a:r>
              <a:rPr lang="he-IL" sz="2400" dirty="0" smtClean="0"/>
              <a:t>, </a:t>
            </a:r>
            <a:r>
              <a:rPr lang="en-US" sz="2400" dirty="0" smtClean="0"/>
              <a:t>Surveyors </a:t>
            </a:r>
            <a:r>
              <a:rPr lang="en-US" sz="2400" dirty="0"/>
              <a:t>rules</a:t>
            </a:r>
            <a:r>
              <a:rPr lang="en-US" sz="2400" dirty="0" smtClean="0"/>
              <a:t>:</a:t>
            </a:r>
            <a:r>
              <a:rPr lang="he-IL" sz="2400" dirty="0" smtClean="0"/>
              <a:t>, </a:t>
            </a:r>
            <a:r>
              <a:rPr lang="en-US" sz="2400" dirty="0" smtClean="0"/>
              <a:t>Licenses</a:t>
            </a:r>
            <a:r>
              <a:rPr lang="he-IL" sz="2400" dirty="0" smtClean="0"/>
              <a:t>,</a:t>
            </a:r>
            <a:r>
              <a:rPr lang="en-US" sz="2400" dirty="0" smtClean="0"/>
              <a:t> Execution </a:t>
            </a:r>
            <a:r>
              <a:rPr lang="en-US" sz="2400" dirty="0"/>
              <a:t>of </a:t>
            </a:r>
            <a:r>
              <a:rPr lang="en-US" sz="2400" dirty="0" smtClean="0"/>
              <a:t>surveys</a:t>
            </a:r>
            <a:r>
              <a:rPr lang="he-IL" sz="2400" dirty="0" smtClean="0"/>
              <a:t>, </a:t>
            </a:r>
            <a:r>
              <a:rPr lang="en-US" sz="2400" dirty="0" smtClean="0"/>
              <a:t>Marks</a:t>
            </a:r>
            <a:endParaRPr lang="en-US" sz="2400" dirty="0"/>
          </a:p>
          <a:p>
            <a:r>
              <a:rPr lang="he-IL" sz="2400" b="1" dirty="0" smtClean="0"/>
              <a:t>1954</a:t>
            </a:r>
            <a:r>
              <a:rPr lang="he-IL" sz="2400" b="1" dirty="0"/>
              <a:t>: תקנות בדבר מדידות </a:t>
            </a:r>
            <a:r>
              <a:rPr lang="he-IL" sz="2400" b="1" dirty="0" smtClean="0"/>
              <a:t>טופוגרפיות</a:t>
            </a:r>
            <a:r>
              <a:rPr lang="he-IL" sz="2400" dirty="0" smtClean="0"/>
              <a:t>, חתום </a:t>
            </a:r>
            <a:r>
              <a:rPr lang="he-IL" sz="2400" dirty="0"/>
              <a:t>ע"י גולדה מאירסון, שרת </a:t>
            </a:r>
            <a:r>
              <a:rPr lang="he-IL" sz="2400" dirty="0" smtClean="0"/>
              <a:t>העבודה.</a:t>
            </a:r>
          </a:p>
          <a:p>
            <a:r>
              <a:rPr lang="he-IL" sz="2400" b="1" dirty="0"/>
              <a:t>1959:  </a:t>
            </a:r>
            <a:r>
              <a:rPr lang="he-IL" sz="2400" b="1" dirty="0" smtClean="0"/>
              <a:t>הוראות </a:t>
            </a:r>
            <a:r>
              <a:rPr lang="he-IL" sz="2400" b="1" dirty="0"/>
              <a:t>למדידות </a:t>
            </a:r>
            <a:r>
              <a:rPr lang="he-IL" sz="2400" b="1" dirty="0" err="1"/>
              <a:t>קדסטריות</a:t>
            </a:r>
            <a:r>
              <a:rPr lang="he-IL" sz="2400" dirty="0"/>
              <a:t>. </a:t>
            </a:r>
            <a:r>
              <a:rPr lang="he-IL" sz="2400" dirty="0" smtClean="0"/>
              <a:t>(מסמך </a:t>
            </a:r>
            <a:r>
              <a:rPr lang="he-IL" sz="2400" dirty="0"/>
              <a:t>פנימי של מחלקת המדידות לצורך </a:t>
            </a:r>
            <a:r>
              <a:rPr lang="he-IL" sz="2400" dirty="0" smtClean="0"/>
              <a:t>מדידות להסדר </a:t>
            </a:r>
            <a:r>
              <a:rPr lang="he-IL" sz="2400" dirty="0"/>
              <a:t>מקרקעין</a:t>
            </a:r>
            <a:r>
              <a:rPr lang="he-IL" sz="2400" dirty="0" smtClean="0"/>
              <a:t>).</a:t>
            </a:r>
          </a:p>
          <a:p>
            <a:r>
              <a:rPr lang="he-IL" sz="2400" b="1" dirty="0" smtClean="0"/>
              <a:t>1965</a:t>
            </a:r>
            <a:r>
              <a:rPr lang="he-IL" sz="2400" b="1" dirty="0"/>
              <a:t>: תקנות המודדים, תשכ"ה – 1965</a:t>
            </a:r>
            <a:r>
              <a:rPr lang="he-IL" sz="2400" dirty="0" smtClean="0"/>
              <a:t>. חתום </a:t>
            </a:r>
            <a:r>
              <a:rPr lang="he-IL" sz="2400" dirty="0"/>
              <a:t>ע"י יגאל אלון, שר העבודה</a:t>
            </a:r>
            <a:r>
              <a:rPr lang="he-IL" sz="2400" dirty="0" smtClean="0"/>
              <a:t>.</a:t>
            </a:r>
            <a:endParaRPr lang="en-US" sz="2400" dirty="0" smtClean="0"/>
          </a:p>
          <a:p>
            <a:r>
              <a:rPr lang="he-IL" sz="2400" b="1" dirty="0" smtClean="0"/>
              <a:t>1987</a:t>
            </a:r>
            <a:r>
              <a:rPr lang="he-IL" sz="2400" b="1" dirty="0"/>
              <a:t>: תקנות המודדים (מדידות ומיפוי)</a:t>
            </a:r>
            <a:r>
              <a:rPr lang="he-IL" sz="2400" dirty="0"/>
              <a:t>, </a:t>
            </a:r>
            <a:r>
              <a:rPr lang="he-IL" sz="2400" dirty="0" err="1" smtClean="0"/>
              <a:t>התשמ"ז</a:t>
            </a:r>
            <a:r>
              <a:rPr lang="he-IL" sz="2400" dirty="0" smtClean="0"/>
              <a:t> </a:t>
            </a:r>
            <a:r>
              <a:rPr lang="he-IL" sz="2400" dirty="0"/>
              <a:t>– </a:t>
            </a:r>
            <a:r>
              <a:rPr lang="he-IL" sz="2400" dirty="0" smtClean="0"/>
              <a:t>1987</a:t>
            </a:r>
            <a:r>
              <a:rPr lang="en-US" sz="2400" dirty="0" smtClean="0"/>
              <a:t>. </a:t>
            </a:r>
            <a:r>
              <a:rPr lang="he-IL" sz="2400" dirty="0" smtClean="0"/>
              <a:t>חתום </a:t>
            </a:r>
            <a:r>
              <a:rPr lang="he-IL" sz="2400" dirty="0"/>
              <a:t>ע"י דוד לוי, שר הבינוי </a:t>
            </a:r>
            <a:r>
              <a:rPr lang="he-IL" sz="2400" dirty="0" smtClean="0"/>
              <a:t>והשיכון</a:t>
            </a:r>
            <a:r>
              <a:rPr lang="en-US" sz="2400" dirty="0" smtClean="0"/>
              <a:t> </a:t>
            </a:r>
            <a:r>
              <a:rPr lang="he-IL" sz="2400" dirty="0" smtClean="0"/>
              <a:t>מבטלות </a:t>
            </a:r>
            <a:r>
              <a:rPr lang="he-IL" sz="2400" dirty="0"/>
              <a:t>את תקנות 1965 ו- </a:t>
            </a:r>
            <a:r>
              <a:rPr lang="he-IL" sz="2400" dirty="0" smtClean="0"/>
              <a:t>1954.</a:t>
            </a:r>
            <a:endParaRPr lang="en-US" sz="2400" dirty="0" smtClean="0"/>
          </a:p>
          <a:p>
            <a:r>
              <a:rPr lang="he-IL" sz="2400" b="1" dirty="0"/>
              <a:t>1998</a:t>
            </a:r>
            <a:r>
              <a:rPr lang="he-IL" sz="2400" b="1" dirty="0" smtClean="0"/>
              <a:t>: תקנות המודדים (מדידות ומיפוי), </a:t>
            </a:r>
            <a:r>
              <a:rPr lang="he-IL" sz="2400" b="1" dirty="0" err="1" smtClean="0"/>
              <a:t>התשנ"ח</a:t>
            </a:r>
            <a:r>
              <a:rPr lang="he-IL" sz="2400" b="1" dirty="0" smtClean="0"/>
              <a:t> – 1998</a:t>
            </a:r>
            <a:r>
              <a:rPr lang="he-IL" sz="2400" dirty="0" smtClean="0"/>
              <a:t>. חתום </a:t>
            </a:r>
            <a:r>
              <a:rPr lang="he-IL" sz="2400" dirty="0"/>
              <a:t>ע"י בנימין נתניהו כ-"שר הבינוי </a:t>
            </a:r>
            <a:r>
              <a:rPr lang="he-IL" sz="2400" dirty="0" smtClean="0"/>
              <a:t>והשיכון"</a:t>
            </a:r>
            <a:r>
              <a:rPr lang="en-US" sz="2400" dirty="0" smtClean="0"/>
              <a:t> </a:t>
            </a:r>
            <a:r>
              <a:rPr lang="he-IL" sz="2400" dirty="0" smtClean="0"/>
              <a:t>מבטלות </a:t>
            </a:r>
            <a:r>
              <a:rPr lang="he-IL" sz="2400" dirty="0"/>
              <a:t>את תקנות </a:t>
            </a:r>
            <a:r>
              <a:rPr lang="he-IL" sz="2400" dirty="0" smtClean="0"/>
              <a:t>1987</a:t>
            </a:r>
            <a:r>
              <a:rPr lang="en-US" sz="2400" dirty="0" smtClean="0"/>
              <a:t> ,</a:t>
            </a:r>
            <a:r>
              <a:rPr lang="he-IL" sz="2400" dirty="0" smtClean="0"/>
              <a:t>מלווות </a:t>
            </a:r>
            <a:r>
              <a:rPr lang="he-IL" sz="2400" dirty="0"/>
              <a:t>בקובץ הנחיות בן 9 חוברות</a:t>
            </a:r>
            <a:r>
              <a:rPr lang="he-IL" sz="2400" dirty="0" smtClean="0"/>
              <a:t>.</a:t>
            </a:r>
            <a:endParaRPr lang="he-IL" dirty="0" smtClean="0"/>
          </a:p>
        </p:txBody>
      </p:sp>
      <p:sp>
        <p:nvSpPr>
          <p:cNvPr id="4" name="Rectangle 2"/>
          <p:cNvSpPr txBox="1">
            <a:spLocks noChangeArrowheads="1"/>
          </p:cNvSpPr>
          <p:nvPr/>
        </p:nvSpPr>
        <p:spPr>
          <a:xfrm>
            <a:off x="1475655" y="188640"/>
            <a:ext cx="6192689" cy="786953"/>
          </a:xfrm>
          <a:prstGeom prst="rect">
            <a:avLst/>
          </a:prstGeom>
          <a:solidFill>
            <a:srgbClr val="FFFFFF"/>
          </a:solidFill>
          <a:ln>
            <a:solidFill>
              <a:schemeClr val="tx1"/>
            </a:solidFill>
          </a:ln>
        </p:spPr>
        <p:txBody>
          <a:bodyPr rtlCol="1" anchor="ctr">
            <a:noAutofit/>
          </a:bodyPr>
          <a:lstStyle/>
          <a:p>
            <a:pPr algn="ctr" fontAlgn="auto">
              <a:spcAft>
                <a:spcPts val="0"/>
              </a:spcAft>
              <a:defRPr/>
            </a:pPr>
            <a:r>
              <a:rPr lang="he-IL" sz="4000" dirty="0" smtClean="0">
                <a:solidFill>
                  <a:srgbClr val="0000FF"/>
                </a:solidFill>
              </a:rPr>
              <a:t>היסטורית תקנות המדידה</a:t>
            </a:r>
            <a:endParaRPr lang="en-US" sz="4000" dirty="0">
              <a:solidFill>
                <a:srgbClr val="0000FF"/>
              </a:solidFill>
            </a:endParaRPr>
          </a:p>
        </p:txBody>
      </p:sp>
      <p:pic>
        <p:nvPicPr>
          <p:cNvPr id="6" name="Picture 2" descr="C:\Documents and Settings\felus\Local Settings\Temporary Internet Files\Content.IE5\BKFT8BA3\MC900397274[1].wmf"/>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0" y="6059729"/>
            <a:ext cx="1817827" cy="79827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701287946"/>
      </p:ext>
    </p:extLst>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533400" y="1371600"/>
            <a:ext cx="8077200" cy="5257800"/>
          </a:xfrm>
        </p:spPr>
        <p:txBody>
          <a:bodyPr>
            <a:normAutofit fontScale="85000" lnSpcReduction="10000"/>
          </a:bodyPr>
          <a:lstStyle/>
          <a:p>
            <a:r>
              <a:rPr lang="he-IL" dirty="0">
                <a:solidFill>
                  <a:srgbClr val="0D11C1"/>
                </a:solidFill>
              </a:rPr>
              <a:t> </a:t>
            </a:r>
            <a:r>
              <a:rPr lang="he-IL" dirty="0"/>
              <a:t>פברואר 2002, אביאל רון ז"ל:</a:t>
            </a:r>
          </a:p>
          <a:p>
            <a:pPr>
              <a:buFontTx/>
              <a:buNone/>
            </a:pPr>
            <a:r>
              <a:rPr lang="he-IL" sz="2800" dirty="0"/>
              <a:t>      </a:t>
            </a:r>
            <a:r>
              <a:rPr lang="en-US" sz="2800" dirty="0"/>
              <a:t>    •</a:t>
            </a:r>
            <a:r>
              <a:rPr lang="he-IL" sz="2800" dirty="0"/>
              <a:t>שמות של נקודות בקרה (אותיות המודד).</a:t>
            </a:r>
          </a:p>
          <a:p>
            <a:pPr>
              <a:buFontTx/>
              <a:buNone/>
            </a:pPr>
            <a:r>
              <a:rPr lang="he-IL" sz="2800" dirty="0"/>
              <a:t>      </a:t>
            </a:r>
            <a:r>
              <a:rPr lang="en-US" sz="2800" dirty="0"/>
              <a:t>•</a:t>
            </a:r>
            <a:r>
              <a:rPr lang="he-IL" sz="2800" dirty="0"/>
              <a:t>    חובת מסירת נקודות בקרה לאישור מפ"י.</a:t>
            </a:r>
          </a:p>
          <a:p>
            <a:r>
              <a:rPr lang="he-IL" dirty="0" smtClean="0"/>
              <a:t>מרץ </a:t>
            </a:r>
            <a:r>
              <a:rPr lang="he-IL" dirty="0"/>
              <a:t>2003, גרשון שטינברג (סמנכ"ל לגיאודזיה </a:t>
            </a:r>
            <a:r>
              <a:rPr lang="he-IL" dirty="0" err="1"/>
              <a:t>וקדסטר</a:t>
            </a:r>
            <a:r>
              <a:rPr lang="he-IL" dirty="0"/>
              <a:t>):</a:t>
            </a:r>
          </a:p>
          <a:p>
            <a:pPr>
              <a:buFontTx/>
              <a:buNone/>
            </a:pPr>
            <a:r>
              <a:rPr lang="he-IL" sz="2800" dirty="0"/>
              <a:t>     </a:t>
            </a:r>
            <a:r>
              <a:rPr lang="en-US" sz="2800" dirty="0"/>
              <a:t>•</a:t>
            </a:r>
            <a:r>
              <a:rPr lang="he-IL" sz="2800" dirty="0"/>
              <a:t>     הוראות להקלות בהכנת </a:t>
            </a:r>
            <a:r>
              <a:rPr lang="he-IL" sz="2800" dirty="0" err="1"/>
              <a:t>תצ"ר</a:t>
            </a:r>
            <a:r>
              <a:rPr lang="he-IL" sz="2800" dirty="0"/>
              <a:t> (בוטלו  אוקטובר 2003</a:t>
            </a:r>
            <a:r>
              <a:rPr lang="he-IL" sz="2800" dirty="0" smtClean="0"/>
              <a:t>).</a:t>
            </a:r>
          </a:p>
          <a:p>
            <a:r>
              <a:rPr lang="he-IL" dirty="0"/>
              <a:t>נובמבר 2004, חיים סרברו:</a:t>
            </a:r>
          </a:p>
          <a:p>
            <a:pPr>
              <a:buFontTx/>
              <a:buNone/>
            </a:pPr>
            <a:r>
              <a:rPr lang="he-IL" sz="2400" dirty="0" smtClean="0"/>
              <a:t>    </a:t>
            </a:r>
            <a:r>
              <a:rPr lang="en-US" sz="2400" dirty="0" smtClean="0"/>
              <a:t>•</a:t>
            </a:r>
            <a:r>
              <a:rPr lang="he-IL" sz="2800" dirty="0" smtClean="0"/>
              <a:t> סימון גבול בין-לאומי במפה.</a:t>
            </a:r>
          </a:p>
          <a:p>
            <a:pPr>
              <a:buFontTx/>
              <a:buNone/>
            </a:pPr>
            <a:r>
              <a:rPr lang="he-IL" sz="2400" dirty="0" smtClean="0"/>
              <a:t>    </a:t>
            </a:r>
            <a:r>
              <a:rPr lang="en-US" sz="2400" dirty="0" smtClean="0"/>
              <a:t>•</a:t>
            </a:r>
            <a:r>
              <a:rPr lang="he-IL" sz="2800" dirty="0" smtClean="0"/>
              <a:t> הנחיות למדידת קו החוף.</a:t>
            </a:r>
          </a:p>
          <a:p>
            <a:pPr>
              <a:buFontTx/>
              <a:buNone/>
            </a:pPr>
            <a:r>
              <a:rPr lang="he-IL" sz="2400" dirty="0" smtClean="0"/>
              <a:t>    </a:t>
            </a:r>
            <a:r>
              <a:rPr lang="en-US" sz="2400" dirty="0" smtClean="0"/>
              <a:t>•</a:t>
            </a:r>
            <a:r>
              <a:rPr lang="he-IL" sz="2800" dirty="0" smtClean="0"/>
              <a:t> שינוי/תיקון בהנחיות למדידת רשת בקרה אופקית ואנכית ב-</a:t>
            </a:r>
            <a:r>
              <a:rPr lang="en-US" sz="2800" dirty="0" smtClean="0"/>
              <a:t>GPS</a:t>
            </a:r>
            <a:r>
              <a:rPr lang="he-IL" sz="2800" dirty="0" smtClean="0"/>
              <a:t>.</a:t>
            </a:r>
          </a:p>
          <a:p>
            <a:pPr>
              <a:buFontTx/>
              <a:buNone/>
            </a:pPr>
            <a:r>
              <a:rPr lang="he-IL" sz="2400" dirty="0" smtClean="0"/>
              <a:t>    </a:t>
            </a:r>
            <a:r>
              <a:rPr lang="en-US" sz="2400" dirty="0" smtClean="0"/>
              <a:t>•</a:t>
            </a:r>
            <a:r>
              <a:rPr lang="he-IL" sz="2800" dirty="0" smtClean="0"/>
              <a:t> הנחיות למדידות </a:t>
            </a:r>
            <a:r>
              <a:rPr lang="en-US" sz="2800" dirty="0" smtClean="0"/>
              <a:t>GPS</a:t>
            </a:r>
            <a:r>
              <a:rPr lang="he-IL" sz="2800" dirty="0" smtClean="0"/>
              <a:t> בטכנולוגית  </a:t>
            </a:r>
            <a:r>
              <a:rPr lang="en-US" sz="2800" dirty="0" smtClean="0"/>
              <a:t>RTK</a:t>
            </a:r>
            <a:r>
              <a:rPr lang="he-IL" sz="2800" dirty="0" smtClean="0"/>
              <a:t>.</a:t>
            </a:r>
          </a:p>
          <a:p>
            <a:r>
              <a:rPr lang="he-IL" sz="2800" dirty="0" smtClean="0"/>
              <a:t>הנחיות לשימוש בתחנות הקבע של </a:t>
            </a:r>
            <a:r>
              <a:rPr lang="en-US" sz="2800" dirty="0" smtClean="0"/>
              <a:t>GPS</a:t>
            </a:r>
            <a:r>
              <a:rPr lang="he-IL" sz="2800" dirty="0" smtClean="0"/>
              <a:t> ובתוכנת </a:t>
            </a:r>
            <a:r>
              <a:rPr lang="en-US" sz="2800" dirty="0" smtClean="0"/>
              <a:t>VRS</a:t>
            </a:r>
            <a:r>
              <a:rPr lang="he-IL" sz="2800" dirty="0" smtClean="0"/>
              <a:t> של מפ"י.</a:t>
            </a:r>
          </a:p>
          <a:p>
            <a:pPr>
              <a:buFontTx/>
              <a:buNone/>
            </a:pPr>
            <a:endParaRPr lang="he-IL" sz="2800" dirty="0"/>
          </a:p>
          <a:p>
            <a:pPr>
              <a:buFontTx/>
              <a:buNone/>
            </a:pPr>
            <a:endParaRPr lang="he-IL" sz="2800" dirty="0"/>
          </a:p>
          <a:p>
            <a:pPr>
              <a:buFontTx/>
              <a:buNone/>
            </a:pPr>
            <a:endParaRPr lang="he-IL" dirty="0"/>
          </a:p>
        </p:txBody>
      </p:sp>
      <p:sp>
        <p:nvSpPr>
          <p:cNvPr id="14341" name="Rectangle 5"/>
          <p:cNvSpPr>
            <a:spLocks noChangeArrowheads="1"/>
          </p:cNvSpPr>
          <p:nvPr/>
        </p:nvSpPr>
        <p:spPr bwMode="auto">
          <a:xfrm>
            <a:off x="0" y="6400800"/>
            <a:ext cx="685800" cy="457200"/>
          </a:xfrm>
          <a:prstGeom prst="rect">
            <a:avLst/>
          </a:prstGeom>
          <a:noFill/>
          <a:ln w="9525">
            <a:noFill/>
            <a:miter lim="800000"/>
            <a:headEnd/>
            <a:tailEnd/>
          </a:ln>
          <a:effectLst/>
        </p:spPr>
        <p:txBody>
          <a:bodyPr/>
          <a:lstStyle/>
          <a:p>
            <a:pPr marL="342900" indent="-342900" algn="ctr">
              <a:spcBef>
                <a:spcPct val="20000"/>
              </a:spcBef>
            </a:pPr>
            <a:r>
              <a:rPr lang="en-US" sz="1800" b="0">
                <a:solidFill>
                  <a:srgbClr val="008000"/>
                </a:solidFill>
              </a:rPr>
              <a:t>7/36</a:t>
            </a:r>
          </a:p>
        </p:txBody>
      </p:sp>
      <p:sp>
        <p:nvSpPr>
          <p:cNvPr id="5" name="Rectangle 2"/>
          <p:cNvSpPr txBox="1">
            <a:spLocks noChangeArrowheads="1"/>
          </p:cNvSpPr>
          <p:nvPr/>
        </p:nvSpPr>
        <p:spPr>
          <a:xfrm>
            <a:off x="1331641" y="203651"/>
            <a:ext cx="6696744" cy="786953"/>
          </a:xfrm>
          <a:prstGeom prst="rect">
            <a:avLst/>
          </a:prstGeom>
          <a:solidFill>
            <a:srgbClr val="FFFFFF"/>
          </a:solidFill>
          <a:ln>
            <a:solidFill>
              <a:schemeClr val="tx1"/>
            </a:solidFill>
          </a:ln>
        </p:spPr>
        <p:txBody>
          <a:bodyPr rtlCol="1" anchor="ctr">
            <a:noAutofit/>
          </a:bodyPr>
          <a:lstStyle/>
          <a:p>
            <a:pPr algn="ctr" fontAlgn="auto">
              <a:spcAft>
                <a:spcPts val="0"/>
              </a:spcAft>
              <a:defRPr/>
            </a:pPr>
            <a:r>
              <a:rPr lang="he-IL" sz="3200" b="1" dirty="0">
                <a:solidFill>
                  <a:srgbClr val="0000CC"/>
                </a:solidFill>
              </a:rPr>
              <a:t>עדכון התקנות באמצעות הנחיות </a:t>
            </a:r>
            <a:r>
              <a:rPr lang="he-IL" sz="3200" b="1" dirty="0" smtClean="0">
                <a:solidFill>
                  <a:srgbClr val="0000CC"/>
                </a:solidFill>
              </a:rPr>
              <a:t>המנהל</a:t>
            </a:r>
            <a:endParaRPr lang="en-US" sz="3200" b="1" dirty="0">
              <a:solidFill>
                <a:srgbClr val="0000CC"/>
              </a:solidFill>
            </a:endParaRPr>
          </a:p>
        </p:txBody>
      </p:sp>
    </p:spTree>
    <p:extLst>
      <p:ext uri="{BB962C8B-B14F-4D97-AF65-F5344CB8AC3E}">
        <p14:creationId xmlns="" xmlns:p14="http://schemas.microsoft.com/office/powerpoint/2010/main" val="282877860"/>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לבן 2"/>
          <p:cNvSpPr/>
          <p:nvPr/>
        </p:nvSpPr>
        <p:spPr>
          <a:xfrm>
            <a:off x="971600" y="764704"/>
            <a:ext cx="7344816" cy="584775"/>
          </a:xfrm>
          <a:prstGeom prst="rect">
            <a:avLst/>
          </a:prstGeom>
          <a:solidFill>
            <a:schemeClr val="bg1">
              <a:lumMod val="85000"/>
            </a:schemeClr>
          </a:solidFill>
          <a:ln>
            <a:solidFill>
              <a:schemeClr val="bg1">
                <a:lumMod val="85000"/>
              </a:schemeClr>
            </a:solidFill>
          </a:ln>
        </p:spPr>
        <p:txBody>
          <a:bodyPr wrap="square">
            <a:spAutoFit/>
          </a:bodyPr>
          <a:lstStyle/>
          <a:p>
            <a:pPr lvl="0"/>
            <a:r>
              <a:rPr lang="he-IL" sz="3200" b="1" dirty="0" smtClean="0">
                <a:solidFill>
                  <a:srgbClr val="000066"/>
                </a:solidFill>
              </a:rPr>
              <a:t>הקדמה – חידושים עיקריים בתקנות המדידה</a:t>
            </a:r>
            <a:endParaRPr lang="he-IL" sz="3200" b="1" dirty="0">
              <a:solidFill>
                <a:srgbClr val="000066"/>
              </a:solidFill>
            </a:endParaRPr>
          </a:p>
        </p:txBody>
      </p:sp>
      <p:sp>
        <p:nvSpPr>
          <p:cNvPr id="46" name="מציין מיקום תוכן 2"/>
          <p:cNvSpPr>
            <a:spLocks noGrp="1"/>
          </p:cNvSpPr>
          <p:nvPr>
            <p:ph idx="1"/>
          </p:nvPr>
        </p:nvSpPr>
        <p:spPr>
          <a:xfrm>
            <a:off x="292151" y="1412776"/>
            <a:ext cx="8495765" cy="5009833"/>
          </a:xfrm>
          <a:noFill/>
        </p:spPr>
        <p:txBody>
          <a:bodyPr wrap="square" rtlCol="1">
            <a:spAutoFit/>
          </a:bodyPr>
          <a:lstStyle/>
          <a:p>
            <a:pPr marL="114300" indent="-457200">
              <a:lnSpc>
                <a:spcPct val="150000"/>
              </a:lnSpc>
              <a:spcBef>
                <a:spcPts val="0"/>
              </a:spcBef>
              <a:buFont typeface="+mj-lt"/>
              <a:buAutoNum type="arabicPeriod"/>
            </a:pPr>
            <a:r>
              <a:rPr lang="he-IL" sz="2400" u="sng" dirty="0" smtClean="0">
                <a:solidFill>
                  <a:srgbClr val="000066"/>
                </a:solidFill>
              </a:rPr>
              <a:t>טכנולוגית </a:t>
            </a:r>
            <a:r>
              <a:rPr lang="he-IL" sz="2400" u="sng" dirty="0">
                <a:solidFill>
                  <a:srgbClr val="000066"/>
                </a:solidFill>
              </a:rPr>
              <a:t>תחנות </a:t>
            </a:r>
            <a:r>
              <a:rPr lang="en-US" sz="2400" u="sng" dirty="0" smtClean="0">
                <a:solidFill>
                  <a:srgbClr val="000066"/>
                </a:solidFill>
              </a:rPr>
              <a:t>GNSS</a:t>
            </a:r>
            <a:r>
              <a:rPr lang="he-IL" sz="2400" dirty="0" smtClean="0">
                <a:solidFill>
                  <a:srgbClr val="000066"/>
                </a:solidFill>
              </a:rPr>
              <a:t> קבועות </a:t>
            </a:r>
            <a:r>
              <a:rPr lang="he-IL" sz="2400" dirty="0">
                <a:solidFill>
                  <a:srgbClr val="000066"/>
                </a:solidFill>
              </a:rPr>
              <a:t>(</a:t>
            </a:r>
            <a:r>
              <a:rPr lang="en-US" sz="2400" dirty="0">
                <a:solidFill>
                  <a:srgbClr val="000066"/>
                </a:solidFill>
              </a:rPr>
              <a:t>APN</a:t>
            </a:r>
            <a:r>
              <a:rPr lang="he-IL" sz="2400" dirty="0" smtClean="0">
                <a:solidFill>
                  <a:srgbClr val="000066"/>
                </a:solidFill>
              </a:rPr>
              <a:t>) תשמש כרשת בקרה</a:t>
            </a:r>
            <a:endParaRPr lang="he-IL" sz="2400" dirty="0">
              <a:solidFill>
                <a:srgbClr val="000066"/>
              </a:solidFill>
            </a:endParaRPr>
          </a:p>
          <a:p>
            <a:pPr marL="114300" indent="-457200">
              <a:lnSpc>
                <a:spcPct val="150000"/>
              </a:lnSpc>
              <a:spcBef>
                <a:spcPts val="0"/>
              </a:spcBef>
              <a:buFont typeface="+mj-lt"/>
              <a:buAutoNum type="arabicPeriod"/>
            </a:pPr>
            <a:r>
              <a:rPr lang="he-IL" sz="2400" u="sng" dirty="0" err="1" smtClean="0">
                <a:solidFill>
                  <a:srgbClr val="000066"/>
                </a:solidFill>
              </a:rPr>
              <a:t>קדסטר</a:t>
            </a:r>
            <a:r>
              <a:rPr lang="he-IL" sz="2400" u="sng" dirty="0" smtClean="0">
                <a:solidFill>
                  <a:srgbClr val="000066"/>
                </a:solidFill>
              </a:rPr>
              <a:t> </a:t>
            </a:r>
            <a:r>
              <a:rPr lang="he-IL" sz="2400" u="sng" dirty="0">
                <a:solidFill>
                  <a:srgbClr val="000066"/>
                </a:solidFill>
              </a:rPr>
              <a:t>מבוסס קואורדינטות</a:t>
            </a:r>
            <a:r>
              <a:rPr lang="he-IL" sz="2400" dirty="0">
                <a:solidFill>
                  <a:srgbClr val="000066"/>
                </a:solidFill>
              </a:rPr>
              <a:t>: </a:t>
            </a:r>
            <a:r>
              <a:rPr lang="he-IL" sz="2400" dirty="0" smtClean="0">
                <a:solidFill>
                  <a:srgbClr val="000066"/>
                </a:solidFill>
              </a:rPr>
              <a:t> הגדרה של נקודה </a:t>
            </a:r>
            <a:r>
              <a:rPr lang="he-IL" sz="2400" dirty="0">
                <a:solidFill>
                  <a:srgbClr val="000066"/>
                </a:solidFill>
              </a:rPr>
              <a:t>בסיווג 1 כנקודה שערכי הקואורדינאטות שלה מהווים אסמכתא לשחזור </a:t>
            </a:r>
            <a:r>
              <a:rPr lang="he-IL" sz="2400" dirty="0" smtClean="0">
                <a:solidFill>
                  <a:srgbClr val="000066"/>
                </a:solidFill>
              </a:rPr>
              <a:t>גבולות</a:t>
            </a:r>
            <a:endParaRPr lang="en-US" sz="2400" dirty="0">
              <a:solidFill>
                <a:srgbClr val="000066"/>
              </a:solidFill>
            </a:endParaRPr>
          </a:p>
          <a:p>
            <a:pPr marL="114300" indent="-457200">
              <a:lnSpc>
                <a:spcPct val="150000"/>
              </a:lnSpc>
              <a:spcBef>
                <a:spcPts val="0"/>
              </a:spcBef>
              <a:buFont typeface="+mj-lt"/>
              <a:buAutoNum type="arabicPeriod"/>
            </a:pPr>
            <a:r>
              <a:rPr lang="he-IL" sz="2400" u="sng" dirty="0" err="1" smtClean="0">
                <a:solidFill>
                  <a:srgbClr val="000066"/>
                </a:solidFill>
              </a:rPr>
              <a:t>תשריט</a:t>
            </a:r>
            <a:r>
              <a:rPr lang="he-IL" sz="2400" u="sng" dirty="0" smtClean="0">
                <a:solidFill>
                  <a:srgbClr val="000066"/>
                </a:solidFill>
              </a:rPr>
              <a:t> </a:t>
            </a:r>
            <a:r>
              <a:rPr lang="he-IL" sz="2400" u="sng" dirty="0">
                <a:solidFill>
                  <a:srgbClr val="000066"/>
                </a:solidFill>
              </a:rPr>
              <a:t>לתיעוד </a:t>
            </a:r>
            <a:r>
              <a:rPr lang="he-IL" sz="2400" u="sng" dirty="0" smtClean="0">
                <a:solidFill>
                  <a:srgbClr val="000066"/>
                </a:solidFill>
              </a:rPr>
              <a:t>שחזור גבולות (תת"ג) </a:t>
            </a:r>
            <a:r>
              <a:rPr lang="he-IL" sz="2400" dirty="0" smtClean="0">
                <a:solidFill>
                  <a:srgbClr val="000066"/>
                </a:solidFill>
              </a:rPr>
              <a:t>יאפשר </a:t>
            </a:r>
            <a:r>
              <a:rPr lang="he-IL" sz="2400" dirty="0">
                <a:solidFill>
                  <a:srgbClr val="000066"/>
                </a:solidFill>
              </a:rPr>
              <a:t>לציבור לתעד באופן מוסמך, באמצעות קואורדינטות, את גבולות המקרקעין הרשומים בכך </a:t>
            </a:r>
            <a:r>
              <a:rPr lang="he-IL" sz="2400" dirty="0" smtClean="0">
                <a:solidFill>
                  <a:srgbClr val="000066"/>
                </a:solidFill>
              </a:rPr>
              <a:t>לחזק את </a:t>
            </a:r>
            <a:r>
              <a:rPr lang="he-IL" sz="2400" dirty="0">
                <a:solidFill>
                  <a:srgbClr val="000066"/>
                </a:solidFill>
              </a:rPr>
              <a:t>הקשר בין שלבי התכנון, מדידה והגדרת גבולות, </a:t>
            </a:r>
            <a:r>
              <a:rPr lang="he-IL" sz="2400" dirty="0" smtClean="0">
                <a:solidFill>
                  <a:srgbClr val="000066"/>
                </a:solidFill>
              </a:rPr>
              <a:t>ורישום</a:t>
            </a:r>
            <a:endParaRPr lang="en-US" sz="2400" dirty="0">
              <a:solidFill>
                <a:srgbClr val="000066"/>
              </a:solidFill>
            </a:endParaRPr>
          </a:p>
          <a:p>
            <a:pPr marL="114300" indent="-457200">
              <a:lnSpc>
                <a:spcPct val="150000"/>
              </a:lnSpc>
              <a:spcBef>
                <a:spcPts val="0"/>
              </a:spcBef>
              <a:buFont typeface="+mj-lt"/>
              <a:buAutoNum type="arabicPeriod"/>
            </a:pPr>
            <a:r>
              <a:rPr lang="he-IL" sz="2400" u="sng" dirty="0" smtClean="0">
                <a:solidFill>
                  <a:srgbClr val="000066"/>
                </a:solidFill>
              </a:rPr>
              <a:t>מסמכים דיגיטליים</a:t>
            </a:r>
            <a:r>
              <a:rPr lang="he-IL" sz="2400" dirty="0" smtClean="0">
                <a:solidFill>
                  <a:srgbClr val="000066"/>
                </a:solidFill>
              </a:rPr>
              <a:t> יקבלו דגש ויחליפו בהדרגה את </a:t>
            </a:r>
            <a:r>
              <a:rPr lang="he-IL" sz="2400" dirty="0">
                <a:solidFill>
                  <a:srgbClr val="000066"/>
                </a:solidFill>
              </a:rPr>
              <a:t>הנייר המודפס.</a:t>
            </a:r>
          </a:p>
          <a:p>
            <a:pPr marL="114300" indent="-457200">
              <a:lnSpc>
                <a:spcPct val="150000"/>
              </a:lnSpc>
              <a:spcBef>
                <a:spcPts val="0"/>
              </a:spcBef>
              <a:buFont typeface="+mj-lt"/>
              <a:buAutoNum type="arabicPeriod"/>
            </a:pPr>
            <a:r>
              <a:rPr lang="he-IL" sz="2400" u="sng" dirty="0" smtClean="0">
                <a:solidFill>
                  <a:srgbClr val="000066"/>
                </a:solidFill>
              </a:rPr>
              <a:t>העברת </a:t>
            </a:r>
            <a:r>
              <a:rPr lang="he-IL" sz="2400" u="sng" dirty="0">
                <a:solidFill>
                  <a:srgbClr val="000066"/>
                </a:solidFill>
              </a:rPr>
              <a:t>נושאים טכניים להנחיות</a:t>
            </a:r>
            <a:r>
              <a:rPr lang="he-IL" sz="2400" dirty="0">
                <a:solidFill>
                  <a:srgbClr val="000066"/>
                </a:solidFill>
              </a:rPr>
              <a:t> כולל בקרת </a:t>
            </a:r>
            <a:r>
              <a:rPr lang="he-IL" sz="2400" dirty="0" smtClean="0">
                <a:solidFill>
                  <a:srgbClr val="000066"/>
                </a:solidFill>
              </a:rPr>
              <a:t>איכות, עריכה והגשה, ומיפוי פרטים </a:t>
            </a:r>
            <a:r>
              <a:rPr lang="he-IL" sz="2400" dirty="0">
                <a:solidFill>
                  <a:srgbClr val="000066"/>
                </a:solidFill>
              </a:rPr>
              <a:t>טופוגרפיים </a:t>
            </a:r>
            <a:r>
              <a:rPr lang="he-IL" sz="2400" dirty="0" err="1" smtClean="0">
                <a:solidFill>
                  <a:srgbClr val="000066"/>
                </a:solidFill>
              </a:rPr>
              <a:t>בתצ"ר</a:t>
            </a:r>
            <a:r>
              <a:rPr lang="he-IL" sz="2400" dirty="0" smtClean="0">
                <a:solidFill>
                  <a:srgbClr val="000066"/>
                </a:solidFill>
              </a:rPr>
              <a:t>.</a:t>
            </a:r>
            <a:endParaRPr lang="he-IL" sz="2400" dirty="0">
              <a:solidFill>
                <a:srgbClr val="000066"/>
              </a:solidFill>
            </a:endParaRPr>
          </a:p>
        </p:txBody>
      </p:sp>
    </p:spTree>
    <p:extLst>
      <p:ext uri="{BB962C8B-B14F-4D97-AF65-F5344CB8AC3E}">
        <p14:creationId xmlns:p14="http://schemas.microsoft.com/office/powerpoint/2010/main" xmlns="" val="207540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 calcmode="lin" valueType="num">
                                      <p:cBhvr additive="base">
                                        <p:cTn id="7" dur="500" fill="hold"/>
                                        <p:tgtEl>
                                          <p:spTgt spid="4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6">
                                            <p:txEl>
                                              <p:pRg st="1" end="1"/>
                                            </p:txEl>
                                          </p:spTgt>
                                        </p:tgtEl>
                                        <p:attrNameLst>
                                          <p:attrName>style.visibility</p:attrName>
                                        </p:attrNameLst>
                                      </p:cBhvr>
                                      <p:to>
                                        <p:strVal val="visible"/>
                                      </p:to>
                                    </p:set>
                                    <p:anim calcmode="lin" valueType="num">
                                      <p:cBhvr additive="base">
                                        <p:cTn id="13" dur="500" fill="hold"/>
                                        <p:tgtEl>
                                          <p:spTgt spid="4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6">
                                            <p:txEl>
                                              <p:pRg st="2" end="2"/>
                                            </p:txEl>
                                          </p:spTgt>
                                        </p:tgtEl>
                                        <p:attrNameLst>
                                          <p:attrName>style.visibility</p:attrName>
                                        </p:attrNameLst>
                                      </p:cBhvr>
                                      <p:to>
                                        <p:strVal val="visible"/>
                                      </p:to>
                                    </p:set>
                                    <p:anim calcmode="lin" valueType="num">
                                      <p:cBhvr additive="base">
                                        <p:cTn id="19" dur="500" fill="hold"/>
                                        <p:tgtEl>
                                          <p:spTgt spid="4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6">
                                            <p:txEl>
                                              <p:pRg st="3" end="3"/>
                                            </p:txEl>
                                          </p:spTgt>
                                        </p:tgtEl>
                                        <p:attrNameLst>
                                          <p:attrName>style.visibility</p:attrName>
                                        </p:attrNameLst>
                                      </p:cBhvr>
                                      <p:to>
                                        <p:strVal val="visible"/>
                                      </p:to>
                                    </p:set>
                                    <p:anim calcmode="lin" valueType="num">
                                      <p:cBhvr additive="base">
                                        <p:cTn id="25" dur="500" fill="hold"/>
                                        <p:tgtEl>
                                          <p:spTgt spid="4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6">
                                            <p:txEl>
                                              <p:pRg st="4" end="4"/>
                                            </p:txEl>
                                          </p:spTgt>
                                        </p:tgtEl>
                                        <p:attrNameLst>
                                          <p:attrName>style.visibility</p:attrName>
                                        </p:attrNameLst>
                                      </p:cBhvr>
                                      <p:to>
                                        <p:strVal val="visible"/>
                                      </p:to>
                                    </p:set>
                                    <p:anim calcmode="lin" valueType="num">
                                      <p:cBhvr additive="base">
                                        <p:cTn id="31" dur="500" fill="hold"/>
                                        <p:tgtEl>
                                          <p:spTgt spid="4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p:cNvSpPr/>
          <p:nvPr/>
        </p:nvSpPr>
        <p:spPr>
          <a:xfrm>
            <a:off x="1428728" y="214290"/>
            <a:ext cx="6350253" cy="1200329"/>
          </a:xfrm>
          <a:prstGeom prst="rect">
            <a:avLst/>
          </a:prstGeom>
          <a:solidFill>
            <a:schemeClr val="bg1">
              <a:lumMod val="85000"/>
            </a:schemeClr>
          </a:solidFill>
        </p:spPr>
        <p:txBody>
          <a:bodyPr wrap="square">
            <a:spAutoFit/>
          </a:bodyPr>
          <a:lstStyle/>
          <a:p>
            <a:pPr lvl="0" algn="ctr"/>
            <a:r>
              <a:rPr lang="he-IL" sz="3600" b="1" dirty="0" smtClean="0">
                <a:solidFill>
                  <a:srgbClr val="000066"/>
                </a:solidFill>
              </a:rPr>
              <a:t>שינויים עיקריים בתקנות הגיאודזיה וההנחיות הנלוות</a:t>
            </a:r>
            <a:endParaRPr lang="he-IL" sz="3600" b="1" dirty="0">
              <a:solidFill>
                <a:srgbClr val="000066"/>
              </a:solidFill>
            </a:endParaRPr>
          </a:p>
        </p:txBody>
      </p:sp>
      <p:pic>
        <p:nvPicPr>
          <p:cNvPr id="1026" name="Picture 2" descr="http://www.leica-geosystems.ch/thumbs/originals/AECR_1010.jpg"/>
          <p:cNvPicPr>
            <a:picLocks noChangeAspect="1" noChangeArrowheads="1"/>
          </p:cNvPicPr>
          <p:nvPr/>
        </p:nvPicPr>
        <p:blipFill>
          <a:blip r:embed="rId2" cstate="print"/>
          <a:srcRect/>
          <a:stretch>
            <a:fillRect/>
          </a:stretch>
        </p:blipFill>
        <p:spPr bwMode="auto">
          <a:xfrm>
            <a:off x="2214546" y="1428736"/>
            <a:ext cx="5143500" cy="5200651"/>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מלבן 2"/>
          <p:cNvSpPr/>
          <p:nvPr/>
        </p:nvSpPr>
        <p:spPr>
          <a:xfrm>
            <a:off x="1428728" y="214290"/>
            <a:ext cx="6350253" cy="1200329"/>
          </a:xfrm>
          <a:prstGeom prst="rect">
            <a:avLst/>
          </a:prstGeom>
          <a:solidFill>
            <a:schemeClr val="bg1">
              <a:lumMod val="85000"/>
            </a:schemeClr>
          </a:solidFill>
        </p:spPr>
        <p:txBody>
          <a:bodyPr wrap="square">
            <a:spAutoFit/>
          </a:bodyPr>
          <a:lstStyle/>
          <a:p>
            <a:pPr lvl="0" algn="ctr"/>
            <a:r>
              <a:rPr lang="he-IL" sz="3600" b="1" dirty="0" smtClean="0">
                <a:solidFill>
                  <a:srgbClr val="000066"/>
                </a:solidFill>
              </a:rPr>
              <a:t>שינויים עיקריים בתקנות הגיאודזיה וההנחיות הנלוות</a:t>
            </a:r>
            <a:endParaRPr lang="he-IL" sz="3600" b="1" dirty="0">
              <a:solidFill>
                <a:srgbClr val="000066"/>
              </a:solidFill>
            </a:endParaRPr>
          </a:p>
        </p:txBody>
      </p:sp>
      <p:sp>
        <p:nvSpPr>
          <p:cNvPr id="4" name="TextBox 3"/>
          <p:cNvSpPr txBox="1"/>
          <p:nvPr/>
        </p:nvSpPr>
        <p:spPr>
          <a:xfrm>
            <a:off x="971600" y="1541200"/>
            <a:ext cx="7100824" cy="830997"/>
          </a:xfrm>
          <a:prstGeom prst="rect">
            <a:avLst/>
          </a:prstGeom>
          <a:noFill/>
        </p:spPr>
        <p:txBody>
          <a:bodyPr wrap="square" rtlCol="1">
            <a:spAutoFit/>
          </a:bodyPr>
          <a:lstStyle/>
          <a:p>
            <a:pPr marL="457200" indent="-457200">
              <a:buFont typeface="+mj-lt"/>
              <a:buAutoNum type="arabicPeriod"/>
            </a:pPr>
            <a:r>
              <a:rPr lang="he-IL" sz="2400" dirty="0" smtClean="0">
                <a:solidFill>
                  <a:srgbClr val="000066"/>
                </a:solidFill>
              </a:rPr>
              <a:t>דרגות ודיוקים נדרשים לקואורדינאטות אופקיות</a:t>
            </a:r>
          </a:p>
          <a:p>
            <a:pPr marL="457200" indent="-457200">
              <a:buFont typeface="+mj-lt"/>
              <a:buAutoNum type="arabicPeriod"/>
            </a:pPr>
            <a:r>
              <a:rPr lang="he-IL" sz="2400" dirty="0" smtClean="0">
                <a:solidFill>
                  <a:srgbClr val="000066"/>
                </a:solidFill>
              </a:rPr>
              <a:t>דרגות ודיוקים נדרשים לקואורדינאטות אנכיות</a:t>
            </a:r>
            <a:endParaRPr lang="he-IL" sz="2400" dirty="0">
              <a:solidFill>
                <a:srgbClr val="000066"/>
              </a:solidFill>
            </a:endParaRPr>
          </a:p>
        </p:txBody>
      </p:sp>
      <p:pic>
        <p:nvPicPr>
          <p:cNvPr id="1027" name="Picture 3"/>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395" t="31764" r="24525" b="32811"/>
          <a:stretch/>
        </p:blipFill>
        <p:spPr bwMode="auto">
          <a:xfrm>
            <a:off x="825549" y="2372196"/>
            <a:ext cx="7603122" cy="439026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88974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 calcmode="lin" valueType="num">
                                      <p:cBhvr additive="base">
                                        <p:cTn id="7" dur="500" fill="hold"/>
                                        <p:tgtEl>
                                          <p:spTgt spid="1027"/>
                                        </p:tgtEl>
                                        <p:attrNameLst>
                                          <p:attrName>ppt_x</p:attrName>
                                        </p:attrNameLst>
                                      </p:cBhvr>
                                      <p:tavLst>
                                        <p:tav tm="0">
                                          <p:val>
                                            <p:strVal val="#ppt_x"/>
                                          </p:val>
                                        </p:tav>
                                        <p:tav tm="100000">
                                          <p:val>
                                            <p:strVal val="#ppt_x"/>
                                          </p:val>
                                        </p:tav>
                                      </p:tavLst>
                                    </p:anim>
                                    <p:anim calcmode="lin" valueType="num">
                                      <p:cBhvr additive="base">
                                        <p:cTn id="8"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לבן 2"/>
          <p:cNvSpPr/>
          <p:nvPr/>
        </p:nvSpPr>
        <p:spPr>
          <a:xfrm>
            <a:off x="1436457" y="831819"/>
            <a:ext cx="6350253" cy="954107"/>
          </a:xfrm>
          <a:prstGeom prst="rect">
            <a:avLst/>
          </a:prstGeom>
        </p:spPr>
        <p:txBody>
          <a:bodyPr wrap="square">
            <a:spAutoFit/>
          </a:bodyPr>
          <a:lstStyle/>
          <a:p>
            <a:pPr algn="ctr"/>
            <a:r>
              <a:rPr lang="he-IL" sz="2800" b="1" dirty="0" smtClean="0"/>
              <a:t>רשת הבקרה התלת-ממדית (רמה </a:t>
            </a:r>
            <a:r>
              <a:rPr lang="en-US" sz="2800" b="1" dirty="0" smtClean="0"/>
              <a:t>G</a:t>
            </a:r>
            <a:r>
              <a:rPr lang="he-IL" sz="2800" b="1" dirty="0" smtClean="0"/>
              <a:t>) שבאחריות המרכז למיפוי ישראל</a:t>
            </a:r>
            <a:endParaRPr lang="en-US" sz="2800" dirty="0"/>
          </a:p>
        </p:txBody>
      </p:sp>
      <p:graphicFrame>
        <p:nvGraphicFramePr>
          <p:cNvPr id="4" name="טבלה 3"/>
          <p:cNvGraphicFramePr>
            <a:graphicFrameLocks noGrp="1"/>
          </p:cNvGraphicFramePr>
          <p:nvPr>
            <p:extLst>
              <p:ext uri="{D42A27DB-BD31-4B8C-83A1-F6EECF244321}">
                <p14:modId xmlns:p14="http://schemas.microsoft.com/office/powerpoint/2010/main" xmlns="" val="1366789848"/>
              </p:ext>
            </p:extLst>
          </p:nvPr>
        </p:nvGraphicFramePr>
        <p:xfrm>
          <a:off x="214282" y="1897452"/>
          <a:ext cx="8640960" cy="4772553"/>
        </p:xfrm>
        <a:graphic>
          <a:graphicData uri="http://schemas.openxmlformats.org/drawingml/2006/table">
            <a:tbl>
              <a:tblPr rtl="1" firstRow="1" firstCol="1" bandRow="1">
                <a:tableStyleId>{5C22544A-7EE6-4342-B048-85BDC9FD1C3A}</a:tableStyleId>
              </a:tblPr>
              <a:tblGrid>
                <a:gridCol w="1355732"/>
                <a:gridCol w="1257145"/>
                <a:gridCol w="1541702"/>
                <a:gridCol w="984627"/>
                <a:gridCol w="1750877"/>
                <a:gridCol w="1750877"/>
              </a:tblGrid>
              <a:tr h="901884">
                <a:tc rowSpan="2">
                  <a:txBody>
                    <a:bodyPr/>
                    <a:lstStyle/>
                    <a:p>
                      <a:endParaRPr lang="he-IL" sz="1800" dirty="0"/>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rtl="1">
                        <a:lnSpc>
                          <a:spcPct val="150000"/>
                        </a:lnSpc>
                        <a:spcAft>
                          <a:spcPts val="0"/>
                        </a:spcAft>
                      </a:pPr>
                      <a:r>
                        <a:rPr lang="he-IL" sz="1800" b="1" dirty="0" smtClean="0">
                          <a:solidFill>
                            <a:schemeClr val="tx1"/>
                          </a:solidFill>
                          <a:effectLst/>
                        </a:rPr>
                        <a:t>תיאור </a:t>
                      </a:r>
                      <a:r>
                        <a:rPr lang="he-IL" sz="1800" b="1" dirty="0">
                          <a:solidFill>
                            <a:schemeClr val="tx1"/>
                          </a:solidFill>
                          <a:effectLst/>
                        </a:rPr>
                        <a:t>הרשת</a:t>
                      </a:r>
                      <a:endParaRPr lang="en-US" sz="1800" b="1" dirty="0">
                        <a:solidFill>
                          <a:schemeClr val="tx1"/>
                        </a:solidFill>
                        <a:effectLst/>
                        <a:latin typeface="Times New Roman"/>
                        <a:ea typeface="Times New Roman"/>
                        <a:cs typeface="Arial"/>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rtl="1">
                        <a:lnSpc>
                          <a:spcPct val="150000"/>
                        </a:lnSpc>
                        <a:spcAft>
                          <a:spcPts val="0"/>
                        </a:spcAft>
                      </a:pPr>
                      <a:r>
                        <a:rPr lang="he-IL" sz="1800" b="1" dirty="0">
                          <a:solidFill>
                            <a:schemeClr val="tx1"/>
                          </a:solidFill>
                          <a:effectLst/>
                        </a:rPr>
                        <a:t> </a:t>
                      </a:r>
                      <a:r>
                        <a:rPr lang="he-IL" sz="1800" b="1" dirty="0" smtClean="0">
                          <a:solidFill>
                            <a:schemeClr val="tx1"/>
                          </a:solidFill>
                          <a:effectLst/>
                        </a:rPr>
                        <a:t>כמות </a:t>
                      </a:r>
                      <a:r>
                        <a:rPr lang="he-IL" sz="1800" b="1" dirty="0">
                          <a:solidFill>
                            <a:schemeClr val="tx1"/>
                          </a:solidFill>
                          <a:effectLst/>
                        </a:rPr>
                        <a:t>נקודות ברשת בעת פרסום התקנות</a:t>
                      </a:r>
                      <a:endParaRPr lang="en-US" sz="1800" b="1" dirty="0">
                        <a:solidFill>
                          <a:schemeClr val="tx1"/>
                        </a:solidFill>
                        <a:effectLst/>
                        <a:latin typeface="Times New Roman"/>
                        <a:ea typeface="Times New Roman"/>
                        <a:cs typeface="Arial"/>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rtl="1">
                        <a:lnSpc>
                          <a:spcPct val="150000"/>
                        </a:lnSpc>
                        <a:spcAft>
                          <a:spcPts val="0"/>
                        </a:spcAft>
                      </a:pPr>
                      <a:r>
                        <a:rPr lang="he-IL" sz="1800" b="1" dirty="0" smtClean="0">
                          <a:solidFill>
                            <a:schemeClr val="tx1"/>
                          </a:solidFill>
                          <a:effectLst/>
                        </a:rPr>
                        <a:t>שיטת </a:t>
                      </a:r>
                      <a:r>
                        <a:rPr lang="he-IL" sz="1800" b="1" dirty="0">
                          <a:solidFill>
                            <a:schemeClr val="tx1"/>
                          </a:solidFill>
                          <a:effectLst/>
                        </a:rPr>
                        <a:t>המדידה</a:t>
                      </a:r>
                      <a:endParaRPr lang="en-US" sz="1800" b="1" dirty="0">
                        <a:solidFill>
                          <a:schemeClr val="tx1"/>
                        </a:solidFill>
                        <a:effectLst/>
                        <a:latin typeface="Times New Roman"/>
                        <a:ea typeface="Times New Roman"/>
                        <a:cs typeface="Arial"/>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rtl="1">
                        <a:lnSpc>
                          <a:spcPct val="150000"/>
                        </a:lnSpc>
                        <a:spcAft>
                          <a:spcPts val="0"/>
                        </a:spcAft>
                      </a:pPr>
                      <a:r>
                        <a:rPr lang="he-IL" sz="1800" b="1" dirty="0" smtClean="0">
                          <a:solidFill>
                            <a:schemeClr val="tx1"/>
                          </a:solidFill>
                          <a:effectLst/>
                        </a:rPr>
                        <a:t>שגיאה </a:t>
                      </a:r>
                      <a:r>
                        <a:rPr lang="he-IL" sz="1800" b="1" dirty="0">
                          <a:solidFill>
                            <a:schemeClr val="tx1"/>
                          </a:solidFill>
                          <a:effectLst/>
                        </a:rPr>
                        <a:t>מרבית  ב- מ"מ, ברמת מובהקות סטטיסטית של 95% ביחס לערכים המוכרזים של התחנות הקבועות</a:t>
                      </a:r>
                      <a:endParaRPr lang="en-US" sz="1800" b="1" dirty="0">
                        <a:solidFill>
                          <a:schemeClr val="tx1"/>
                        </a:solidFill>
                        <a:effectLst/>
                        <a:latin typeface="Times New Roman"/>
                        <a:ea typeface="Times New Roman"/>
                        <a:cs typeface="Arial"/>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rtl="1"/>
                      <a:endParaRPr lang="he-IL"/>
                    </a:p>
                  </a:txBody>
                  <a:tcPr/>
                </a:tc>
              </a:tr>
              <a:tr h="261579">
                <a:tc vMerge="1">
                  <a:txBody>
                    <a:bodyPr/>
                    <a:lstStyle/>
                    <a:p>
                      <a:pPr rtl="1"/>
                      <a:endParaRPr lang="he-IL"/>
                    </a:p>
                  </a:txBody>
                  <a:tcPr/>
                </a:tc>
                <a:tc vMerge="1">
                  <a:txBody>
                    <a:bodyPr/>
                    <a:lstStyle/>
                    <a:p>
                      <a:pPr rtl="1"/>
                      <a:endParaRPr lang="he-IL"/>
                    </a:p>
                  </a:txBody>
                  <a:tcPr/>
                </a:tc>
                <a:tc vMerge="1">
                  <a:txBody>
                    <a:bodyPr/>
                    <a:lstStyle/>
                    <a:p>
                      <a:pPr rtl="1"/>
                      <a:endParaRPr lang="he-IL"/>
                    </a:p>
                  </a:txBody>
                  <a:tcPr/>
                </a:tc>
                <a:tc vMerge="1">
                  <a:txBody>
                    <a:bodyPr/>
                    <a:lstStyle/>
                    <a:p>
                      <a:pPr rtl="1"/>
                      <a:endParaRPr lang="he-IL"/>
                    </a:p>
                  </a:txBody>
                  <a:tcPr/>
                </a:tc>
                <a:tc>
                  <a:txBody>
                    <a:bodyPr/>
                    <a:lstStyle/>
                    <a:p>
                      <a:pPr algn="ctr" rtl="1">
                        <a:lnSpc>
                          <a:spcPct val="150000"/>
                        </a:lnSpc>
                        <a:spcAft>
                          <a:spcPts val="0"/>
                        </a:spcAft>
                      </a:pPr>
                      <a:r>
                        <a:rPr lang="he-IL" sz="1800" b="1" kern="1200" dirty="0" smtClean="0">
                          <a:solidFill>
                            <a:schemeClr val="tx1"/>
                          </a:solidFill>
                          <a:effectLst/>
                          <a:latin typeface="+mn-lt"/>
                          <a:ea typeface="+mn-ea"/>
                          <a:cs typeface="+mn-cs"/>
                        </a:rPr>
                        <a:t>אופקי</a:t>
                      </a:r>
                      <a:endParaRPr lang="en-US" sz="1800" b="1" kern="12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a:lnSpc>
                          <a:spcPct val="150000"/>
                        </a:lnSpc>
                        <a:spcAft>
                          <a:spcPts val="0"/>
                        </a:spcAft>
                      </a:pPr>
                      <a:r>
                        <a:rPr lang="he-IL" sz="1800" b="1" kern="1200" dirty="0" smtClean="0">
                          <a:solidFill>
                            <a:schemeClr val="tx1"/>
                          </a:solidFill>
                          <a:effectLst/>
                          <a:latin typeface="+mn-lt"/>
                          <a:ea typeface="+mn-ea"/>
                          <a:cs typeface="+mn-cs"/>
                        </a:rPr>
                        <a:t>אנכי </a:t>
                      </a:r>
                      <a:r>
                        <a:rPr lang="he-IL" sz="1800" b="1" kern="1200" dirty="0">
                          <a:solidFill>
                            <a:schemeClr val="tx1"/>
                          </a:solidFill>
                          <a:effectLst/>
                          <a:latin typeface="+mn-lt"/>
                          <a:ea typeface="+mn-ea"/>
                          <a:cs typeface="+mn-cs"/>
                        </a:rPr>
                        <a:t>אליפסואידלי</a:t>
                      </a:r>
                      <a:endParaRPr lang="en-US" sz="1800" b="1" kern="12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12028">
                <a:tc rowSpan="2">
                  <a:txBody>
                    <a:bodyPr/>
                    <a:lstStyle/>
                    <a:p>
                      <a:pPr algn="ctr" rtl="1">
                        <a:lnSpc>
                          <a:spcPct val="150000"/>
                        </a:lnSpc>
                        <a:spcAft>
                          <a:spcPts val="0"/>
                        </a:spcAft>
                      </a:pPr>
                      <a:r>
                        <a:rPr lang="en-US" sz="2000" b="1" dirty="0">
                          <a:solidFill>
                            <a:schemeClr val="tx1"/>
                          </a:solidFill>
                          <a:effectLst/>
                        </a:rPr>
                        <a:t>G0</a:t>
                      </a:r>
                      <a:endParaRPr lang="en-US" sz="20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rtl="1">
                        <a:lnSpc>
                          <a:spcPct val="150000"/>
                        </a:lnSpc>
                        <a:spcAft>
                          <a:spcPts val="0"/>
                        </a:spcAft>
                      </a:pPr>
                      <a:r>
                        <a:rPr lang="he-IL" sz="1600" b="1" dirty="0" smtClean="0">
                          <a:solidFill>
                            <a:schemeClr val="tx1"/>
                          </a:solidFill>
                          <a:effectLst/>
                        </a:rPr>
                        <a:t>דרגה</a:t>
                      </a:r>
                      <a:endParaRPr lang="en-US" sz="16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rtl="1">
                        <a:lnSpc>
                          <a:spcPct val="150000"/>
                        </a:lnSpc>
                        <a:spcAft>
                          <a:spcPts val="0"/>
                        </a:spcAft>
                      </a:pPr>
                      <a:r>
                        <a:rPr lang="he-IL" sz="2000" b="1" dirty="0">
                          <a:solidFill>
                            <a:schemeClr val="tx1"/>
                          </a:solidFill>
                          <a:effectLst/>
                        </a:rPr>
                        <a:t>21</a:t>
                      </a:r>
                      <a:endParaRPr lang="en-US" sz="20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ctr" rtl="1">
                        <a:lnSpc>
                          <a:spcPct val="150000"/>
                        </a:lnSpc>
                        <a:spcAft>
                          <a:spcPts val="0"/>
                        </a:spcAft>
                      </a:pPr>
                      <a:r>
                        <a:rPr lang="he-IL" sz="2000" b="1" dirty="0">
                          <a:solidFill>
                            <a:schemeClr val="tx1"/>
                          </a:solidFill>
                          <a:effectLst/>
                        </a:rPr>
                        <a:t>לוויינית</a:t>
                      </a:r>
                      <a:endParaRPr lang="en-US" sz="20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lnSpc>
                          <a:spcPct val="150000"/>
                        </a:lnSpc>
                        <a:spcAft>
                          <a:spcPts val="0"/>
                        </a:spcAft>
                      </a:pPr>
                      <a:r>
                        <a:rPr lang="he-IL" sz="2000" b="1" dirty="0">
                          <a:solidFill>
                            <a:schemeClr val="tx1"/>
                          </a:solidFill>
                          <a:effectLst/>
                        </a:rPr>
                        <a:t>3</a:t>
                      </a:r>
                      <a:endParaRPr lang="en-US" sz="20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a:lnSpc>
                          <a:spcPct val="150000"/>
                        </a:lnSpc>
                        <a:spcAft>
                          <a:spcPts val="0"/>
                        </a:spcAft>
                      </a:pPr>
                      <a:r>
                        <a:rPr lang="he-IL" sz="2000" b="1" dirty="0">
                          <a:solidFill>
                            <a:schemeClr val="tx1"/>
                          </a:solidFill>
                          <a:effectLst/>
                        </a:rPr>
                        <a:t>5</a:t>
                      </a:r>
                      <a:endParaRPr lang="en-US" sz="20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31525">
                <a:tc vMerge="1">
                  <a:txBody>
                    <a:bodyPr/>
                    <a:lstStyle/>
                    <a:p>
                      <a:pPr rtl="1"/>
                      <a:endParaRPr lang="he-IL"/>
                    </a:p>
                  </a:txBody>
                  <a:tcPr/>
                </a:tc>
                <a:tc vMerge="1">
                  <a:txBody>
                    <a:bodyPr/>
                    <a:lstStyle/>
                    <a:p>
                      <a:pPr rtl="1"/>
                      <a:endParaRPr lang="he-IL"/>
                    </a:p>
                  </a:txBody>
                  <a:tcPr/>
                </a:tc>
                <a:tc vMerge="1">
                  <a:txBody>
                    <a:bodyPr/>
                    <a:lstStyle/>
                    <a:p>
                      <a:pPr rtl="1"/>
                      <a:endParaRPr lang="he-IL"/>
                    </a:p>
                  </a:txBody>
                  <a:tcPr/>
                </a:tc>
                <a:tc vMerge="1">
                  <a:txBody>
                    <a:bodyPr/>
                    <a:lstStyle/>
                    <a:p>
                      <a:pPr rtl="1"/>
                      <a:endParaRPr lang="he-IL"/>
                    </a:p>
                  </a:txBody>
                  <a:tcPr/>
                </a:tc>
                <a:tc rowSpan="2">
                  <a:txBody>
                    <a:bodyPr/>
                    <a:lstStyle/>
                    <a:p>
                      <a:pPr algn="ctr" rtl="1">
                        <a:lnSpc>
                          <a:spcPct val="150000"/>
                        </a:lnSpc>
                        <a:spcAft>
                          <a:spcPts val="0"/>
                        </a:spcAft>
                      </a:pPr>
                      <a:r>
                        <a:rPr lang="he-IL" sz="2000" b="1" dirty="0">
                          <a:solidFill>
                            <a:schemeClr val="tx1"/>
                          </a:solidFill>
                          <a:effectLst/>
                        </a:rPr>
                        <a:t>6</a:t>
                      </a:r>
                      <a:endParaRPr lang="en-US" sz="20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rtl="1">
                        <a:lnSpc>
                          <a:spcPct val="150000"/>
                        </a:lnSpc>
                        <a:spcAft>
                          <a:spcPts val="0"/>
                        </a:spcAft>
                      </a:pPr>
                      <a:r>
                        <a:rPr lang="he-IL" sz="2000" b="1" dirty="0">
                          <a:solidFill>
                            <a:schemeClr val="tx1"/>
                          </a:solidFill>
                          <a:effectLst/>
                        </a:rPr>
                        <a:t>10</a:t>
                      </a:r>
                      <a:endParaRPr lang="en-US" sz="20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35965">
                <a:tc>
                  <a:txBody>
                    <a:bodyPr/>
                    <a:lstStyle/>
                    <a:p>
                      <a:pPr algn="ctr" rtl="1">
                        <a:lnSpc>
                          <a:spcPct val="150000"/>
                        </a:lnSpc>
                        <a:spcAft>
                          <a:spcPts val="0"/>
                        </a:spcAft>
                      </a:pPr>
                      <a:r>
                        <a:rPr lang="en-US" sz="2000" b="1">
                          <a:solidFill>
                            <a:schemeClr val="tx1"/>
                          </a:solidFill>
                          <a:effectLst/>
                        </a:rPr>
                        <a:t>G1*</a:t>
                      </a:r>
                      <a:endParaRPr lang="en-US" sz="2000" b="1">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a:lnSpc>
                          <a:spcPct val="150000"/>
                        </a:lnSpc>
                        <a:spcAft>
                          <a:spcPts val="0"/>
                        </a:spcAft>
                      </a:pPr>
                      <a:r>
                        <a:rPr lang="he-IL" sz="2000" b="1">
                          <a:solidFill>
                            <a:schemeClr val="tx1"/>
                          </a:solidFill>
                          <a:effectLst/>
                        </a:rPr>
                        <a:t>גאודינמית</a:t>
                      </a:r>
                      <a:endParaRPr lang="en-US" sz="2000" b="1">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a:lnSpc>
                          <a:spcPct val="150000"/>
                        </a:lnSpc>
                        <a:spcAft>
                          <a:spcPts val="0"/>
                        </a:spcAft>
                      </a:pPr>
                      <a:r>
                        <a:rPr lang="he-IL" sz="2000" b="1" dirty="0">
                          <a:solidFill>
                            <a:schemeClr val="tx1"/>
                          </a:solidFill>
                          <a:effectLst/>
                        </a:rPr>
                        <a:t>150</a:t>
                      </a:r>
                      <a:endParaRPr lang="en-US" sz="20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rtl="1"/>
                      <a:endParaRPr lang="he-IL"/>
                    </a:p>
                  </a:txBody>
                  <a:tcPr/>
                </a:tc>
                <a:tc vMerge="1">
                  <a:txBody>
                    <a:bodyPr/>
                    <a:lstStyle/>
                    <a:p>
                      <a:pPr algn="ctr" rtl="1">
                        <a:lnSpc>
                          <a:spcPct val="150000"/>
                        </a:lnSpc>
                        <a:spcAft>
                          <a:spcPts val="0"/>
                        </a:spcAft>
                      </a:pPr>
                      <a:endParaRPr lang="en-US" sz="20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1">
                        <a:lnSpc>
                          <a:spcPct val="150000"/>
                        </a:lnSpc>
                        <a:spcAft>
                          <a:spcPts val="0"/>
                        </a:spcAft>
                      </a:pPr>
                      <a:endParaRPr lang="en-US" sz="20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871929">
                <a:tc>
                  <a:txBody>
                    <a:bodyPr/>
                    <a:lstStyle/>
                    <a:p>
                      <a:pPr algn="ctr" rtl="1">
                        <a:lnSpc>
                          <a:spcPct val="150000"/>
                        </a:lnSpc>
                        <a:spcAft>
                          <a:spcPts val="0"/>
                        </a:spcAft>
                      </a:pPr>
                      <a:r>
                        <a:rPr lang="en-US" sz="2000" b="1" dirty="0">
                          <a:solidFill>
                            <a:schemeClr val="tx1"/>
                          </a:solidFill>
                          <a:effectLst/>
                        </a:rPr>
                        <a:t>G2</a:t>
                      </a:r>
                      <a:endParaRPr lang="en-US" sz="20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lnSpc>
                          <a:spcPct val="150000"/>
                        </a:lnSpc>
                        <a:spcAft>
                          <a:spcPts val="0"/>
                        </a:spcAft>
                      </a:pPr>
                      <a:r>
                        <a:rPr lang="he-IL" sz="2000" b="1">
                          <a:solidFill>
                            <a:schemeClr val="tx1"/>
                          </a:solidFill>
                          <a:effectLst/>
                        </a:rPr>
                        <a:t>גאודטית משנית</a:t>
                      </a:r>
                      <a:endParaRPr lang="en-US" sz="2000" b="1">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lnSpc>
                          <a:spcPct val="150000"/>
                        </a:lnSpc>
                        <a:spcAft>
                          <a:spcPts val="0"/>
                        </a:spcAft>
                      </a:pPr>
                      <a:r>
                        <a:rPr lang="he-IL" sz="2000" b="1" dirty="0">
                          <a:solidFill>
                            <a:schemeClr val="tx1"/>
                          </a:solidFill>
                          <a:effectLst/>
                        </a:rPr>
                        <a:t>1500</a:t>
                      </a:r>
                      <a:endParaRPr lang="en-US" sz="20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rtl="1"/>
                      <a:endParaRPr lang="he-IL"/>
                    </a:p>
                  </a:txBody>
                  <a:tcPr/>
                </a:tc>
                <a:tc>
                  <a:txBody>
                    <a:bodyPr/>
                    <a:lstStyle/>
                    <a:p>
                      <a:pPr algn="ctr" rtl="1">
                        <a:lnSpc>
                          <a:spcPct val="150000"/>
                        </a:lnSpc>
                        <a:spcAft>
                          <a:spcPts val="0"/>
                        </a:spcAft>
                      </a:pPr>
                      <a:r>
                        <a:rPr lang="he-IL" sz="2000" b="1" dirty="0">
                          <a:solidFill>
                            <a:schemeClr val="tx1"/>
                          </a:solidFill>
                          <a:effectLst/>
                        </a:rPr>
                        <a:t>15</a:t>
                      </a:r>
                      <a:endParaRPr lang="en-US" sz="20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lnSpc>
                          <a:spcPct val="150000"/>
                        </a:lnSpc>
                        <a:spcAft>
                          <a:spcPts val="0"/>
                        </a:spcAft>
                      </a:pPr>
                      <a:r>
                        <a:rPr lang="he-IL" sz="2000" b="1" dirty="0">
                          <a:solidFill>
                            <a:schemeClr val="tx1"/>
                          </a:solidFill>
                          <a:effectLst/>
                        </a:rPr>
                        <a:t>20</a:t>
                      </a:r>
                      <a:endParaRPr lang="en-US" sz="2000" b="1" dirty="0">
                        <a:solidFill>
                          <a:schemeClr val="tx1"/>
                        </a:solidFill>
                        <a:effectLst/>
                        <a:latin typeface="Times New Roman"/>
                        <a:ea typeface="Times New Roman"/>
                        <a:cs typeface="Aria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xmlns="" val="16385381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לבן 2"/>
          <p:cNvSpPr/>
          <p:nvPr/>
        </p:nvSpPr>
        <p:spPr>
          <a:xfrm>
            <a:off x="1395571" y="476672"/>
            <a:ext cx="6350253" cy="954107"/>
          </a:xfrm>
          <a:prstGeom prst="rect">
            <a:avLst/>
          </a:prstGeom>
        </p:spPr>
        <p:txBody>
          <a:bodyPr wrap="square">
            <a:spAutoFit/>
          </a:bodyPr>
          <a:lstStyle/>
          <a:p>
            <a:r>
              <a:rPr lang="he-IL" sz="2800" b="1" dirty="0" smtClean="0"/>
              <a:t>דרגות דיוק למדידת נקודות בקרה תלת-ממדית (רמה </a:t>
            </a:r>
            <a:r>
              <a:rPr lang="en-US" sz="2800" b="1" dirty="0" smtClean="0"/>
              <a:t>S</a:t>
            </a:r>
            <a:r>
              <a:rPr lang="he-IL" sz="2800" b="1" dirty="0" smtClean="0"/>
              <a:t>) על ידי מודדים או מפ"י</a:t>
            </a:r>
            <a:endParaRPr lang="en-US" sz="2800" dirty="0"/>
          </a:p>
        </p:txBody>
      </p:sp>
      <p:graphicFrame>
        <p:nvGraphicFramePr>
          <p:cNvPr id="5" name="טבלה 4"/>
          <p:cNvGraphicFramePr>
            <a:graphicFrameLocks noGrp="1"/>
          </p:cNvGraphicFramePr>
          <p:nvPr/>
        </p:nvGraphicFramePr>
        <p:xfrm>
          <a:off x="214282" y="1477356"/>
          <a:ext cx="8629953" cy="5377794"/>
        </p:xfrm>
        <a:graphic>
          <a:graphicData uri="http://schemas.openxmlformats.org/drawingml/2006/table">
            <a:tbl>
              <a:tblPr rtl="1"/>
              <a:tblGrid>
                <a:gridCol w="1055195"/>
                <a:gridCol w="694951"/>
                <a:gridCol w="2387378"/>
                <a:gridCol w="1955365"/>
                <a:gridCol w="1139368"/>
                <a:gridCol w="1397696"/>
              </a:tblGrid>
              <a:tr h="1500198">
                <a:tc rowSpan="2">
                  <a:txBody>
                    <a:bodyPr/>
                    <a:lstStyle/>
                    <a:p>
                      <a:pPr algn="ctr" rtl="1">
                        <a:lnSpc>
                          <a:spcPct val="150000"/>
                        </a:lnSpc>
                        <a:spcAft>
                          <a:spcPts val="0"/>
                        </a:spcAft>
                      </a:pPr>
                      <a:endParaRPr lang="en-US" sz="2000" b="1" kern="1200" dirty="0">
                        <a:solidFill>
                          <a:srgbClr val="000000"/>
                        </a:solidFill>
                        <a:latin typeface="Times New Roman"/>
                        <a:ea typeface="Times New Roman"/>
                        <a:cs typeface="David"/>
                      </a:endParaRPr>
                    </a:p>
                    <a:p>
                      <a:pPr algn="ctr" rtl="1">
                        <a:lnSpc>
                          <a:spcPct val="150000"/>
                        </a:lnSpc>
                        <a:spcAft>
                          <a:spcPts val="0"/>
                        </a:spcAft>
                      </a:pPr>
                      <a:r>
                        <a:rPr lang="he-IL" sz="2000" b="1" kern="1200" dirty="0">
                          <a:solidFill>
                            <a:srgbClr val="000000"/>
                          </a:solidFill>
                          <a:latin typeface="Times New Roman"/>
                          <a:ea typeface="Times New Roman"/>
                          <a:cs typeface="David"/>
                        </a:rPr>
                        <a:t>דרגה</a:t>
                      </a:r>
                      <a:endParaRPr lang="en-US" sz="2000" b="1" kern="1200" dirty="0">
                        <a:solidFill>
                          <a:srgbClr val="000000"/>
                        </a:solidFill>
                        <a:latin typeface="Times New Roman"/>
                        <a:ea typeface="Times New Roman"/>
                        <a:cs typeface="David"/>
                      </a:endParaRPr>
                    </a:p>
                  </a:txBody>
                  <a:tcPr marL="42358" marR="42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gridSpan="2">
                  <a:txBody>
                    <a:bodyPr/>
                    <a:lstStyle/>
                    <a:p>
                      <a:pPr algn="ctr" rtl="1">
                        <a:lnSpc>
                          <a:spcPct val="150000"/>
                        </a:lnSpc>
                        <a:spcAft>
                          <a:spcPts val="0"/>
                        </a:spcAft>
                      </a:pPr>
                      <a:endParaRPr lang="en-US" sz="2000" b="1" kern="1200" dirty="0">
                        <a:solidFill>
                          <a:srgbClr val="000000"/>
                        </a:solidFill>
                        <a:latin typeface="Times New Roman"/>
                        <a:ea typeface="Times New Roman"/>
                        <a:cs typeface="David"/>
                      </a:endParaRPr>
                    </a:p>
                    <a:p>
                      <a:pPr algn="ctr" rtl="1">
                        <a:lnSpc>
                          <a:spcPct val="150000"/>
                        </a:lnSpc>
                        <a:spcAft>
                          <a:spcPts val="0"/>
                        </a:spcAft>
                      </a:pPr>
                      <a:r>
                        <a:rPr lang="he-IL" sz="2000" b="1" kern="1200" dirty="0">
                          <a:solidFill>
                            <a:srgbClr val="000000"/>
                          </a:solidFill>
                          <a:latin typeface="Times New Roman"/>
                          <a:ea typeface="Times New Roman"/>
                          <a:cs typeface="David"/>
                        </a:rPr>
                        <a:t>שימושי הרשת</a:t>
                      </a:r>
                      <a:endParaRPr lang="en-US" sz="2000" b="1" kern="1200" dirty="0">
                        <a:solidFill>
                          <a:srgbClr val="000000"/>
                        </a:solidFill>
                        <a:latin typeface="Times New Roman"/>
                        <a:ea typeface="Times New Roman"/>
                        <a:cs typeface="David"/>
                      </a:endParaRPr>
                    </a:p>
                  </a:txBody>
                  <a:tcPr marL="42358" marR="42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xBody>
                    <a:bodyPr/>
                    <a:lstStyle/>
                    <a:p>
                      <a:pPr rtl="1"/>
                      <a:endParaRPr lang="he-IL"/>
                    </a:p>
                  </a:txBody>
                  <a:tcPr/>
                </a:tc>
                <a:tc rowSpan="2">
                  <a:txBody>
                    <a:bodyPr/>
                    <a:lstStyle/>
                    <a:p>
                      <a:pPr algn="ctr" rtl="1">
                        <a:lnSpc>
                          <a:spcPct val="150000"/>
                        </a:lnSpc>
                        <a:spcAft>
                          <a:spcPts val="0"/>
                        </a:spcAft>
                      </a:pPr>
                      <a:endParaRPr lang="en-US" sz="2000" b="1" kern="1200" dirty="0">
                        <a:solidFill>
                          <a:srgbClr val="000000"/>
                        </a:solidFill>
                        <a:latin typeface="Times New Roman"/>
                        <a:ea typeface="Times New Roman"/>
                        <a:cs typeface="David"/>
                      </a:endParaRPr>
                    </a:p>
                    <a:p>
                      <a:pPr algn="ctr" rtl="1">
                        <a:lnSpc>
                          <a:spcPct val="150000"/>
                        </a:lnSpc>
                        <a:spcAft>
                          <a:spcPts val="0"/>
                        </a:spcAft>
                      </a:pPr>
                      <a:r>
                        <a:rPr lang="he-IL" sz="2000" b="1" kern="1200" dirty="0">
                          <a:solidFill>
                            <a:srgbClr val="000000"/>
                          </a:solidFill>
                          <a:latin typeface="Times New Roman"/>
                          <a:ea typeface="Times New Roman"/>
                          <a:cs typeface="David"/>
                        </a:rPr>
                        <a:t>שיטת המדידה</a:t>
                      </a:r>
                      <a:endParaRPr lang="en-US" sz="2000" b="1" kern="1200" dirty="0">
                        <a:solidFill>
                          <a:srgbClr val="000000"/>
                        </a:solidFill>
                        <a:latin typeface="Times New Roman"/>
                        <a:ea typeface="Times New Roman"/>
                        <a:cs typeface="David"/>
                      </a:endParaRPr>
                    </a:p>
                  </a:txBody>
                  <a:tcPr marL="42358" marR="42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rtl="1">
                        <a:lnSpc>
                          <a:spcPct val="150000"/>
                        </a:lnSpc>
                        <a:spcAft>
                          <a:spcPts val="0"/>
                        </a:spcAft>
                      </a:pPr>
                      <a:endParaRPr lang="en-US" sz="700" dirty="0">
                        <a:latin typeface="Times New Roman"/>
                        <a:ea typeface="Times New Roman"/>
                        <a:cs typeface="Arial"/>
                      </a:endParaRPr>
                    </a:p>
                    <a:p>
                      <a:pPr algn="ctr" rtl="1">
                        <a:lnSpc>
                          <a:spcPct val="150000"/>
                        </a:lnSpc>
                        <a:spcAft>
                          <a:spcPts val="0"/>
                        </a:spcAft>
                      </a:pPr>
                      <a:r>
                        <a:rPr lang="he-IL" sz="2000" b="1" dirty="0">
                          <a:solidFill>
                            <a:srgbClr val="000000"/>
                          </a:solidFill>
                          <a:latin typeface="Times New Roman"/>
                          <a:ea typeface="Times New Roman"/>
                          <a:cs typeface="David"/>
                        </a:rPr>
                        <a:t>שגיאה מרבית מותרת  ב-מ"מ, </a:t>
                      </a:r>
                      <a:r>
                        <a:rPr lang="he-IL" sz="2000" b="1" dirty="0" smtClean="0">
                          <a:solidFill>
                            <a:srgbClr val="000000"/>
                          </a:solidFill>
                          <a:latin typeface="Times New Roman"/>
                          <a:ea typeface="Times New Roman"/>
                          <a:cs typeface="David"/>
                        </a:rPr>
                        <a:t>ביחס לתחנות </a:t>
                      </a:r>
                      <a:r>
                        <a:rPr lang="he-IL" sz="2000" b="1" dirty="0">
                          <a:solidFill>
                            <a:srgbClr val="000000"/>
                          </a:solidFill>
                          <a:latin typeface="Times New Roman"/>
                          <a:ea typeface="Times New Roman"/>
                          <a:cs typeface="David"/>
                        </a:rPr>
                        <a:t>הקבועות</a:t>
                      </a:r>
                      <a:endParaRPr lang="en-US" sz="2000" dirty="0">
                        <a:latin typeface="Times New Roman"/>
                        <a:ea typeface="Times New Roman"/>
                        <a:cs typeface="Arial"/>
                      </a:endParaRPr>
                    </a:p>
                  </a:txBody>
                  <a:tcPr marL="42358" marR="42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rtl="1"/>
                      <a:endParaRPr lang="he-IL"/>
                    </a:p>
                  </a:txBody>
                  <a:tcPr/>
                </a:tc>
              </a:tr>
              <a:tr h="785818">
                <a:tc vMerge="1">
                  <a:txBody>
                    <a:bodyPr/>
                    <a:lstStyle/>
                    <a:p>
                      <a:pPr rtl="1"/>
                      <a:endParaRPr lang="he-IL"/>
                    </a:p>
                  </a:txBody>
                  <a:tcPr/>
                </a:tc>
                <a:tc gridSpan="2" vMerge="1">
                  <a:txBody>
                    <a:bodyPr/>
                    <a:lstStyle/>
                    <a:p>
                      <a:pPr rtl="1"/>
                      <a:endParaRPr lang="he-IL"/>
                    </a:p>
                  </a:txBody>
                  <a:tcPr/>
                </a:tc>
                <a:tc hMerge="1" vMerge="1">
                  <a:txBody>
                    <a:bodyPr/>
                    <a:lstStyle/>
                    <a:p>
                      <a:pPr rtl="1"/>
                      <a:endParaRPr lang="he-IL"/>
                    </a:p>
                  </a:txBody>
                  <a:tcPr/>
                </a:tc>
                <a:tc vMerge="1">
                  <a:txBody>
                    <a:bodyPr/>
                    <a:lstStyle/>
                    <a:p>
                      <a:pPr rtl="1"/>
                      <a:endParaRPr lang="he-IL"/>
                    </a:p>
                  </a:txBody>
                  <a:tcPr/>
                </a:tc>
                <a:tc>
                  <a:txBody>
                    <a:bodyPr/>
                    <a:lstStyle/>
                    <a:p>
                      <a:pPr algn="ctr" rtl="1">
                        <a:lnSpc>
                          <a:spcPct val="150000"/>
                        </a:lnSpc>
                        <a:spcAft>
                          <a:spcPts val="0"/>
                        </a:spcAft>
                      </a:pPr>
                      <a:endParaRPr lang="en-US" sz="1800">
                        <a:latin typeface="Times New Roman"/>
                        <a:ea typeface="Times New Roman"/>
                        <a:cs typeface="Arial"/>
                      </a:endParaRPr>
                    </a:p>
                    <a:p>
                      <a:pPr algn="ctr" rtl="1">
                        <a:lnSpc>
                          <a:spcPct val="150000"/>
                        </a:lnSpc>
                        <a:spcAft>
                          <a:spcPts val="0"/>
                        </a:spcAft>
                      </a:pPr>
                      <a:r>
                        <a:rPr lang="he-IL" sz="1800" b="1">
                          <a:solidFill>
                            <a:srgbClr val="000000"/>
                          </a:solidFill>
                          <a:latin typeface="Times New Roman"/>
                          <a:ea typeface="Times New Roman"/>
                          <a:cs typeface="David"/>
                        </a:rPr>
                        <a:t>אופקית</a:t>
                      </a:r>
                      <a:endParaRPr lang="en-US" sz="1800">
                        <a:latin typeface="Times New Roman"/>
                        <a:ea typeface="Times New Roman"/>
                        <a:cs typeface="Arial"/>
                      </a:endParaRPr>
                    </a:p>
                  </a:txBody>
                  <a:tcPr marL="42358" marR="42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b="1" dirty="0" smtClean="0">
                          <a:solidFill>
                            <a:srgbClr val="000000"/>
                          </a:solidFill>
                          <a:latin typeface="Times New Roman"/>
                          <a:ea typeface="Times New Roman"/>
                          <a:cs typeface="David"/>
                        </a:rPr>
                        <a:t>אנכית </a:t>
                      </a:r>
                      <a:r>
                        <a:rPr lang="he-IL" sz="1800" b="1" dirty="0" err="1">
                          <a:solidFill>
                            <a:srgbClr val="000000"/>
                          </a:solidFill>
                          <a:latin typeface="Times New Roman"/>
                          <a:ea typeface="Times New Roman"/>
                          <a:cs typeface="David"/>
                        </a:rPr>
                        <a:t>אליפסואידלי</a:t>
                      </a:r>
                      <a:endParaRPr lang="en-US" sz="1800" dirty="0">
                        <a:latin typeface="Times New Roman"/>
                        <a:ea typeface="Times New Roman"/>
                        <a:cs typeface="Arial"/>
                      </a:endParaRPr>
                    </a:p>
                  </a:txBody>
                  <a:tcPr marL="42358" marR="42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863">
                <a:tc>
                  <a:txBody>
                    <a:bodyPr/>
                    <a:lstStyle/>
                    <a:p>
                      <a:pPr algn="ctr" rtl="1">
                        <a:lnSpc>
                          <a:spcPct val="150000"/>
                        </a:lnSpc>
                        <a:spcAft>
                          <a:spcPts val="0"/>
                        </a:spcAft>
                      </a:pPr>
                      <a:r>
                        <a:rPr lang="en-US" sz="1800">
                          <a:solidFill>
                            <a:srgbClr val="000000"/>
                          </a:solidFill>
                          <a:latin typeface="Times New Roman"/>
                          <a:ea typeface="Times New Roman"/>
                          <a:cs typeface="David"/>
                        </a:rPr>
                        <a:t>S0**</a:t>
                      </a:r>
                      <a:endParaRPr lang="en-US" sz="180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rtl="1">
                        <a:lnSpc>
                          <a:spcPct val="150000"/>
                        </a:lnSpc>
                        <a:spcAft>
                          <a:spcPts val="0"/>
                        </a:spcAft>
                      </a:pPr>
                      <a:r>
                        <a:rPr lang="he-IL" sz="1800">
                          <a:solidFill>
                            <a:srgbClr val="000000"/>
                          </a:solidFill>
                          <a:latin typeface="Times New Roman"/>
                          <a:ea typeface="Times New Roman"/>
                          <a:cs typeface="David"/>
                        </a:rPr>
                        <a:t>רשתות של תחנות קבע פרטיות</a:t>
                      </a:r>
                      <a:endParaRPr lang="en-US" sz="180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rtl="1"/>
                      <a:endParaRPr lang="he-IL"/>
                    </a:p>
                  </a:txBody>
                  <a:tcPr/>
                </a:tc>
                <a:tc>
                  <a:txBody>
                    <a:bodyPr/>
                    <a:lstStyle/>
                    <a:p>
                      <a:pPr algn="ctr" rtl="1">
                        <a:lnSpc>
                          <a:spcPct val="150000"/>
                        </a:lnSpc>
                        <a:spcAft>
                          <a:spcPts val="0"/>
                        </a:spcAft>
                      </a:pPr>
                      <a:r>
                        <a:rPr lang="he-IL" sz="1800" dirty="0">
                          <a:solidFill>
                            <a:srgbClr val="000000"/>
                          </a:solidFill>
                          <a:latin typeface="Arial"/>
                          <a:ea typeface="Times New Roman"/>
                          <a:cs typeface="David"/>
                        </a:rPr>
                        <a:t>מדידה לוויינית</a:t>
                      </a:r>
                      <a:endParaRPr lang="en-US" sz="1800" dirty="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a:solidFill>
                            <a:srgbClr val="000000"/>
                          </a:solidFill>
                          <a:latin typeface="Times New Roman"/>
                          <a:ea typeface="Times New Roman"/>
                          <a:cs typeface="David"/>
                        </a:rPr>
                        <a:t>15</a:t>
                      </a:r>
                      <a:endParaRPr lang="en-US" sz="180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a:solidFill>
                            <a:srgbClr val="000000"/>
                          </a:solidFill>
                          <a:latin typeface="Times New Roman"/>
                          <a:ea typeface="Times New Roman"/>
                          <a:cs typeface="David"/>
                        </a:rPr>
                        <a:t>20</a:t>
                      </a:r>
                      <a:endParaRPr lang="en-US" sz="180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863">
                <a:tc>
                  <a:txBody>
                    <a:bodyPr/>
                    <a:lstStyle/>
                    <a:p>
                      <a:pPr algn="ctr" rtl="1">
                        <a:lnSpc>
                          <a:spcPct val="150000"/>
                        </a:lnSpc>
                        <a:spcAft>
                          <a:spcPts val="0"/>
                        </a:spcAft>
                      </a:pPr>
                      <a:r>
                        <a:rPr lang="en-US" sz="1800">
                          <a:solidFill>
                            <a:srgbClr val="000000"/>
                          </a:solidFill>
                          <a:latin typeface="Times New Roman"/>
                          <a:ea typeface="Times New Roman"/>
                          <a:cs typeface="David"/>
                        </a:rPr>
                        <a:t>S1</a:t>
                      </a:r>
                      <a:endParaRPr lang="en-US" sz="180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rtl="1">
                        <a:lnSpc>
                          <a:spcPct val="150000"/>
                        </a:lnSpc>
                        <a:spcAft>
                          <a:spcPts val="0"/>
                        </a:spcAft>
                      </a:pPr>
                      <a:r>
                        <a:rPr lang="he-IL" sz="1800">
                          <a:solidFill>
                            <a:srgbClr val="000000"/>
                          </a:solidFill>
                          <a:latin typeface="Times New Roman"/>
                          <a:ea typeface="Times New Roman"/>
                          <a:cs typeface="David"/>
                        </a:rPr>
                        <a:t>-</a:t>
                      </a:r>
                      <a:endParaRPr lang="en-US" sz="180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rtl="1"/>
                      <a:endParaRPr lang="he-IL"/>
                    </a:p>
                  </a:txBody>
                  <a:tcPr/>
                </a:tc>
                <a:tc>
                  <a:txBody>
                    <a:bodyPr/>
                    <a:lstStyle/>
                    <a:p>
                      <a:pPr algn="ctr" rtl="1">
                        <a:lnSpc>
                          <a:spcPct val="150000"/>
                        </a:lnSpc>
                        <a:spcAft>
                          <a:spcPts val="0"/>
                        </a:spcAft>
                      </a:pPr>
                      <a:r>
                        <a:rPr lang="he-IL" sz="1800">
                          <a:solidFill>
                            <a:srgbClr val="000000"/>
                          </a:solidFill>
                          <a:latin typeface="Arial"/>
                          <a:ea typeface="Times New Roman"/>
                          <a:cs typeface="David"/>
                        </a:rPr>
                        <a:t>מדידה לוויינית</a:t>
                      </a:r>
                      <a:endParaRPr lang="en-US" sz="180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dirty="0">
                          <a:solidFill>
                            <a:srgbClr val="000000"/>
                          </a:solidFill>
                          <a:latin typeface="Times New Roman"/>
                          <a:ea typeface="Times New Roman"/>
                          <a:cs typeface="David"/>
                        </a:rPr>
                        <a:t>25</a:t>
                      </a:r>
                      <a:endParaRPr lang="en-US" sz="1800" dirty="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a:solidFill>
                            <a:srgbClr val="000000"/>
                          </a:solidFill>
                          <a:latin typeface="Times New Roman"/>
                          <a:ea typeface="Times New Roman"/>
                          <a:cs typeface="David"/>
                        </a:rPr>
                        <a:t>60</a:t>
                      </a:r>
                      <a:endParaRPr lang="en-US" sz="180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16588">
                <a:tc>
                  <a:txBody>
                    <a:bodyPr/>
                    <a:lstStyle/>
                    <a:p>
                      <a:pPr algn="ctr" rtl="1">
                        <a:lnSpc>
                          <a:spcPct val="150000"/>
                        </a:lnSpc>
                        <a:spcAft>
                          <a:spcPts val="0"/>
                        </a:spcAft>
                      </a:pPr>
                      <a:r>
                        <a:rPr lang="en-US" sz="1800">
                          <a:solidFill>
                            <a:srgbClr val="000000"/>
                          </a:solidFill>
                          <a:latin typeface="Times New Roman"/>
                          <a:ea typeface="Times New Roman"/>
                          <a:cs typeface="David"/>
                        </a:rPr>
                        <a:t>S2</a:t>
                      </a:r>
                      <a:endParaRPr lang="en-US" sz="180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rtl="1">
                        <a:lnSpc>
                          <a:spcPct val="150000"/>
                        </a:lnSpc>
                        <a:spcAft>
                          <a:spcPts val="0"/>
                        </a:spcAft>
                      </a:pPr>
                      <a:r>
                        <a:rPr lang="he-IL" sz="1800">
                          <a:solidFill>
                            <a:srgbClr val="000000"/>
                          </a:solidFill>
                          <a:latin typeface="Times New Roman"/>
                          <a:ea typeface="Times New Roman"/>
                          <a:cs typeface="David"/>
                        </a:rPr>
                        <a:t>-</a:t>
                      </a:r>
                      <a:endParaRPr lang="en-US" sz="180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rtl="1"/>
                      <a:endParaRPr lang="he-IL"/>
                    </a:p>
                  </a:txBody>
                  <a:tcPr/>
                </a:tc>
                <a:tc>
                  <a:txBody>
                    <a:bodyPr/>
                    <a:lstStyle/>
                    <a:p>
                      <a:pPr algn="ctr" rtl="1">
                        <a:lnSpc>
                          <a:spcPct val="150000"/>
                        </a:lnSpc>
                        <a:spcAft>
                          <a:spcPts val="0"/>
                        </a:spcAft>
                      </a:pPr>
                      <a:r>
                        <a:rPr lang="he-IL" sz="1800" dirty="0">
                          <a:solidFill>
                            <a:srgbClr val="000000"/>
                          </a:solidFill>
                          <a:latin typeface="Arial"/>
                          <a:ea typeface="Times New Roman"/>
                          <a:cs typeface="David"/>
                        </a:rPr>
                        <a:t>מדידה לוויינית</a:t>
                      </a:r>
                      <a:r>
                        <a:rPr lang="he-IL" sz="1800" dirty="0">
                          <a:solidFill>
                            <a:srgbClr val="000000"/>
                          </a:solidFill>
                          <a:latin typeface="Times New Roman"/>
                          <a:ea typeface="Times New Roman"/>
                          <a:cs typeface="David"/>
                        </a:rPr>
                        <a:t> ו\או מדידת </a:t>
                      </a:r>
                      <a:r>
                        <a:rPr lang="he-IL" sz="1800" dirty="0" smtClean="0">
                          <a:solidFill>
                            <a:srgbClr val="000000"/>
                          </a:solidFill>
                          <a:latin typeface="Times New Roman"/>
                          <a:ea typeface="Times New Roman"/>
                          <a:cs typeface="David"/>
                        </a:rPr>
                        <a:t> קוטבית</a:t>
                      </a:r>
                      <a:endParaRPr lang="en-US" sz="1800" dirty="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dirty="0">
                          <a:solidFill>
                            <a:srgbClr val="000000"/>
                          </a:solidFill>
                          <a:latin typeface="Times New Roman"/>
                          <a:ea typeface="Times New Roman"/>
                          <a:cs typeface="David"/>
                        </a:rPr>
                        <a:t>35</a:t>
                      </a:r>
                      <a:endParaRPr lang="en-US" sz="1800" dirty="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dirty="0">
                          <a:solidFill>
                            <a:srgbClr val="000000"/>
                          </a:solidFill>
                          <a:latin typeface="Times New Roman"/>
                          <a:ea typeface="Times New Roman"/>
                          <a:cs typeface="David"/>
                        </a:rPr>
                        <a:t>אין</a:t>
                      </a:r>
                      <a:endParaRPr lang="en-US" sz="1800" dirty="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16588">
                <a:tc>
                  <a:txBody>
                    <a:bodyPr/>
                    <a:lstStyle/>
                    <a:p>
                      <a:pPr algn="ctr" rtl="1">
                        <a:lnSpc>
                          <a:spcPct val="150000"/>
                        </a:lnSpc>
                        <a:spcAft>
                          <a:spcPts val="0"/>
                        </a:spcAft>
                      </a:pPr>
                      <a:r>
                        <a:rPr lang="he-IL" sz="1800">
                          <a:solidFill>
                            <a:srgbClr val="000000"/>
                          </a:solidFill>
                          <a:latin typeface="Times New Roman"/>
                          <a:ea typeface="Times New Roman"/>
                          <a:cs typeface="David"/>
                        </a:rPr>
                        <a:t>3</a:t>
                      </a:r>
                      <a:r>
                        <a:rPr lang="en-US" sz="1800">
                          <a:solidFill>
                            <a:srgbClr val="000000"/>
                          </a:solidFill>
                          <a:latin typeface="Times New Roman"/>
                          <a:ea typeface="Times New Roman"/>
                          <a:cs typeface="David"/>
                        </a:rPr>
                        <a:t>S</a:t>
                      </a:r>
                      <a:endParaRPr lang="en-US" sz="180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rtl="1">
                        <a:lnSpc>
                          <a:spcPct val="150000"/>
                        </a:lnSpc>
                        <a:spcAft>
                          <a:spcPts val="0"/>
                        </a:spcAft>
                      </a:pPr>
                      <a:r>
                        <a:rPr lang="he-IL" sz="1800">
                          <a:solidFill>
                            <a:srgbClr val="000000"/>
                          </a:solidFill>
                          <a:latin typeface="Times New Roman"/>
                          <a:ea typeface="Times New Roman"/>
                          <a:cs typeface="David"/>
                        </a:rPr>
                        <a:t>מדידת פרטים שלא משמשים לשחזור גבולות</a:t>
                      </a:r>
                      <a:endParaRPr lang="en-US" sz="180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rtl="1"/>
                      <a:endParaRPr lang="he-IL"/>
                    </a:p>
                  </a:txBody>
                  <a:tcPr/>
                </a:tc>
                <a:tc>
                  <a:txBody>
                    <a:bodyPr/>
                    <a:lstStyle/>
                    <a:p>
                      <a:pPr algn="ctr" rtl="1">
                        <a:lnSpc>
                          <a:spcPct val="150000"/>
                        </a:lnSpc>
                        <a:spcAft>
                          <a:spcPts val="0"/>
                        </a:spcAft>
                      </a:pPr>
                      <a:r>
                        <a:rPr lang="he-IL" sz="1800" dirty="0">
                          <a:solidFill>
                            <a:srgbClr val="000000"/>
                          </a:solidFill>
                          <a:latin typeface="Arial"/>
                          <a:ea typeface="Times New Roman"/>
                          <a:cs typeface="David"/>
                        </a:rPr>
                        <a:t>מדידה לוויינית</a:t>
                      </a:r>
                      <a:r>
                        <a:rPr lang="he-IL" sz="1800" dirty="0">
                          <a:solidFill>
                            <a:srgbClr val="000000"/>
                          </a:solidFill>
                          <a:latin typeface="Times New Roman"/>
                          <a:ea typeface="Times New Roman"/>
                          <a:cs typeface="David"/>
                        </a:rPr>
                        <a:t> ו\או מדידת </a:t>
                      </a:r>
                      <a:r>
                        <a:rPr lang="he-IL" sz="1800" dirty="0" smtClean="0">
                          <a:solidFill>
                            <a:srgbClr val="000000"/>
                          </a:solidFill>
                          <a:latin typeface="Times New Roman"/>
                          <a:ea typeface="Times New Roman"/>
                          <a:cs typeface="David"/>
                        </a:rPr>
                        <a:t>קוטבית</a:t>
                      </a:r>
                      <a:endParaRPr lang="en-US" sz="1800" dirty="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a:solidFill>
                            <a:srgbClr val="000000"/>
                          </a:solidFill>
                          <a:latin typeface="Times New Roman"/>
                          <a:ea typeface="Times New Roman"/>
                          <a:cs typeface="David"/>
                        </a:rPr>
                        <a:t>50</a:t>
                      </a:r>
                      <a:endParaRPr lang="en-US" sz="180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dirty="0">
                          <a:solidFill>
                            <a:srgbClr val="000000"/>
                          </a:solidFill>
                          <a:latin typeface="Times New Roman"/>
                          <a:ea typeface="Times New Roman"/>
                          <a:cs typeface="David"/>
                        </a:rPr>
                        <a:t>אין</a:t>
                      </a:r>
                      <a:endParaRPr lang="en-US" sz="1800" dirty="0">
                        <a:latin typeface="Times New Roman"/>
                        <a:ea typeface="Times New Roman"/>
                        <a:cs typeface="Arial"/>
                      </a:endParaRPr>
                    </a:p>
                  </a:txBody>
                  <a:tcPr marL="42358" marR="423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7078">
                <a:tc gridSpan="2">
                  <a:txBody>
                    <a:bodyPr/>
                    <a:lstStyle/>
                    <a:p>
                      <a:pPr algn="r" rtl="1">
                        <a:lnSpc>
                          <a:spcPct val="115000"/>
                        </a:lnSpc>
                        <a:spcAft>
                          <a:spcPts val="0"/>
                        </a:spcAft>
                      </a:pPr>
                      <a:r>
                        <a:rPr lang="en-US" sz="700">
                          <a:solidFill>
                            <a:srgbClr val="000000"/>
                          </a:solidFill>
                          <a:latin typeface="Times New Roman"/>
                          <a:ea typeface="Times New Roman"/>
                          <a:cs typeface="David"/>
                        </a:rPr>
                        <a:t>**</a:t>
                      </a:r>
                      <a:endParaRPr lang="en-US" sz="700">
                        <a:latin typeface="Times New Roman"/>
                        <a:ea typeface="Times New Roman"/>
                        <a:cs typeface="Arial"/>
                      </a:endParaRPr>
                    </a:p>
                  </a:txBody>
                  <a:tcPr marL="42358" marR="42358" marT="0" marB="0" anchor="ctr">
                    <a:lnL>
                      <a:noFill/>
                    </a:lnL>
                    <a:lnR>
                      <a:noFill/>
                    </a:lnR>
                    <a:lnT w="12700" cap="flat" cmpd="sng" algn="ctr">
                      <a:solidFill>
                        <a:srgbClr val="000000"/>
                      </a:solidFill>
                      <a:prstDash val="solid"/>
                      <a:round/>
                      <a:headEnd type="none" w="med" len="med"/>
                      <a:tailEnd type="none" w="med" len="med"/>
                    </a:lnT>
                    <a:lnB>
                      <a:noFill/>
                    </a:lnB>
                  </a:tcPr>
                </a:tc>
                <a:tc hMerge="1">
                  <a:txBody>
                    <a:bodyPr/>
                    <a:lstStyle/>
                    <a:p>
                      <a:pPr rtl="1"/>
                      <a:endParaRPr lang="he-IL"/>
                    </a:p>
                  </a:txBody>
                  <a:tcPr/>
                </a:tc>
                <a:tc gridSpan="4">
                  <a:txBody>
                    <a:bodyPr/>
                    <a:lstStyle/>
                    <a:p>
                      <a:pPr algn="r" rtl="1">
                        <a:lnSpc>
                          <a:spcPct val="115000"/>
                        </a:lnSpc>
                        <a:spcAft>
                          <a:spcPts val="0"/>
                        </a:spcAft>
                      </a:pPr>
                      <a:r>
                        <a:rPr lang="he-IL" sz="700" dirty="0">
                          <a:latin typeface="Calibri"/>
                          <a:ea typeface="Times New Roman"/>
                          <a:cs typeface="David"/>
                        </a:rPr>
                        <a:t>רשאי מודד לבצע מדידה ברמת דיוק </a:t>
                      </a:r>
                      <a:r>
                        <a:rPr lang="en-US" sz="700" dirty="0">
                          <a:solidFill>
                            <a:srgbClr val="000000"/>
                          </a:solidFill>
                          <a:latin typeface="Times New Roman"/>
                          <a:ea typeface="Times New Roman"/>
                          <a:cs typeface="David"/>
                        </a:rPr>
                        <a:t>S0</a:t>
                      </a:r>
                      <a:r>
                        <a:rPr lang="en-US" sz="700" dirty="0">
                          <a:latin typeface="David"/>
                          <a:ea typeface="Times New Roman"/>
                          <a:cs typeface="Arial"/>
                        </a:rPr>
                        <a:t> </a:t>
                      </a:r>
                      <a:r>
                        <a:rPr lang="he-IL" sz="700" dirty="0">
                          <a:latin typeface="David"/>
                          <a:ea typeface="Times New Roman"/>
                          <a:cs typeface="Arial"/>
                        </a:rPr>
                        <a:t>שלא במסגרת רשת של תחנות קבע פרטיות</a:t>
                      </a:r>
                      <a:endParaRPr lang="en-US" sz="700" dirty="0">
                        <a:latin typeface="Times New Roman"/>
                        <a:ea typeface="Times New Roman"/>
                        <a:cs typeface="Arial"/>
                      </a:endParaRPr>
                    </a:p>
                  </a:txBody>
                  <a:tcPr marL="42358" marR="42358" marT="0" marB="0" anchor="ctr">
                    <a:lnL>
                      <a:noFill/>
                    </a:lnL>
                    <a:lnT w="12700" cap="flat" cmpd="sng" algn="ctr">
                      <a:solidFill>
                        <a:srgbClr val="000000"/>
                      </a:solidFill>
                      <a:prstDash val="solid"/>
                      <a:round/>
                      <a:headEnd type="none" w="med" len="med"/>
                      <a:tailEnd type="none" w="med" len="med"/>
                    </a:lnT>
                    <a:lnB>
                      <a:noFill/>
                    </a:lnB>
                  </a:tcP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tr>
            </a:tbl>
          </a:graphicData>
        </a:graphic>
      </p:graphicFrame>
    </p:spTree>
    <p:extLst>
      <p:ext uri="{BB962C8B-B14F-4D97-AF65-F5344CB8AC3E}">
        <p14:creationId xmlns:p14="http://schemas.microsoft.com/office/powerpoint/2010/main" xmlns="" val="38690811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מציין מיקום של תאריך 3"/>
          <p:cNvSpPr>
            <a:spLocks noGrp="1"/>
          </p:cNvSpPr>
          <p:nvPr>
            <p:ph type="dt" sz="half" idx="10"/>
          </p:nvPr>
        </p:nvSpPr>
        <p:spPr/>
        <p:txBody>
          <a:bodyPr/>
          <a:lstStyle/>
          <a:p>
            <a:r>
              <a:rPr lang="en-US"/>
              <a:t>SURE230 January 2006</a:t>
            </a:r>
          </a:p>
        </p:txBody>
      </p:sp>
      <p:sp>
        <p:nvSpPr>
          <p:cNvPr id="9" name="מציין מיקום של כותרת תחתונה 4"/>
          <p:cNvSpPr>
            <a:spLocks noGrp="1"/>
          </p:cNvSpPr>
          <p:nvPr>
            <p:ph type="ftr" sz="quarter" idx="11"/>
          </p:nvPr>
        </p:nvSpPr>
        <p:spPr/>
        <p:txBody>
          <a:bodyPr/>
          <a:lstStyle/>
          <a:p>
            <a:r>
              <a:rPr lang="en-US"/>
              <a:t>Department of Surveying Engineering</a:t>
            </a:r>
          </a:p>
        </p:txBody>
      </p:sp>
      <p:sp>
        <p:nvSpPr>
          <p:cNvPr id="172034" name="Rectangle 2"/>
          <p:cNvSpPr>
            <a:spLocks noGrp="1" noChangeArrowheads="1"/>
          </p:cNvSpPr>
          <p:nvPr>
            <p:ph type="title"/>
          </p:nvPr>
        </p:nvSpPr>
        <p:spPr>
          <a:ln/>
        </p:spPr>
        <p:txBody>
          <a:bodyPr/>
          <a:lstStyle/>
          <a:p>
            <a:r>
              <a:rPr lang="he-IL" sz="3200" b="1" dirty="0" smtClean="0"/>
              <a:t>רשת הבקרה </a:t>
            </a:r>
            <a:r>
              <a:rPr lang="he-IL" sz="3200" b="1" dirty="0" smtClean="0"/>
              <a:t>האנכית</a:t>
            </a:r>
            <a:endParaRPr lang="en-US" sz="3200" dirty="0"/>
          </a:p>
        </p:txBody>
      </p:sp>
      <p:sp>
        <p:nvSpPr>
          <p:cNvPr id="172035" name="Rectangle 3"/>
          <p:cNvSpPr>
            <a:spLocks noGrp="1" noChangeArrowheads="1"/>
          </p:cNvSpPr>
          <p:nvPr>
            <p:ph type="body" idx="1"/>
          </p:nvPr>
        </p:nvSpPr>
        <p:spPr bwMode="auto">
          <a:xfrm>
            <a:off x="609600" y="1371600"/>
            <a:ext cx="7924800" cy="4876800"/>
          </a:xfrm>
          <a:noFill/>
          <a:ln>
            <a:miter lim="800000"/>
            <a:headEnd/>
            <a:tailEnd/>
          </a:ln>
        </p:spPr>
        <p:txBody>
          <a:bodyPr vert="horz" wrap="square" lIns="91440" tIns="45720" rIns="91440" bIns="45720" numCol="1" anchor="t" anchorCtr="0" compatLnSpc="1">
            <a:prstTxWarp prst="textNoShape">
              <a:avLst/>
            </a:prstTxWarp>
          </a:bodyPr>
          <a:lstStyle/>
          <a:p>
            <a:pPr>
              <a:buFontTx/>
              <a:buNone/>
            </a:pPr>
            <a:endParaRPr lang="en-US" sz="2000"/>
          </a:p>
          <a:p>
            <a:pPr>
              <a:buFontTx/>
              <a:buNone/>
            </a:pPr>
            <a:endParaRPr lang="en-US" sz="2000"/>
          </a:p>
        </p:txBody>
      </p:sp>
      <p:sp>
        <p:nvSpPr>
          <p:cNvPr id="172036" name="Rectangle 4"/>
          <p:cNvSpPr>
            <a:spLocks noChangeArrowheads="1"/>
          </p:cNvSpPr>
          <p:nvPr/>
        </p:nvSpPr>
        <p:spPr bwMode="auto">
          <a:xfrm>
            <a:off x="304800" y="1295400"/>
            <a:ext cx="8382000" cy="5105400"/>
          </a:xfrm>
          <a:prstGeom prst="rect">
            <a:avLst/>
          </a:prstGeom>
          <a:noFill/>
          <a:ln w="9525">
            <a:noFill/>
            <a:miter lim="800000"/>
            <a:headEnd/>
            <a:tailEnd/>
          </a:ln>
          <a:effectLst/>
        </p:spPr>
        <p:txBody>
          <a:bodyPr/>
          <a:lstStyle/>
          <a:p>
            <a:pPr marL="342900" indent="-342900">
              <a:buFontTx/>
              <a:buNone/>
            </a:pPr>
            <a:endParaRPr lang="he-IL" sz="2000"/>
          </a:p>
        </p:txBody>
      </p:sp>
      <p:sp>
        <p:nvSpPr>
          <p:cNvPr id="172037" name="Rectangle 5"/>
          <p:cNvSpPr>
            <a:spLocks noChangeArrowheads="1"/>
          </p:cNvSpPr>
          <p:nvPr/>
        </p:nvSpPr>
        <p:spPr bwMode="auto">
          <a:xfrm>
            <a:off x="381000" y="1295400"/>
            <a:ext cx="8153400" cy="4876800"/>
          </a:xfrm>
          <a:prstGeom prst="rect">
            <a:avLst/>
          </a:prstGeom>
          <a:noFill/>
          <a:ln w="9525">
            <a:noFill/>
            <a:miter lim="800000"/>
            <a:headEnd/>
            <a:tailEnd/>
          </a:ln>
          <a:effectLst/>
        </p:spPr>
        <p:txBody>
          <a:bodyPr/>
          <a:lstStyle/>
          <a:p>
            <a:pPr marL="342900" indent="-342900">
              <a:buFontTx/>
              <a:buNone/>
            </a:pPr>
            <a:endParaRPr lang="he-IL" sz="2400"/>
          </a:p>
        </p:txBody>
      </p:sp>
      <p:sp>
        <p:nvSpPr>
          <p:cNvPr id="172038" name="Rectangle 6"/>
          <p:cNvSpPr>
            <a:spLocks noChangeArrowheads="1"/>
          </p:cNvSpPr>
          <p:nvPr/>
        </p:nvSpPr>
        <p:spPr bwMode="auto">
          <a:xfrm>
            <a:off x="533400" y="1447800"/>
            <a:ext cx="8153400" cy="4876800"/>
          </a:xfrm>
          <a:prstGeom prst="rect">
            <a:avLst/>
          </a:prstGeom>
          <a:noFill/>
          <a:ln w="9525">
            <a:noFill/>
            <a:miter lim="800000"/>
            <a:headEnd/>
            <a:tailEnd/>
          </a:ln>
          <a:effectLst/>
        </p:spPr>
        <p:txBody>
          <a:bodyPr/>
          <a:lstStyle/>
          <a:p>
            <a:pPr marL="342900" indent="-342900">
              <a:buFontTx/>
              <a:buNone/>
            </a:pPr>
            <a:endParaRPr lang="he-IL" sz="2400" i="1"/>
          </a:p>
        </p:txBody>
      </p:sp>
      <p:pic>
        <p:nvPicPr>
          <p:cNvPr id="172039" name="Picture 7" descr="18"/>
          <p:cNvPicPr>
            <a:picLocks noChangeAspect="1" noChangeArrowheads="1"/>
          </p:cNvPicPr>
          <p:nvPr/>
        </p:nvPicPr>
        <p:blipFill>
          <a:blip r:embed="rId2" cstate="print"/>
          <a:srcRect/>
          <a:stretch>
            <a:fillRect/>
          </a:stretch>
        </p:blipFill>
        <p:spPr bwMode="auto">
          <a:xfrm>
            <a:off x="304800" y="1143000"/>
            <a:ext cx="8382000" cy="5595938"/>
          </a:xfrm>
          <a:prstGeom prst="rect">
            <a:avLst/>
          </a:prstGeom>
          <a:noFill/>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לבן 2"/>
          <p:cNvSpPr/>
          <p:nvPr/>
        </p:nvSpPr>
        <p:spPr>
          <a:xfrm>
            <a:off x="1142976" y="571480"/>
            <a:ext cx="7143800" cy="954107"/>
          </a:xfrm>
          <a:prstGeom prst="rect">
            <a:avLst/>
          </a:prstGeom>
        </p:spPr>
        <p:txBody>
          <a:bodyPr wrap="square">
            <a:spAutoFit/>
          </a:bodyPr>
          <a:lstStyle/>
          <a:p>
            <a:pPr algn="ctr"/>
            <a:r>
              <a:rPr lang="he-IL" sz="2800" b="1" dirty="0" smtClean="0"/>
              <a:t>רשת הבקרה האנכי</a:t>
            </a:r>
            <a:r>
              <a:rPr lang="he-IL" sz="2800" b="1" strike="sngStrike" dirty="0" smtClean="0"/>
              <a:t>ו</a:t>
            </a:r>
            <a:r>
              <a:rPr lang="he-IL" sz="2800" b="1" dirty="0" smtClean="0"/>
              <a:t>ת </a:t>
            </a:r>
            <a:r>
              <a:rPr lang="he-IL" sz="2800" b="1" dirty="0" err="1" smtClean="0"/>
              <a:t>אורתומטרי</a:t>
            </a:r>
            <a:r>
              <a:rPr lang="he-IL" sz="2800" b="1" dirty="0" smtClean="0"/>
              <a:t> (רמה </a:t>
            </a:r>
            <a:r>
              <a:rPr lang="en-US" sz="2800" b="1" dirty="0" smtClean="0"/>
              <a:t>H</a:t>
            </a:r>
            <a:r>
              <a:rPr lang="he-IL" sz="2800" b="1" dirty="0" smtClean="0"/>
              <a:t>) שבאחריות המרכז למיפוי ישראל</a:t>
            </a:r>
            <a:endParaRPr lang="en-US" sz="2800" dirty="0"/>
          </a:p>
        </p:txBody>
      </p:sp>
      <p:graphicFrame>
        <p:nvGraphicFramePr>
          <p:cNvPr id="4" name="טבלה 3"/>
          <p:cNvGraphicFramePr>
            <a:graphicFrameLocks noGrp="1"/>
          </p:cNvGraphicFramePr>
          <p:nvPr/>
        </p:nvGraphicFramePr>
        <p:xfrm>
          <a:off x="214282" y="2143116"/>
          <a:ext cx="8786873" cy="3482576"/>
        </p:xfrm>
        <a:graphic>
          <a:graphicData uri="http://schemas.openxmlformats.org/drawingml/2006/table">
            <a:tbl>
              <a:tblPr rtl="1"/>
              <a:tblGrid>
                <a:gridCol w="838984"/>
                <a:gridCol w="3686739"/>
                <a:gridCol w="2335259"/>
                <a:gridCol w="1925891"/>
              </a:tblGrid>
              <a:tr h="1076864">
                <a:tc>
                  <a:txBody>
                    <a:bodyPr/>
                    <a:lstStyle/>
                    <a:p>
                      <a:pPr algn="ctr" rtl="1">
                        <a:lnSpc>
                          <a:spcPct val="150000"/>
                        </a:lnSpc>
                        <a:spcAft>
                          <a:spcPts val="0"/>
                        </a:spcAft>
                      </a:pPr>
                      <a:r>
                        <a:rPr lang="he-IL" sz="2000" b="1" dirty="0" smtClean="0">
                          <a:solidFill>
                            <a:srgbClr val="000000"/>
                          </a:solidFill>
                          <a:latin typeface="Times New Roman"/>
                          <a:ea typeface="Times New Roman"/>
                          <a:cs typeface="David"/>
                        </a:rPr>
                        <a:t>דרגה</a:t>
                      </a:r>
                      <a:endParaRPr lang="en-US" sz="2000" dirty="0">
                        <a:latin typeface="Times New Roman"/>
                        <a:ea typeface="Times New Roman"/>
                        <a:cs typeface="Arial"/>
                      </a:endParaRPr>
                    </a:p>
                  </a:txBody>
                  <a:tcPr marL="67304" marR="673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2000" b="1" dirty="0" smtClean="0">
                          <a:solidFill>
                            <a:srgbClr val="000000"/>
                          </a:solidFill>
                          <a:latin typeface="Times New Roman"/>
                          <a:ea typeface="Times New Roman"/>
                          <a:cs typeface="David"/>
                        </a:rPr>
                        <a:t>שיטת </a:t>
                      </a:r>
                      <a:r>
                        <a:rPr lang="he-IL" sz="2000" b="1" dirty="0">
                          <a:solidFill>
                            <a:srgbClr val="000000"/>
                          </a:solidFill>
                          <a:latin typeface="Times New Roman"/>
                          <a:ea typeface="Times New Roman"/>
                          <a:cs typeface="David"/>
                        </a:rPr>
                        <a:t>המדידה</a:t>
                      </a:r>
                      <a:endParaRPr lang="en-US" sz="2000" dirty="0">
                        <a:latin typeface="Times New Roman"/>
                        <a:ea typeface="Times New Roman"/>
                        <a:cs typeface="Arial"/>
                      </a:endParaRPr>
                    </a:p>
                  </a:txBody>
                  <a:tcPr marL="67304" marR="673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2000" b="1" dirty="0" smtClean="0">
                          <a:solidFill>
                            <a:srgbClr val="000000"/>
                          </a:solidFill>
                          <a:latin typeface="Times New Roman"/>
                          <a:ea typeface="Times New Roman"/>
                          <a:cs typeface="David"/>
                        </a:rPr>
                        <a:t>מרחק </a:t>
                      </a:r>
                      <a:r>
                        <a:rPr lang="he-IL" sz="2000" b="1" dirty="0">
                          <a:solidFill>
                            <a:srgbClr val="000000"/>
                          </a:solidFill>
                          <a:latin typeface="Times New Roman"/>
                          <a:ea typeface="Times New Roman"/>
                          <a:cs typeface="David"/>
                        </a:rPr>
                        <a:t>מרבי מצטבר של מהלך האיזון</a:t>
                      </a:r>
                      <a:endParaRPr lang="en-US" sz="2000" dirty="0">
                        <a:latin typeface="Times New Roman"/>
                        <a:ea typeface="Times New Roman"/>
                        <a:cs typeface="Arial"/>
                      </a:endParaRPr>
                    </a:p>
                    <a:p>
                      <a:pPr algn="ctr" rtl="1">
                        <a:lnSpc>
                          <a:spcPct val="150000"/>
                        </a:lnSpc>
                        <a:spcAft>
                          <a:spcPts val="0"/>
                        </a:spcAft>
                      </a:pPr>
                      <a:r>
                        <a:rPr lang="en-US" sz="2000" b="1" dirty="0">
                          <a:solidFill>
                            <a:srgbClr val="000000"/>
                          </a:solidFill>
                          <a:latin typeface="Times New Roman"/>
                          <a:ea typeface="Times New Roman"/>
                          <a:cs typeface="David"/>
                        </a:rPr>
                        <a:t>(L)</a:t>
                      </a:r>
                      <a:r>
                        <a:rPr lang="he-IL" sz="2000" b="1" dirty="0">
                          <a:solidFill>
                            <a:srgbClr val="000000"/>
                          </a:solidFill>
                          <a:latin typeface="Times New Roman"/>
                          <a:ea typeface="Times New Roman"/>
                          <a:cs typeface="David"/>
                        </a:rPr>
                        <a:t> בקילומטרים</a:t>
                      </a:r>
                      <a:endParaRPr lang="en-US" sz="2000" dirty="0">
                        <a:latin typeface="Times New Roman"/>
                        <a:ea typeface="Times New Roman"/>
                        <a:cs typeface="Arial"/>
                      </a:endParaRPr>
                    </a:p>
                  </a:txBody>
                  <a:tcPr marL="67304" marR="673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2000" b="1" dirty="0" smtClean="0">
                          <a:solidFill>
                            <a:srgbClr val="000000"/>
                          </a:solidFill>
                          <a:latin typeface="Times New Roman"/>
                          <a:ea typeface="Times New Roman"/>
                          <a:cs typeface="David"/>
                        </a:rPr>
                        <a:t>שגיאה </a:t>
                      </a:r>
                      <a:r>
                        <a:rPr lang="he-IL" sz="2000" b="1" dirty="0">
                          <a:solidFill>
                            <a:srgbClr val="000000"/>
                          </a:solidFill>
                          <a:latin typeface="Times New Roman"/>
                          <a:ea typeface="Times New Roman"/>
                          <a:cs typeface="David"/>
                        </a:rPr>
                        <a:t>מרבית מותרת  ב-מ"מ של הפרש הגובה </a:t>
                      </a:r>
                      <a:r>
                        <a:rPr lang="en-US" sz="2000" b="1" dirty="0">
                          <a:solidFill>
                            <a:srgbClr val="000000"/>
                          </a:solidFill>
                          <a:latin typeface="Times New Roman"/>
                          <a:ea typeface="Times New Roman"/>
                          <a:cs typeface="David"/>
                        </a:rPr>
                        <a:t>**</a:t>
                      </a:r>
                      <a:endParaRPr lang="en-US" sz="2000" dirty="0">
                        <a:latin typeface="Times New Roman"/>
                        <a:ea typeface="Times New Roman"/>
                        <a:cs typeface="Arial"/>
                      </a:endParaRPr>
                    </a:p>
                  </a:txBody>
                  <a:tcPr marL="67304" marR="673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9708">
                <a:tc>
                  <a:txBody>
                    <a:bodyPr/>
                    <a:lstStyle/>
                    <a:p>
                      <a:pPr algn="ctr" rtl="1">
                        <a:lnSpc>
                          <a:spcPct val="150000"/>
                        </a:lnSpc>
                        <a:spcAft>
                          <a:spcPts val="0"/>
                        </a:spcAft>
                      </a:pPr>
                      <a:r>
                        <a:rPr lang="en-US" sz="2000">
                          <a:solidFill>
                            <a:srgbClr val="000000"/>
                          </a:solidFill>
                          <a:latin typeface="Times New Roman"/>
                          <a:ea typeface="Times New Roman"/>
                          <a:cs typeface="David"/>
                        </a:rPr>
                        <a:t>H1*</a:t>
                      </a:r>
                      <a:endParaRPr lang="en-US" sz="2000">
                        <a:latin typeface="Times New Roman"/>
                        <a:ea typeface="Times New Roman"/>
                        <a:cs typeface="Arial"/>
                      </a:endParaRPr>
                    </a:p>
                  </a:txBody>
                  <a:tcPr marL="67304" marR="6730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rtl="1">
                        <a:lnSpc>
                          <a:spcPct val="150000"/>
                        </a:lnSpc>
                        <a:spcAft>
                          <a:spcPts val="0"/>
                        </a:spcAft>
                      </a:pPr>
                      <a:r>
                        <a:rPr lang="he-IL" sz="2000" dirty="0">
                          <a:solidFill>
                            <a:srgbClr val="000000"/>
                          </a:solidFill>
                          <a:latin typeface="Times New Roman"/>
                          <a:ea typeface="Times New Roman"/>
                          <a:cs typeface="David"/>
                        </a:rPr>
                        <a:t>איזון </a:t>
                      </a:r>
                      <a:r>
                        <a:rPr lang="he-IL" sz="2000" dirty="0" err="1">
                          <a:solidFill>
                            <a:srgbClr val="000000"/>
                          </a:solidFill>
                          <a:latin typeface="Times New Roman"/>
                          <a:ea typeface="Times New Roman"/>
                          <a:cs typeface="David"/>
                        </a:rPr>
                        <a:t>גאומטרי</a:t>
                      </a:r>
                      <a:r>
                        <a:rPr lang="he-IL" sz="2000" dirty="0">
                          <a:solidFill>
                            <a:srgbClr val="000000"/>
                          </a:solidFill>
                          <a:latin typeface="Times New Roman"/>
                          <a:ea typeface="Times New Roman"/>
                          <a:cs typeface="David"/>
                        </a:rPr>
                        <a:t> ו\או טריגונומטרי </a:t>
                      </a:r>
                      <a:endParaRPr lang="en-US" sz="2000" dirty="0">
                        <a:latin typeface="Times New Roman"/>
                        <a:ea typeface="Times New Roman"/>
                        <a:cs typeface="Arial"/>
                      </a:endParaRPr>
                    </a:p>
                  </a:txBody>
                  <a:tcPr marL="67304" marR="6730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2000">
                          <a:solidFill>
                            <a:srgbClr val="000000"/>
                          </a:solidFill>
                          <a:latin typeface="Times New Roman"/>
                          <a:ea typeface="Times New Roman"/>
                          <a:cs typeface="David"/>
                        </a:rPr>
                        <a:t>אין</a:t>
                      </a:r>
                      <a:endParaRPr lang="en-US" sz="2000">
                        <a:latin typeface="Times New Roman"/>
                        <a:ea typeface="Times New Roman"/>
                        <a:cs typeface="Arial"/>
                      </a:endParaRPr>
                    </a:p>
                  </a:txBody>
                  <a:tcPr marL="67304" marR="6730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en-US" sz="2000" dirty="0">
                          <a:solidFill>
                            <a:srgbClr val="000000"/>
                          </a:solidFill>
                          <a:latin typeface="Times New Roman"/>
                          <a:ea typeface="Times New Roman"/>
                          <a:cs typeface="David"/>
                        </a:rPr>
                        <a:t>2*√L</a:t>
                      </a:r>
                      <a:endParaRPr lang="en-US" sz="2000" dirty="0">
                        <a:latin typeface="Times New Roman"/>
                        <a:ea typeface="Times New Roman"/>
                        <a:cs typeface="Arial"/>
                      </a:endParaRPr>
                    </a:p>
                  </a:txBody>
                  <a:tcPr marL="67304" marR="6730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9708">
                <a:tc>
                  <a:txBody>
                    <a:bodyPr/>
                    <a:lstStyle/>
                    <a:p>
                      <a:pPr algn="ctr" rtl="1">
                        <a:lnSpc>
                          <a:spcPct val="150000"/>
                        </a:lnSpc>
                        <a:spcAft>
                          <a:spcPts val="0"/>
                        </a:spcAft>
                      </a:pPr>
                      <a:r>
                        <a:rPr lang="en-US" sz="2000" dirty="0">
                          <a:solidFill>
                            <a:srgbClr val="000000"/>
                          </a:solidFill>
                          <a:latin typeface="Times New Roman"/>
                          <a:ea typeface="Times New Roman"/>
                          <a:cs typeface="David"/>
                        </a:rPr>
                        <a:t>H2*</a:t>
                      </a:r>
                      <a:endParaRPr lang="en-US" sz="2000" dirty="0">
                        <a:latin typeface="Times New Roman"/>
                        <a:ea typeface="Times New Roman"/>
                        <a:cs typeface="Arial"/>
                      </a:endParaRPr>
                    </a:p>
                  </a:txBody>
                  <a:tcPr marL="67304" marR="6730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rtl="1"/>
                      <a:endParaRPr lang="he-IL"/>
                    </a:p>
                  </a:txBody>
                  <a:tcPr/>
                </a:tc>
                <a:tc>
                  <a:txBody>
                    <a:bodyPr/>
                    <a:lstStyle/>
                    <a:p>
                      <a:pPr algn="ctr" rtl="1">
                        <a:lnSpc>
                          <a:spcPct val="150000"/>
                        </a:lnSpc>
                        <a:spcAft>
                          <a:spcPts val="0"/>
                        </a:spcAft>
                      </a:pPr>
                      <a:r>
                        <a:rPr lang="he-IL" sz="2000" dirty="0">
                          <a:solidFill>
                            <a:srgbClr val="000000"/>
                          </a:solidFill>
                          <a:latin typeface="Times New Roman"/>
                          <a:ea typeface="Times New Roman"/>
                          <a:cs typeface="David"/>
                        </a:rPr>
                        <a:t>60</a:t>
                      </a:r>
                      <a:endParaRPr lang="en-US" sz="2000" dirty="0">
                        <a:latin typeface="Times New Roman"/>
                        <a:ea typeface="Times New Roman"/>
                        <a:cs typeface="Arial"/>
                      </a:endParaRPr>
                    </a:p>
                  </a:txBody>
                  <a:tcPr marL="67304" marR="6730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en-US" sz="2000" dirty="0">
                          <a:solidFill>
                            <a:srgbClr val="000000"/>
                          </a:solidFill>
                          <a:latin typeface="Times New Roman"/>
                          <a:ea typeface="Times New Roman"/>
                          <a:cs typeface="David"/>
                        </a:rPr>
                        <a:t>3*√L</a:t>
                      </a:r>
                      <a:endParaRPr lang="en-US" sz="2000" dirty="0">
                        <a:latin typeface="Times New Roman"/>
                        <a:ea typeface="Times New Roman"/>
                        <a:cs typeface="Arial"/>
                      </a:endParaRPr>
                    </a:p>
                  </a:txBody>
                  <a:tcPr marL="67304" marR="6730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5477">
                <a:tc>
                  <a:txBody>
                    <a:bodyPr/>
                    <a:lstStyle/>
                    <a:p>
                      <a:pPr algn="r" rtl="1">
                        <a:lnSpc>
                          <a:spcPct val="115000"/>
                        </a:lnSpc>
                        <a:spcAft>
                          <a:spcPts val="0"/>
                        </a:spcAft>
                      </a:pPr>
                      <a:r>
                        <a:rPr lang="en-US" sz="2000">
                          <a:solidFill>
                            <a:srgbClr val="000000"/>
                          </a:solidFill>
                          <a:latin typeface="Times New Roman"/>
                          <a:ea typeface="Times New Roman"/>
                          <a:cs typeface="David"/>
                        </a:rPr>
                        <a:t>*</a:t>
                      </a:r>
                      <a:endParaRPr lang="en-US" sz="2000">
                        <a:latin typeface="Times New Roman"/>
                        <a:ea typeface="Times New Roman"/>
                        <a:cs typeface="Arial"/>
                      </a:endParaRPr>
                    </a:p>
                  </a:txBody>
                  <a:tcPr marL="67304" marR="67304" marT="0" marB="0" anchor="ctr">
                    <a:lnL>
                      <a:noFill/>
                    </a:lnL>
                    <a:lnR>
                      <a:noFill/>
                    </a:lnR>
                    <a:lnT w="12700" cap="flat" cmpd="sng" algn="ctr">
                      <a:solidFill>
                        <a:srgbClr val="000000"/>
                      </a:solidFill>
                      <a:prstDash val="solid"/>
                      <a:round/>
                      <a:headEnd type="none" w="med" len="med"/>
                      <a:tailEnd type="none" w="med" len="med"/>
                    </a:lnT>
                    <a:lnB>
                      <a:noFill/>
                    </a:lnB>
                  </a:tcPr>
                </a:tc>
                <a:tc gridSpan="3">
                  <a:txBody>
                    <a:bodyPr/>
                    <a:lstStyle/>
                    <a:p>
                      <a:pPr algn="r" rtl="1">
                        <a:lnSpc>
                          <a:spcPct val="115000"/>
                        </a:lnSpc>
                        <a:spcAft>
                          <a:spcPts val="0"/>
                        </a:spcAft>
                      </a:pPr>
                      <a:r>
                        <a:rPr lang="he-IL" sz="2000" dirty="0">
                          <a:latin typeface="Calibri"/>
                          <a:ea typeface="Times New Roman"/>
                          <a:cs typeface="David"/>
                        </a:rPr>
                        <a:t>רשאי מודד לבצע מדידה בדיוקים של דרגות </a:t>
                      </a:r>
                      <a:r>
                        <a:rPr lang="en-US" sz="2000" dirty="0">
                          <a:solidFill>
                            <a:srgbClr val="000000"/>
                          </a:solidFill>
                          <a:latin typeface="Times New Roman"/>
                          <a:ea typeface="Times New Roman"/>
                          <a:cs typeface="David"/>
                        </a:rPr>
                        <a:t>H1</a:t>
                      </a:r>
                      <a:r>
                        <a:rPr lang="en-US" sz="2000" dirty="0">
                          <a:latin typeface="David"/>
                          <a:ea typeface="Times New Roman"/>
                          <a:cs typeface="Arial"/>
                        </a:rPr>
                        <a:t> </a:t>
                      </a:r>
                      <a:r>
                        <a:rPr lang="he-IL" sz="2000" dirty="0">
                          <a:latin typeface="David"/>
                          <a:ea typeface="Times New Roman"/>
                          <a:cs typeface="Arial"/>
                        </a:rPr>
                        <a:t>ו- </a:t>
                      </a:r>
                      <a:r>
                        <a:rPr lang="en-US" sz="2000" dirty="0">
                          <a:solidFill>
                            <a:srgbClr val="000000"/>
                          </a:solidFill>
                          <a:latin typeface="Times New Roman"/>
                          <a:ea typeface="Times New Roman"/>
                          <a:cs typeface="David"/>
                        </a:rPr>
                        <a:t>H2</a:t>
                      </a:r>
                      <a:r>
                        <a:rPr lang="he-IL" sz="2000" dirty="0">
                          <a:latin typeface="Calibri"/>
                          <a:ea typeface="Times New Roman"/>
                          <a:cs typeface="David"/>
                        </a:rPr>
                        <a:t>, אך ערכי הנקודה לא יכללו ברשתות אלה</a:t>
                      </a:r>
                      <a:endParaRPr lang="en-US" sz="2000" dirty="0">
                        <a:latin typeface="Times New Roman"/>
                        <a:ea typeface="Times New Roman"/>
                        <a:cs typeface="Arial"/>
                      </a:endParaRPr>
                    </a:p>
                  </a:txBody>
                  <a:tcPr marL="67304" marR="67304" marT="0" marB="0" anchor="ctr">
                    <a:lnL>
                      <a:noFill/>
                    </a:lnL>
                    <a:lnT w="12700" cap="flat" cmpd="sng" algn="ctr">
                      <a:solidFill>
                        <a:srgbClr val="000000"/>
                      </a:solidFill>
                      <a:prstDash val="solid"/>
                      <a:round/>
                      <a:headEnd type="none" w="med" len="med"/>
                      <a:tailEnd type="none" w="med" len="med"/>
                    </a:lnT>
                    <a:lnB>
                      <a:noFill/>
                    </a:lnB>
                  </a:tcPr>
                </a:tc>
                <a:tc hMerge="1">
                  <a:txBody>
                    <a:bodyPr/>
                    <a:lstStyle/>
                    <a:p>
                      <a:pPr rtl="1"/>
                      <a:endParaRPr lang="he-IL"/>
                    </a:p>
                  </a:txBody>
                  <a:tcPr/>
                </a:tc>
                <a:tc hMerge="1">
                  <a:txBody>
                    <a:bodyPr/>
                    <a:lstStyle/>
                    <a:p>
                      <a:pPr rtl="1"/>
                      <a:endParaRPr lang="he-IL"/>
                    </a:p>
                  </a:txBody>
                  <a:tcPr/>
                </a:tc>
              </a:tr>
              <a:tr h="265477">
                <a:tc>
                  <a:txBody>
                    <a:bodyPr/>
                    <a:lstStyle/>
                    <a:p>
                      <a:pPr algn="r" rtl="1">
                        <a:lnSpc>
                          <a:spcPct val="115000"/>
                        </a:lnSpc>
                        <a:spcAft>
                          <a:spcPts val="0"/>
                        </a:spcAft>
                      </a:pPr>
                      <a:r>
                        <a:rPr lang="en-US" sz="2000">
                          <a:solidFill>
                            <a:srgbClr val="000000"/>
                          </a:solidFill>
                          <a:latin typeface="Times New Roman"/>
                          <a:ea typeface="Times New Roman"/>
                          <a:cs typeface="David"/>
                        </a:rPr>
                        <a:t>**</a:t>
                      </a:r>
                      <a:endParaRPr lang="en-US" sz="2000">
                        <a:latin typeface="Times New Roman"/>
                        <a:ea typeface="Times New Roman"/>
                        <a:cs typeface="Arial"/>
                      </a:endParaRPr>
                    </a:p>
                  </a:txBody>
                  <a:tcPr marL="67304" marR="67304" marT="0" marB="0" anchor="ctr">
                    <a:lnL>
                      <a:noFill/>
                    </a:lnL>
                    <a:lnR>
                      <a:noFill/>
                    </a:lnR>
                    <a:lnT>
                      <a:noFill/>
                    </a:lnT>
                    <a:lnB>
                      <a:noFill/>
                    </a:lnB>
                  </a:tcPr>
                </a:tc>
                <a:tc gridSpan="3">
                  <a:txBody>
                    <a:bodyPr/>
                    <a:lstStyle/>
                    <a:p>
                      <a:pPr algn="r" rtl="1">
                        <a:lnSpc>
                          <a:spcPct val="115000"/>
                        </a:lnSpc>
                        <a:spcAft>
                          <a:spcPts val="0"/>
                        </a:spcAft>
                      </a:pPr>
                      <a:r>
                        <a:rPr lang="he-IL" sz="2000" dirty="0">
                          <a:solidFill>
                            <a:srgbClr val="000000"/>
                          </a:solidFill>
                          <a:latin typeface="Times New Roman"/>
                          <a:ea typeface="Times New Roman"/>
                          <a:cs typeface="David"/>
                        </a:rPr>
                        <a:t>ברמת מובהקות סטטיסטית של 95%  (</a:t>
                      </a:r>
                      <a:r>
                        <a:rPr lang="en-US" sz="2000" dirty="0">
                          <a:solidFill>
                            <a:srgbClr val="000000"/>
                          </a:solidFill>
                          <a:latin typeface="Times New Roman"/>
                          <a:ea typeface="Times New Roman"/>
                          <a:cs typeface="David"/>
                        </a:rPr>
                        <a:t>2</a:t>
                      </a:r>
                      <a:r>
                        <a:rPr lang="en-US" sz="2000" dirty="0">
                          <a:solidFill>
                            <a:srgbClr val="000000"/>
                          </a:solidFill>
                          <a:latin typeface="Times New Roman"/>
                          <a:ea typeface="Times New Roman"/>
                          <a:cs typeface="David"/>
                          <a:sym typeface="Symbol"/>
                        </a:rPr>
                        <a:t></a:t>
                      </a:r>
                      <a:r>
                        <a:rPr lang="he-IL" sz="2000" dirty="0">
                          <a:solidFill>
                            <a:srgbClr val="000000"/>
                          </a:solidFill>
                          <a:latin typeface="Times New Roman"/>
                          <a:ea typeface="Times New Roman"/>
                          <a:cs typeface="David"/>
                        </a:rPr>
                        <a:t>)</a:t>
                      </a:r>
                      <a:endParaRPr lang="en-US" sz="2000" dirty="0">
                        <a:latin typeface="Times New Roman"/>
                        <a:ea typeface="Times New Roman"/>
                        <a:cs typeface="Arial"/>
                      </a:endParaRPr>
                    </a:p>
                  </a:txBody>
                  <a:tcPr marL="67304" marR="67304" marT="0" marB="0" anchor="ctr">
                    <a:lnL>
                      <a:noFill/>
                    </a:lnL>
                    <a:lnT>
                      <a:noFill/>
                    </a:lnT>
                    <a:lnB>
                      <a:noFill/>
                    </a:lnB>
                  </a:tcPr>
                </a:tc>
                <a:tc hMerge="1">
                  <a:txBody>
                    <a:bodyPr/>
                    <a:lstStyle/>
                    <a:p>
                      <a:pPr rtl="1"/>
                      <a:endParaRPr lang="he-IL"/>
                    </a:p>
                  </a:txBody>
                  <a:tcPr/>
                </a:tc>
                <a:tc hMerge="1">
                  <a:txBody>
                    <a:bodyPr/>
                    <a:lstStyle/>
                    <a:p>
                      <a:pPr rtl="1"/>
                      <a:endParaRPr lang="he-IL"/>
                    </a:p>
                  </a:txBody>
                  <a:tcPr/>
                </a:tc>
              </a:tr>
            </a:tbl>
          </a:graphicData>
        </a:graphic>
      </p:graphicFrame>
    </p:spTree>
    <p:extLst>
      <p:ext uri="{BB962C8B-B14F-4D97-AF65-F5344CB8AC3E}">
        <p14:creationId xmlns:p14="http://schemas.microsoft.com/office/powerpoint/2010/main" xmlns="" val="5339732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לבן 2"/>
          <p:cNvSpPr/>
          <p:nvPr/>
        </p:nvSpPr>
        <p:spPr>
          <a:xfrm>
            <a:off x="1142977" y="387854"/>
            <a:ext cx="7143800" cy="954107"/>
          </a:xfrm>
          <a:prstGeom prst="rect">
            <a:avLst/>
          </a:prstGeom>
        </p:spPr>
        <p:txBody>
          <a:bodyPr wrap="square">
            <a:spAutoFit/>
          </a:bodyPr>
          <a:lstStyle/>
          <a:p>
            <a:pPr algn="ctr"/>
            <a:r>
              <a:rPr lang="he-IL" sz="2800" b="1" dirty="0" smtClean="0"/>
              <a:t>דרגות דיוק למדידת רשת בקרה אנכית </a:t>
            </a:r>
            <a:r>
              <a:rPr lang="he-IL" sz="2800" b="1" dirty="0" err="1" smtClean="0"/>
              <a:t>אורתומטרית</a:t>
            </a:r>
            <a:r>
              <a:rPr lang="he-IL" sz="2800" b="1" dirty="0" smtClean="0"/>
              <a:t> (רמה </a:t>
            </a:r>
            <a:r>
              <a:rPr lang="en-US" sz="2800" b="1" dirty="0" smtClean="0"/>
              <a:t>H</a:t>
            </a:r>
            <a:r>
              <a:rPr lang="he-IL" sz="2800" b="1" dirty="0" smtClean="0"/>
              <a:t>)  על ידי מודדים או מפ"י</a:t>
            </a:r>
            <a:endParaRPr lang="en-US" sz="2800" dirty="0"/>
          </a:p>
        </p:txBody>
      </p:sp>
      <p:graphicFrame>
        <p:nvGraphicFramePr>
          <p:cNvPr id="5" name="טבלה 4"/>
          <p:cNvGraphicFramePr>
            <a:graphicFrameLocks noGrp="1"/>
          </p:cNvGraphicFramePr>
          <p:nvPr/>
        </p:nvGraphicFramePr>
        <p:xfrm>
          <a:off x="214282" y="1364549"/>
          <a:ext cx="8715439" cy="5396380"/>
        </p:xfrm>
        <a:graphic>
          <a:graphicData uri="http://schemas.openxmlformats.org/drawingml/2006/table">
            <a:tbl>
              <a:tblPr rtl="1"/>
              <a:tblGrid>
                <a:gridCol w="241029"/>
                <a:gridCol w="1088613"/>
                <a:gridCol w="1785925"/>
                <a:gridCol w="1296744"/>
                <a:gridCol w="1735174"/>
                <a:gridCol w="1397579"/>
                <a:gridCol w="1170375"/>
              </a:tblGrid>
              <a:tr h="751522">
                <a:tc rowSpan="2" gridSpan="2">
                  <a:txBody>
                    <a:bodyPr/>
                    <a:lstStyle/>
                    <a:p>
                      <a:pPr algn="ctr" rtl="1">
                        <a:lnSpc>
                          <a:spcPct val="150000"/>
                        </a:lnSpc>
                        <a:spcAft>
                          <a:spcPts val="0"/>
                        </a:spcAft>
                      </a:pPr>
                      <a:endParaRPr lang="en-US" sz="1800" dirty="0">
                        <a:latin typeface="Times New Roman"/>
                        <a:ea typeface="Times New Roman"/>
                        <a:cs typeface="Arial"/>
                      </a:endParaRPr>
                    </a:p>
                    <a:p>
                      <a:pPr algn="ctr" rtl="1">
                        <a:lnSpc>
                          <a:spcPct val="150000"/>
                        </a:lnSpc>
                        <a:spcAft>
                          <a:spcPts val="0"/>
                        </a:spcAft>
                      </a:pPr>
                      <a:r>
                        <a:rPr lang="he-IL" sz="1800" b="1" dirty="0">
                          <a:solidFill>
                            <a:srgbClr val="000000"/>
                          </a:solidFill>
                          <a:latin typeface="Times New Roman"/>
                          <a:ea typeface="Times New Roman"/>
                          <a:cs typeface="David"/>
                        </a:rPr>
                        <a:t>דרגה</a:t>
                      </a:r>
                      <a:endParaRPr lang="en-US" sz="1800" dirty="0">
                        <a:latin typeface="Times New Roman"/>
                        <a:ea typeface="Times New Roman"/>
                        <a:cs typeface="Arial"/>
                      </a:endParaRPr>
                    </a:p>
                  </a:txBody>
                  <a:tcPr marL="46275" marR="462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xBody>
                    <a:bodyPr/>
                    <a:lstStyle/>
                    <a:p>
                      <a:pPr rtl="1"/>
                      <a:endParaRPr lang="he-IL"/>
                    </a:p>
                  </a:txBody>
                  <a:tcPr/>
                </a:tc>
                <a:tc rowSpan="2">
                  <a:txBody>
                    <a:bodyPr/>
                    <a:lstStyle/>
                    <a:p>
                      <a:pPr algn="ctr" rtl="1">
                        <a:lnSpc>
                          <a:spcPct val="150000"/>
                        </a:lnSpc>
                        <a:spcAft>
                          <a:spcPts val="0"/>
                        </a:spcAft>
                      </a:pPr>
                      <a:endParaRPr lang="en-US" sz="1800">
                        <a:latin typeface="Times New Roman"/>
                        <a:ea typeface="Times New Roman"/>
                        <a:cs typeface="Arial"/>
                      </a:endParaRPr>
                    </a:p>
                    <a:p>
                      <a:pPr algn="ctr" rtl="1">
                        <a:lnSpc>
                          <a:spcPct val="150000"/>
                        </a:lnSpc>
                        <a:spcAft>
                          <a:spcPts val="0"/>
                        </a:spcAft>
                      </a:pPr>
                      <a:r>
                        <a:rPr lang="he-IL" sz="1800" b="1">
                          <a:solidFill>
                            <a:srgbClr val="000000"/>
                          </a:solidFill>
                          <a:latin typeface="Times New Roman"/>
                          <a:ea typeface="Times New Roman"/>
                          <a:cs typeface="David"/>
                        </a:rPr>
                        <a:t>שיטת המדידה</a:t>
                      </a:r>
                      <a:endParaRPr lang="en-US" sz="1800">
                        <a:latin typeface="Times New Roman"/>
                        <a:ea typeface="Times New Roman"/>
                        <a:cs typeface="Arial"/>
                      </a:endParaRPr>
                    </a:p>
                  </a:txBody>
                  <a:tcPr marL="46275" marR="462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rtl="1">
                        <a:lnSpc>
                          <a:spcPct val="150000"/>
                        </a:lnSpc>
                        <a:spcAft>
                          <a:spcPts val="0"/>
                        </a:spcAft>
                      </a:pPr>
                      <a:r>
                        <a:rPr lang="he-IL" sz="1800" b="1" dirty="0" smtClean="0">
                          <a:solidFill>
                            <a:srgbClr val="000000"/>
                          </a:solidFill>
                          <a:latin typeface="Times New Roman"/>
                          <a:ea typeface="Times New Roman"/>
                          <a:cs typeface="David"/>
                        </a:rPr>
                        <a:t>איזון </a:t>
                      </a:r>
                      <a:r>
                        <a:rPr lang="he-IL" sz="1800" b="1" dirty="0" err="1">
                          <a:solidFill>
                            <a:srgbClr val="000000"/>
                          </a:solidFill>
                          <a:latin typeface="Times New Roman"/>
                          <a:ea typeface="Times New Roman"/>
                          <a:cs typeface="David"/>
                        </a:rPr>
                        <a:t>גאומטרי</a:t>
                      </a:r>
                      <a:r>
                        <a:rPr lang="he-IL" sz="1800" b="1" dirty="0">
                          <a:solidFill>
                            <a:srgbClr val="000000"/>
                          </a:solidFill>
                          <a:latin typeface="Times New Roman"/>
                          <a:ea typeface="Times New Roman"/>
                          <a:cs typeface="David"/>
                        </a:rPr>
                        <a:t> ו\או טריגונומטרי</a:t>
                      </a:r>
                      <a:endParaRPr lang="en-US" sz="1800" dirty="0">
                        <a:latin typeface="Times New Roman"/>
                        <a:ea typeface="Times New Roman"/>
                        <a:cs typeface="Arial"/>
                      </a:endParaRPr>
                    </a:p>
                  </a:txBody>
                  <a:tcPr marL="46275" marR="462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rtl="1"/>
                      <a:endParaRPr lang="he-IL"/>
                    </a:p>
                  </a:txBody>
                  <a:tcPr/>
                </a:tc>
                <a:tc hMerge="1">
                  <a:txBody>
                    <a:bodyPr/>
                    <a:lstStyle/>
                    <a:p>
                      <a:pPr rtl="1"/>
                      <a:endParaRPr lang="he-IL"/>
                    </a:p>
                  </a:txBody>
                  <a:tcPr/>
                </a:tc>
                <a:tc>
                  <a:txBody>
                    <a:bodyPr/>
                    <a:lstStyle/>
                    <a:p>
                      <a:pPr algn="ctr" rtl="1">
                        <a:lnSpc>
                          <a:spcPct val="150000"/>
                        </a:lnSpc>
                        <a:spcAft>
                          <a:spcPts val="0"/>
                        </a:spcAft>
                      </a:pPr>
                      <a:r>
                        <a:rPr lang="he-IL" sz="1800" b="1" dirty="0" smtClean="0">
                          <a:solidFill>
                            <a:srgbClr val="000000"/>
                          </a:solidFill>
                          <a:latin typeface="Times New Roman"/>
                          <a:ea typeface="Times New Roman"/>
                          <a:cs typeface="David"/>
                        </a:rPr>
                        <a:t>מדידה </a:t>
                      </a:r>
                      <a:endParaRPr lang="en-US" sz="1800" dirty="0">
                        <a:latin typeface="Times New Roman"/>
                        <a:ea typeface="Times New Roman"/>
                        <a:cs typeface="Arial"/>
                      </a:endParaRPr>
                    </a:p>
                    <a:p>
                      <a:pPr algn="ctr" rtl="1">
                        <a:lnSpc>
                          <a:spcPct val="150000"/>
                        </a:lnSpc>
                        <a:spcAft>
                          <a:spcPts val="0"/>
                        </a:spcAft>
                      </a:pPr>
                      <a:r>
                        <a:rPr lang="he-IL" sz="1800" b="1" dirty="0">
                          <a:solidFill>
                            <a:srgbClr val="000000"/>
                          </a:solidFill>
                          <a:latin typeface="Times New Roman"/>
                          <a:ea typeface="Times New Roman"/>
                          <a:cs typeface="David"/>
                        </a:rPr>
                        <a:t>לוויינית </a:t>
                      </a:r>
                      <a:r>
                        <a:rPr lang="en-US" sz="1800" b="1" dirty="0">
                          <a:solidFill>
                            <a:srgbClr val="000000"/>
                          </a:solidFill>
                          <a:latin typeface="Times New Roman"/>
                          <a:ea typeface="Times New Roman"/>
                          <a:cs typeface="David"/>
                        </a:rPr>
                        <a:t>*</a:t>
                      </a:r>
                      <a:endParaRPr lang="en-US" sz="1800" dirty="0">
                        <a:latin typeface="Times New Roman"/>
                        <a:ea typeface="Times New Roman"/>
                        <a:cs typeface="Arial"/>
                      </a:endParaRPr>
                    </a:p>
                  </a:txBody>
                  <a:tcPr marL="46275" marR="462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4148">
                <a:tc gridSpan="2" vMerge="1">
                  <a:txBody>
                    <a:bodyPr/>
                    <a:lstStyle/>
                    <a:p>
                      <a:pPr rtl="1"/>
                      <a:endParaRPr lang="he-IL"/>
                    </a:p>
                  </a:txBody>
                  <a:tcPr/>
                </a:tc>
                <a:tc hMerge="1" vMerge="1">
                  <a:txBody>
                    <a:bodyPr/>
                    <a:lstStyle/>
                    <a:p>
                      <a:pPr rtl="1"/>
                      <a:endParaRPr lang="he-IL"/>
                    </a:p>
                  </a:txBody>
                  <a:tcPr/>
                </a:tc>
                <a:tc vMerge="1">
                  <a:txBody>
                    <a:bodyPr/>
                    <a:lstStyle/>
                    <a:p>
                      <a:pPr rtl="1"/>
                      <a:endParaRPr lang="he-IL"/>
                    </a:p>
                  </a:txBody>
                  <a:tcPr/>
                </a:tc>
                <a:tc>
                  <a:txBody>
                    <a:bodyPr/>
                    <a:lstStyle/>
                    <a:p>
                      <a:pPr algn="ctr" rtl="1">
                        <a:lnSpc>
                          <a:spcPct val="150000"/>
                        </a:lnSpc>
                        <a:spcAft>
                          <a:spcPts val="0"/>
                        </a:spcAft>
                      </a:pPr>
                      <a:r>
                        <a:rPr lang="he-IL" sz="1800" b="1" dirty="0" smtClean="0">
                          <a:solidFill>
                            <a:srgbClr val="000000"/>
                          </a:solidFill>
                          <a:latin typeface="Times New Roman"/>
                          <a:ea typeface="Times New Roman"/>
                          <a:cs typeface="David"/>
                        </a:rPr>
                        <a:t>אורך </a:t>
                      </a:r>
                      <a:r>
                        <a:rPr lang="he-IL" sz="1800" b="1" dirty="0">
                          <a:solidFill>
                            <a:srgbClr val="000000"/>
                          </a:solidFill>
                          <a:latin typeface="Times New Roman"/>
                          <a:ea typeface="Times New Roman"/>
                          <a:cs typeface="David"/>
                        </a:rPr>
                        <a:t>מרבי של קטע איזון בקילומטרים</a:t>
                      </a:r>
                      <a:endParaRPr lang="en-US" sz="1800" dirty="0">
                        <a:latin typeface="Times New Roman"/>
                        <a:ea typeface="Times New Roman"/>
                        <a:cs typeface="Arial"/>
                      </a:endParaRPr>
                    </a:p>
                  </a:txBody>
                  <a:tcPr marL="46275" marR="462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b="1" dirty="0" smtClean="0">
                          <a:solidFill>
                            <a:srgbClr val="000000"/>
                          </a:solidFill>
                          <a:latin typeface="Times New Roman"/>
                          <a:ea typeface="Times New Roman"/>
                          <a:cs typeface="David"/>
                        </a:rPr>
                        <a:t>מרחק </a:t>
                      </a:r>
                      <a:r>
                        <a:rPr lang="he-IL" sz="1800" b="1" dirty="0">
                          <a:solidFill>
                            <a:srgbClr val="000000"/>
                          </a:solidFill>
                          <a:latin typeface="Times New Roman"/>
                          <a:ea typeface="Times New Roman"/>
                          <a:cs typeface="David"/>
                        </a:rPr>
                        <a:t>מרבי מצטבר של קו איזון</a:t>
                      </a:r>
                      <a:endParaRPr lang="en-US" sz="1800" dirty="0">
                        <a:latin typeface="Times New Roman"/>
                        <a:ea typeface="Times New Roman"/>
                        <a:cs typeface="Arial"/>
                      </a:endParaRPr>
                    </a:p>
                    <a:p>
                      <a:pPr algn="ctr" rtl="1">
                        <a:lnSpc>
                          <a:spcPct val="150000"/>
                        </a:lnSpc>
                        <a:spcAft>
                          <a:spcPts val="0"/>
                        </a:spcAft>
                      </a:pPr>
                      <a:r>
                        <a:rPr lang="he-IL" sz="1800" b="1" dirty="0">
                          <a:solidFill>
                            <a:srgbClr val="000000"/>
                          </a:solidFill>
                          <a:latin typeface="Times New Roman"/>
                          <a:ea typeface="Times New Roman"/>
                          <a:cs typeface="David"/>
                        </a:rPr>
                        <a:t>(</a:t>
                      </a:r>
                      <a:r>
                        <a:rPr lang="en-US" sz="1800" b="1" dirty="0">
                          <a:solidFill>
                            <a:srgbClr val="000000"/>
                          </a:solidFill>
                          <a:latin typeface="Times New Roman"/>
                          <a:ea typeface="Times New Roman"/>
                          <a:cs typeface="David"/>
                        </a:rPr>
                        <a:t>L</a:t>
                      </a:r>
                      <a:r>
                        <a:rPr lang="he-IL" sz="1800" b="1" dirty="0">
                          <a:solidFill>
                            <a:srgbClr val="000000"/>
                          </a:solidFill>
                          <a:latin typeface="Times New Roman"/>
                          <a:ea typeface="Times New Roman"/>
                          <a:cs typeface="David"/>
                        </a:rPr>
                        <a:t>) בקילומטרים</a:t>
                      </a:r>
                      <a:endParaRPr lang="en-US" sz="1800" dirty="0">
                        <a:latin typeface="Times New Roman"/>
                        <a:ea typeface="Times New Roman"/>
                        <a:cs typeface="Arial"/>
                      </a:endParaRPr>
                    </a:p>
                  </a:txBody>
                  <a:tcPr marL="46275" marR="462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b="1" dirty="0" smtClean="0">
                          <a:solidFill>
                            <a:srgbClr val="000000"/>
                          </a:solidFill>
                          <a:latin typeface="Times New Roman"/>
                          <a:ea typeface="Times New Roman"/>
                          <a:cs typeface="David"/>
                        </a:rPr>
                        <a:t>שגיאה </a:t>
                      </a:r>
                      <a:r>
                        <a:rPr lang="he-IL" sz="1800" b="1" dirty="0">
                          <a:solidFill>
                            <a:srgbClr val="000000"/>
                          </a:solidFill>
                          <a:latin typeface="Times New Roman"/>
                          <a:ea typeface="Times New Roman"/>
                          <a:cs typeface="David"/>
                        </a:rPr>
                        <a:t>מרבית </a:t>
                      </a:r>
                      <a:r>
                        <a:rPr lang="he-IL" sz="1800" b="1" dirty="0" smtClean="0">
                          <a:solidFill>
                            <a:srgbClr val="000000"/>
                          </a:solidFill>
                          <a:latin typeface="Times New Roman"/>
                          <a:ea typeface="Times New Roman"/>
                          <a:cs typeface="David"/>
                        </a:rPr>
                        <a:t>מ"מ (הפרש גובה)</a:t>
                      </a:r>
                      <a:endParaRPr lang="en-US" sz="1800" dirty="0">
                        <a:latin typeface="Times New Roman"/>
                        <a:ea typeface="Times New Roman"/>
                        <a:cs typeface="Arial"/>
                      </a:endParaRPr>
                    </a:p>
                  </a:txBody>
                  <a:tcPr marL="46275" marR="462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b="1" dirty="0" smtClean="0">
                          <a:solidFill>
                            <a:srgbClr val="000000"/>
                          </a:solidFill>
                          <a:latin typeface="Times New Roman"/>
                          <a:ea typeface="Times New Roman"/>
                          <a:cs typeface="David"/>
                        </a:rPr>
                        <a:t>שגיאה </a:t>
                      </a:r>
                      <a:r>
                        <a:rPr lang="he-IL" sz="1800" b="1" dirty="0">
                          <a:solidFill>
                            <a:srgbClr val="000000"/>
                          </a:solidFill>
                          <a:latin typeface="Times New Roman"/>
                          <a:ea typeface="Times New Roman"/>
                          <a:cs typeface="David"/>
                        </a:rPr>
                        <a:t>מרבית </a:t>
                      </a:r>
                      <a:r>
                        <a:rPr lang="he-IL" sz="1800" b="1" dirty="0" smtClean="0">
                          <a:solidFill>
                            <a:srgbClr val="000000"/>
                          </a:solidFill>
                          <a:latin typeface="Times New Roman"/>
                          <a:ea typeface="Times New Roman"/>
                          <a:cs typeface="David"/>
                        </a:rPr>
                        <a:t>מ"מ</a:t>
                      </a:r>
                      <a:endParaRPr lang="en-US" sz="1800" dirty="0">
                        <a:latin typeface="Times New Roman"/>
                        <a:ea typeface="Times New Roman"/>
                        <a:cs typeface="Arial"/>
                      </a:endParaRPr>
                    </a:p>
                  </a:txBody>
                  <a:tcPr marL="46275" marR="462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0202">
                <a:tc gridSpan="2">
                  <a:txBody>
                    <a:bodyPr/>
                    <a:lstStyle/>
                    <a:p>
                      <a:pPr algn="ctr" rtl="1">
                        <a:lnSpc>
                          <a:spcPct val="150000"/>
                        </a:lnSpc>
                        <a:spcAft>
                          <a:spcPts val="0"/>
                        </a:spcAft>
                      </a:pPr>
                      <a:r>
                        <a:rPr lang="en-US" sz="1800">
                          <a:solidFill>
                            <a:srgbClr val="000000"/>
                          </a:solidFill>
                          <a:latin typeface="Times New Roman"/>
                          <a:ea typeface="Times New Roman"/>
                          <a:cs typeface="David"/>
                        </a:rPr>
                        <a:t>H3</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rtl="1"/>
                      <a:endParaRPr lang="he-IL"/>
                    </a:p>
                  </a:txBody>
                  <a:tcPr/>
                </a:tc>
                <a:tc>
                  <a:txBody>
                    <a:bodyPr/>
                    <a:lstStyle/>
                    <a:p>
                      <a:pPr algn="ctr" rtl="1">
                        <a:lnSpc>
                          <a:spcPct val="150000"/>
                        </a:lnSpc>
                        <a:spcAft>
                          <a:spcPts val="0"/>
                        </a:spcAft>
                      </a:pPr>
                      <a:r>
                        <a:rPr lang="he-IL" sz="1800">
                          <a:solidFill>
                            <a:srgbClr val="000000"/>
                          </a:solidFill>
                          <a:latin typeface="Times New Roman"/>
                          <a:ea typeface="Times New Roman"/>
                          <a:cs typeface="David"/>
                        </a:rPr>
                        <a:t>איזון גאומטרי ו\או טריגונומטרי</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a:solidFill>
                            <a:srgbClr val="000000"/>
                          </a:solidFill>
                          <a:latin typeface="Times New Roman"/>
                          <a:ea typeface="Times New Roman"/>
                          <a:cs typeface="David"/>
                        </a:rPr>
                        <a:t>2</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a:solidFill>
                            <a:srgbClr val="000000"/>
                          </a:solidFill>
                          <a:latin typeface="Times New Roman"/>
                          <a:ea typeface="Times New Roman"/>
                          <a:cs typeface="David"/>
                        </a:rPr>
                        <a:t>24</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en-US" sz="1800" dirty="0">
                          <a:solidFill>
                            <a:srgbClr val="000000"/>
                          </a:solidFill>
                          <a:latin typeface="Times New Roman"/>
                          <a:ea typeface="Times New Roman"/>
                          <a:cs typeface="David"/>
                        </a:rPr>
                        <a:t>10*√L</a:t>
                      </a:r>
                      <a:endParaRPr lang="en-US" sz="1800" dirty="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dirty="0">
                          <a:solidFill>
                            <a:srgbClr val="000000"/>
                          </a:solidFill>
                          <a:latin typeface="Times New Roman"/>
                          <a:ea typeface="Times New Roman"/>
                          <a:cs typeface="David"/>
                        </a:rPr>
                        <a:t>-</a:t>
                      </a:r>
                      <a:endParaRPr lang="en-US" sz="1800" dirty="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4204">
                <a:tc gridSpan="2">
                  <a:txBody>
                    <a:bodyPr/>
                    <a:lstStyle/>
                    <a:p>
                      <a:pPr algn="ctr" rtl="1">
                        <a:lnSpc>
                          <a:spcPct val="150000"/>
                        </a:lnSpc>
                        <a:spcAft>
                          <a:spcPts val="0"/>
                        </a:spcAft>
                      </a:pPr>
                      <a:r>
                        <a:rPr lang="en-US" sz="1800">
                          <a:solidFill>
                            <a:srgbClr val="000000"/>
                          </a:solidFill>
                          <a:latin typeface="Times New Roman"/>
                          <a:ea typeface="Times New Roman"/>
                          <a:cs typeface="David"/>
                        </a:rPr>
                        <a:t>H4</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rtl="1"/>
                      <a:endParaRPr lang="he-IL"/>
                    </a:p>
                  </a:txBody>
                  <a:tcPr/>
                </a:tc>
                <a:tc rowSpan="3">
                  <a:txBody>
                    <a:bodyPr/>
                    <a:lstStyle/>
                    <a:p>
                      <a:pPr algn="ctr" rtl="1">
                        <a:lnSpc>
                          <a:spcPct val="150000"/>
                        </a:lnSpc>
                        <a:spcAft>
                          <a:spcPts val="0"/>
                        </a:spcAft>
                      </a:pPr>
                      <a:r>
                        <a:rPr lang="he-IL" sz="1800">
                          <a:solidFill>
                            <a:srgbClr val="000000"/>
                          </a:solidFill>
                          <a:latin typeface="Times New Roman"/>
                          <a:ea typeface="Times New Roman"/>
                          <a:cs typeface="David"/>
                        </a:rPr>
                        <a:t>איזון גאומטרי ו\או טריגונומטרי או מדידה לוויינית</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a:solidFill>
                            <a:srgbClr val="000000"/>
                          </a:solidFill>
                          <a:latin typeface="Times New Roman"/>
                          <a:ea typeface="Times New Roman"/>
                          <a:cs typeface="David"/>
                        </a:rPr>
                        <a:t>2</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a:solidFill>
                            <a:srgbClr val="000000"/>
                          </a:solidFill>
                          <a:latin typeface="Times New Roman"/>
                          <a:ea typeface="Times New Roman"/>
                          <a:cs typeface="David"/>
                        </a:rPr>
                        <a:t>10</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en-US" sz="1800">
                          <a:solidFill>
                            <a:srgbClr val="000000"/>
                          </a:solidFill>
                          <a:latin typeface="Times New Roman"/>
                          <a:ea typeface="Times New Roman"/>
                          <a:cs typeface="David"/>
                        </a:rPr>
                        <a:t>20*√L</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dirty="0">
                          <a:solidFill>
                            <a:srgbClr val="000000"/>
                          </a:solidFill>
                          <a:latin typeface="Times New Roman"/>
                          <a:ea typeface="Times New Roman"/>
                          <a:cs typeface="David"/>
                        </a:rPr>
                        <a:t>10</a:t>
                      </a:r>
                      <a:endParaRPr lang="en-US" sz="1800" dirty="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4204">
                <a:tc gridSpan="2">
                  <a:txBody>
                    <a:bodyPr/>
                    <a:lstStyle/>
                    <a:p>
                      <a:pPr algn="ctr" rtl="1">
                        <a:lnSpc>
                          <a:spcPct val="150000"/>
                        </a:lnSpc>
                        <a:spcAft>
                          <a:spcPts val="0"/>
                        </a:spcAft>
                      </a:pPr>
                      <a:r>
                        <a:rPr lang="en-US" sz="1800">
                          <a:solidFill>
                            <a:srgbClr val="000000"/>
                          </a:solidFill>
                          <a:latin typeface="Times New Roman"/>
                          <a:ea typeface="Times New Roman"/>
                          <a:cs typeface="David"/>
                        </a:rPr>
                        <a:t>H5</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rtl="1"/>
                      <a:endParaRPr lang="he-IL"/>
                    </a:p>
                  </a:txBody>
                  <a:tcPr/>
                </a:tc>
                <a:tc vMerge="1">
                  <a:txBody>
                    <a:bodyPr/>
                    <a:lstStyle/>
                    <a:p>
                      <a:pPr rtl="1"/>
                      <a:endParaRPr lang="he-IL"/>
                    </a:p>
                  </a:txBody>
                  <a:tcPr/>
                </a:tc>
                <a:tc>
                  <a:txBody>
                    <a:bodyPr/>
                    <a:lstStyle/>
                    <a:p>
                      <a:pPr algn="ctr" rtl="1">
                        <a:lnSpc>
                          <a:spcPct val="150000"/>
                        </a:lnSpc>
                        <a:spcAft>
                          <a:spcPts val="0"/>
                        </a:spcAft>
                      </a:pPr>
                      <a:r>
                        <a:rPr lang="he-IL" sz="1800">
                          <a:solidFill>
                            <a:srgbClr val="000000"/>
                          </a:solidFill>
                          <a:latin typeface="Times New Roman"/>
                          <a:ea typeface="Times New Roman"/>
                          <a:cs typeface="David"/>
                        </a:rPr>
                        <a:t>2</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a:solidFill>
                            <a:srgbClr val="000000"/>
                          </a:solidFill>
                          <a:latin typeface="Times New Roman"/>
                          <a:ea typeface="Times New Roman"/>
                          <a:cs typeface="David"/>
                        </a:rPr>
                        <a:t>5</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en-US" sz="1800">
                          <a:solidFill>
                            <a:srgbClr val="000000"/>
                          </a:solidFill>
                          <a:latin typeface="Times New Roman"/>
                          <a:ea typeface="Times New Roman"/>
                          <a:cs typeface="David"/>
                        </a:rPr>
                        <a:t>30*√L</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dirty="0">
                          <a:solidFill>
                            <a:srgbClr val="000000"/>
                          </a:solidFill>
                          <a:latin typeface="Times New Roman"/>
                          <a:ea typeface="Times New Roman"/>
                          <a:cs typeface="David"/>
                        </a:rPr>
                        <a:t>20</a:t>
                      </a:r>
                      <a:endParaRPr lang="en-US" sz="1800" dirty="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4204">
                <a:tc gridSpan="2">
                  <a:txBody>
                    <a:bodyPr/>
                    <a:lstStyle/>
                    <a:p>
                      <a:pPr algn="ctr" rtl="1">
                        <a:lnSpc>
                          <a:spcPct val="150000"/>
                        </a:lnSpc>
                        <a:spcAft>
                          <a:spcPts val="0"/>
                        </a:spcAft>
                      </a:pPr>
                      <a:r>
                        <a:rPr lang="en-US" sz="1800">
                          <a:solidFill>
                            <a:srgbClr val="000000"/>
                          </a:solidFill>
                          <a:latin typeface="Times New Roman"/>
                          <a:ea typeface="Times New Roman"/>
                          <a:cs typeface="David"/>
                        </a:rPr>
                        <a:t>H6</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rtl="1"/>
                      <a:endParaRPr lang="he-IL"/>
                    </a:p>
                  </a:txBody>
                  <a:tcPr/>
                </a:tc>
                <a:tc vMerge="1">
                  <a:txBody>
                    <a:bodyPr/>
                    <a:lstStyle/>
                    <a:p>
                      <a:pPr rtl="1"/>
                      <a:endParaRPr lang="he-IL"/>
                    </a:p>
                  </a:txBody>
                  <a:tcPr/>
                </a:tc>
                <a:tc>
                  <a:txBody>
                    <a:bodyPr/>
                    <a:lstStyle/>
                    <a:p>
                      <a:pPr algn="ctr" rtl="1">
                        <a:lnSpc>
                          <a:spcPct val="150000"/>
                        </a:lnSpc>
                        <a:spcAft>
                          <a:spcPts val="0"/>
                        </a:spcAft>
                      </a:pPr>
                      <a:r>
                        <a:rPr lang="he-IL" sz="1800">
                          <a:solidFill>
                            <a:srgbClr val="000000"/>
                          </a:solidFill>
                          <a:latin typeface="Times New Roman"/>
                          <a:ea typeface="Times New Roman"/>
                          <a:cs typeface="David"/>
                        </a:rPr>
                        <a:t>1</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a:solidFill>
                            <a:srgbClr val="000000"/>
                          </a:solidFill>
                          <a:latin typeface="Times New Roman"/>
                          <a:ea typeface="Times New Roman"/>
                          <a:cs typeface="David"/>
                        </a:rPr>
                        <a:t>4</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a:lnSpc>
                          <a:spcPct val="150000"/>
                        </a:lnSpc>
                        <a:spcAft>
                          <a:spcPts val="0"/>
                        </a:spcAft>
                      </a:pPr>
                      <a:r>
                        <a:rPr lang="en-US" sz="1800">
                          <a:solidFill>
                            <a:srgbClr val="000000"/>
                          </a:solidFill>
                          <a:latin typeface="Times New Roman"/>
                          <a:ea typeface="Times New Roman"/>
                          <a:cs typeface="David"/>
                        </a:rPr>
                        <a:t>60*√L</a:t>
                      </a:r>
                      <a:endParaRPr lang="en-US" sz="180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0"/>
                        </a:spcAft>
                      </a:pPr>
                      <a:r>
                        <a:rPr lang="he-IL" sz="1800" dirty="0">
                          <a:solidFill>
                            <a:srgbClr val="000000"/>
                          </a:solidFill>
                          <a:latin typeface="Times New Roman"/>
                          <a:ea typeface="Times New Roman"/>
                          <a:cs typeface="David"/>
                        </a:rPr>
                        <a:t>40</a:t>
                      </a:r>
                      <a:endParaRPr lang="en-US" sz="1800" dirty="0">
                        <a:latin typeface="Times New Roman"/>
                        <a:ea typeface="Times New Roman"/>
                        <a:cs typeface="Arial"/>
                      </a:endParaRPr>
                    </a:p>
                  </a:txBody>
                  <a:tcPr marL="46275" marR="462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3822">
                <a:tc rowSpan="2">
                  <a:txBody>
                    <a:bodyPr/>
                    <a:lstStyle/>
                    <a:p>
                      <a:pPr algn="r" rtl="1">
                        <a:lnSpc>
                          <a:spcPct val="115000"/>
                        </a:lnSpc>
                        <a:spcAft>
                          <a:spcPts val="0"/>
                        </a:spcAft>
                      </a:pPr>
                      <a:r>
                        <a:rPr lang="en-US" sz="1800">
                          <a:solidFill>
                            <a:srgbClr val="000000"/>
                          </a:solidFill>
                          <a:latin typeface="Times New Roman"/>
                          <a:ea typeface="Times New Roman"/>
                          <a:cs typeface="David"/>
                        </a:rPr>
                        <a:t>*</a:t>
                      </a:r>
                      <a:endParaRPr lang="en-US" sz="1800">
                        <a:latin typeface="Times New Roman"/>
                        <a:ea typeface="Times New Roman"/>
                        <a:cs typeface="Arial"/>
                      </a:endParaRPr>
                    </a:p>
                  </a:txBody>
                  <a:tcPr marL="46275" marR="46275"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rtl="1">
                        <a:lnSpc>
                          <a:spcPct val="115000"/>
                        </a:lnSpc>
                        <a:spcAft>
                          <a:spcPts val="0"/>
                        </a:spcAft>
                      </a:pPr>
                      <a:r>
                        <a:rPr lang="he-IL" sz="1800">
                          <a:solidFill>
                            <a:srgbClr val="000000"/>
                          </a:solidFill>
                          <a:latin typeface="Times New Roman"/>
                          <a:ea typeface="Times New Roman"/>
                          <a:cs typeface="David"/>
                        </a:rPr>
                        <a:t>(1)</a:t>
                      </a:r>
                      <a:endParaRPr lang="en-US" sz="1800">
                        <a:latin typeface="Times New Roman"/>
                        <a:ea typeface="Times New Roman"/>
                        <a:cs typeface="Arial"/>
                      </a:endParaRPr>
                    </a:p>
                  </a:txBody>
                  <a:tcPr marL="46275" marR="46275" marT="0" marB="0" anchor="ctr">
                    <a:lnL>
                      <a:noFill/>
                    </a:lnL>
                    <a:lnR>
                      <a:noFill/>
                    </a:lnR>
                    <a:lnT w="12700" cap="flat" cmpd="sng" algn="ctr">
                      <a:solidFill>
                        <a:srgbClr val="000000"/>
                      </a:solidFill>
                      <a:prstDash val="solid"/>
                      <a:round/>
                      <a:headEnd type="none" w="med" len="med"/>
                      <a:tailEnd type="none" w="med" len="med"/>
                    </a:lnT>
                    <a:lnB>
                      <a:noFill/>
                    </a:lnB>
                  </a:tcPr>
                </a:tc>
                <a:tc gridSpan="5">
                  <a:txBody>
                    <a:bodyPr/>
                    <a:lstStyle/>
                    <a:p>
                      <a:pPr algn="r" rtl="1">
                        <a:lnSpc>
                          <a:spcPct val="115000"/>
                        </a:lnSpc>
                        <a:spcAft>
                          <a:spcPts val="0"/>
                        </a:spcAft>
                      </a:pPr>
                      <a:r>
                        <a:rPr lang="he-IL" sz="1800" dirty="0">
                          <a:solidFill>
                            <a:srgbClr val="000000"/>
                          </a:solidFill>
                          <a:latin typeface="Times New Roman"/>
                          <a:ea typeface="Times New Roman"/>
                          <a:cs typeface="David"/>
                        </a:rPr>
                        <a:t>גובה </a:t>
                      </a:r>
                      <a:r>
                        <a:rPr lang="he-IL" sz="1800" dirty="0" err="1">
                          <a:solidFill>
                            <a:srgbClr val="000000"/>
                          </a:solidFill>
                          <a:latin typeface="Times New Roman"/>
                          <a:ea typeface="Times New Roman"/>
                          <a:cs typeface="David"/>
                        </a:rPr>
                        <a:t>אורתומטרי</a:t>
                      </a:r>
                      <a:r>
                        <a:rPr lang="he-IL" sz="1800" dirty="0">
                          <a:solidFill>
                            <a:srgbClr val="000000"/>
                          </a:solidFill>
                          <a:latin typeface="Times New Roman"/>
                          <a:ea typeface="Times New Roman"/>
                          <a:cs typeface="David"/>
                        </a:rPr>
                        <a:t> המושג ממדידה לוויינית יורכב מהגובה </a:t>
                      </a:r>
                      <a:r>
                        <a:rPr lang="he-IL" sz="1800" dirty="0" err="1">
                          <a:solidFill>
                            <a:srgbClr val="000000"/>
                          </a:solidFill>
                          <a:latin typeface="Times New Roman"/>
                          <a:ea typeface="Times New Roman"/>
                          <a:cs typeface="David"/>
                        </a:rPr>
                        <a:t>האליפסואידלי</a:t>
                      </a:r>
                      <a:r>
                        <a:rPr lang="he-IL" sz="1800" dirty="0">
                          <a:solidFill>
                            <a:srgbClr val="000000"/>
                          </a:solidFill>
                          <a:latin typeface="Times New Roman"/>
                          <a:ea typeface="Times New Roman"/>
                          <a:cs typeface="David"/>
                        </a:rPr>
                        <a:t> ומהערך במודל הגליות הארצי התקף.</a:t>
                      </a:r>
                      <a:endParaRPr lang="en-US" sz="1800" dirty="0">
                        <a:latin typeface="Times New Roman"/>
                        <a:ea typeface="Times New Roman"/>
                        <a:cs typeface="Arial"/>
                      </a:endParaRPr>
                    </a:p>
                  </a:txBody>
                  <a:tcPr marL="46275" marR="46275" marT="0" marB="0" anchor="ctr">
                    <a:lnL>
                      <a:noFill/>
                    </a:lnL>
                    <a:lnT w="12700" cap="flat" cmpd="sng" algn="ctr">
                      <a:solidFill>
                        <a:srgbClr val="000000"/>
                      </a:solidFill>
                      <a:prstDash val="solid"/>
                      <a:round/>
                      <a:headEnd type="none" w="med" len="med"/>
                      <a:tailEnd type="none" w="med" len="med"/>
                    </a:lnT>
                    <a:lnB>
                      <a:noFill/>
                    </a:lnB>
                  </a:tcP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tr>
              <a:tr h="283822">
                <a:tc vMerge="1">
                  <a:txBody>
                    <a:bodyPr/>
                    <a:lstStyle/>
                    <a:p>
                      <a:pPr rtl="1"/>
                      <a:endParaRPr lang="he-IL"/>
                    </a:p>
                  </a:txBody>
                  <a:tcPr/>
                </a:tc>
                <a:tc>
                  <a:txBody>
                    <a:bodyPr/>
                    <a:lstStyle/>
                    <a:p>
                      <a:pPr algn="ctr" rtl="1">
                        <a:lnSpc>
                          <a:spcPct val="115000"/>
                        </a:lnSpc>
                        <a:spcAft>
                          <a:spcPts val="0"/>
                        </a:spcAft>
                      </a:pPr>
                      <a:r>
                        <a:rPr lang="he-IL" sz="1800">
                          <a:solidFill>
                            <a:srgbClr val="000000"/>
                          </a:solidFill>
                          <a:latin typeface="Times New Roman"/>
                          <a:ea typeface="Times New Roman"/>
                          <a:cs typeface="David"/>
                        </a:rPr>
                        <a:t>(2)</a:t>
                      </a:r>
                      <a:endParaRPr lang="en-US" sz="1800">
                        <a:latin typeface="Times New Roman"/>
                        <a:ea typeface="Times New Roman"/>
                        <a:cs typeface="Arial"/>
                      </a:endParaRPr>
                    </a:p>
                  </a:txBody>
                  <a:tcPr marL="46275" marR="46275" marT="0" marB="0" anchor="ctr">
                    <a:lnL>
                      <a:noFill/>
                    </a:lnL>
                    <a:lnR>
                      <a:noFill/>
                    </a:lnR>
                    <a:lnT>
                      <a:noFill/>
                    </a:lnT>
                    <a:lnB>
                      <a:noFill/>
                    </a:lnB>
                  </a:tcPr>
                </a:tc>
                <a:tc gridSpan="5">
                  <a:txBody>
                    <a:bodyPr/>
                    <a:lstStyle/>
                    <a:p>
                      <a:pPr algn="r" rtl="1">
                        <a:lnSpc>
                          <a:spcPct val="115000"/>
                        </a:lnSpc>
                        <a:spcAft>
                          <a:spcPts val="0"/>
                        </a:spcAft>
                      </a:pPr>
                      <a:r>
                        <a:rPr lang="he-IL" sz="1800" dirty="0">
                          <a:solidFill>
                            <a:srgbClr val="000000"/>
                          </a:solidFill>
                          <a:latin typeface="Times New Roman"/>
                          <a:ea typeface="Times New Roman"/>
                          <a:cs typeface="David"/>
                        </a:rPr>
                        <a:t>דיוק הגובה יורכב מדיוק מדידת הגובה </a:t>
                      </a:r>
                      <a:r>
                        <a:rPr lang="he-IL" sz="1800" dirty="0" err="1">
                          <a:solidFill>
                            <a:srgbClr val="000000"/>
                          </a:solidFill>
                          <a:latin typeface="Times New Roman"/>
                          <a:ea typeface="Times New Roman"/>
                          <a:cs typeface="David"/>
                        </a:rPr>
                        <a:t>האליפסואידלי</a:t>
                      </a:r>
                      <a:r>
                        <a:rPr lang="he-IL" sz="1800" dirty="0">
                          <a:solidFill>
                            <a:srgbClr val="000000"/>
                          </a:solidFill>
                          <a:latin typeface="Times New Roman"/>
                          <a:ea typeface="Times New Roman"/>
                          <a:cs typeface="David"/>
                        </a:rPr>
                        <a:t> ומדיוק הנקודה במודל הגליות  הארצי התקף, בהתאם להנחיות המנהל.</a:t>
                      </a:r>
                      <a:endParaRPr lang="en-US" sz="1800" dirty="0">
                        <a:latin typeface="Times New Roman"/>
                        <a:ea typeface="Times New Roman"/>
                        <a:cs typeface="Arial"/>
                      </a:endParaRPr>
                    </a:p>
                  </a:txBody>
                  <a:tcPr marL="46275" marR="46275" marT="0" marB="0" anchor="ctr">
                    <a:lnL>
                      <a:noFill/>
                    </a:lnL>
                    <a:lnT>
                      <a:noFill/>
                    </a:lnT>
                    <a:lnB>
                      <a:noFill/>
                    </a:lnB>
                  </a:tcP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tr>
            </a:tbl>
          </a:graphicData>
        </a:graphic>
      </p:graphicFrame>
    </p:spTree>
    <p:extLst>
      <p:ext uri="{BB962C8B-B14F-4D97-AF65-F5344CB8AC3E}">
        <p14:creationId xmlns:p14="http://schemas.microsoft.com/office/powerpoint/2010/main" xmlns="" val="5339732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מציין מיקום תוכן 2"/>
          <p:cNvSpPr>
            <a:spLocks noGrp="1"/>
          </p:cNvSpPr>
          <p:nvPr>
            <p:ph idx="1"/>
          </p:nvPr>
        </p:nvSpPr>
        <p:spPr>
          <a:xfrm>
            <a:off x="350613" y="1629287"/>
            <a:ext cx="8586787" cy="4797151"/>
          </a:xfrm>
        </p:spPr>
        <p:txBody>
          <a:bodyPr>
            <a:normAutofit lnSpcReduction="10000"/>
          </a:bodyPr>
          <a:lstStyle/>
          <a:p>
            <a:pPr marL="0" lvl="0" indent="0">
              <a:buNone/>
            </a:pPr>
            <a:r>
              <a:rPr lang="he-IL" sz="2800" dirty="0" smtClean="0"/>
              <a:t>מורכבת מעשרה סימנים:</a:t>
            </a:r>
          </a:p>
          <a:p>
            <a:pPr lvl="0"/>
            <a:r>
              <a:rPr lang="he-IL" sz="2800" dirty="0" smtClean="0"/>
              <a:t>סימן </a:t>
            </a:r>
            <a:r>
              <a:rPr lang="he-IL" sz="2800" dirty="0"/>
              <a:t>א – נוהלי הגשה</a:t>
            </a:r>
            <a:endParaRPr lang="en-US" sz="2800" dirty="0"/>
          </a:p>
          <a:p>
            <a:pPr lvl="0"/>
            <a:r>
              <a:rPr lang="he-IL" sz="2800" dirty="0"/>
              <a:t>סימן ב – גבולות</a:t>
            </a:r>
            <a:endParaRPr lang="en-US" sz="2800" dirty="0"/>
          </a:p>
          <a:p>
            <a:pPr lvl="0"/>
            <a:r>
              <a:rPr lang="he-IL" sz="2800" dirty="0"/>
              <a:t>סימן ג – שיטות מדידה</a:t>
            </a:r>
            <a:endParaRPr lang="en-US" sz="2800" dirty="0"/>
          </a:p>
          <a:p>
            <a:pPr lvl="0"/>
            <a:r>
              <a:rPr lang="he-IL" sz="2800" dirty="0"/>
              <a:t>סימן ד – חישובים</a:t>
            </a:r>
            <a:endParaRPr lang="en-US" sz="2800" dirty="0"/>
          </a:p>
          <a:p>
            <a:pPr lvl="0"/>
            <a:r>
              <a:rPr lang="he-IL" sz="2800" dirty="0"/>
              <a:t>סימן ה –עריכה</a:t>
            </a:r>
            <a:endParaRPr lang="en-US" sz="2800" dirty="0"/>
          </a:p>
          <a:p>
            <a:pPr lvl="0"/>
            <a:r>
              <a:rPr lang="he-IL" sz="2800" dirty="0"/>
              <a:t>סימן ו – עדכון, שמירה ותיקון</a:t>
            </a:r>
            <a:endParaRPr lang="en-US" sz="2800" dirty="0"/>
          </a:p>
          <a:p>
            <a:pPr lvl="0"/>
            <a:r>
              <a:rPr lang="he-IL" sz="2800" dirty="0"/>
              <a:t>סימן ז – מדידות להסדר מקרקעין</a:t>
            </a:r>
            <a:endParaRPr lang="en-US" sz="2800" dirty="0"/>
          </a:p>
          <a:p>
            <a:pPr lvl="0"/>
            <a:r>
              <a:rPr lang="he-IL" sz="2800" dirty="0"/>
              <a:t>סימן ח – מדידות לצורך תיקון רישום במקרקעין לא מוסדרים</a:t>
            </a:r>
            <a:endParaRPr lang="en-US" sz="2800" dirty="0"/>
          </a:p>
          <a:p>
            <a:pPr lvl="0"/>
            <a:r>
              <a:rPr lang="he-IL" sz="2800" dirty="0"/>
              <a:t>סימן ט – מדידות שלא לצורכי רישום או </a:t>
            </a:r>
            <a:r>
              <a:rPr lang="he-IL" sz="2800" dirty="0" smtClean="0"/>
              <a:t>הסדר</a:t>
            </a:r>
            <a:endParaRPr lang="he-IL" dirty="0" smtClean="0"/>
          </a:p>
        </p:txBody>
      </p:sp>
      <p:sp>
        <p:nvSpPr>
          <p:cNvPr id="4" name="Rectangle 2"/>
          <p:cNvSpPr txBox="1">
            <a:spLocks noChangeArrowheads="1"/>
          </p:cNvSpPr>
          <p:nvPr/>
        </p:nvSpPr>
        <p:spPr>
          <a:xfrm>
            <a:off x="1428728" y="214290"/>
            <a:ext cx="6480721" cy="642937"/>
          </a:xfrm>
          <a:prstGeom prst="rect">
            <a:avLst/>
          </a:prstGeom>
          <a:solidFill>
            <a:srgbClr val="FFFFFF"/>
          </a:solidFill>
          <a:ln>
            <a:solidFill>
              <a:schemeClr val="bg1"/>
            </a:solidFill>
          </a:ln>
        </p:spPr>
        <p:txBody>
          <a:bodyPr rtlCol="1" anchor="ctr">
            <a:noAutofit/>
          </a:bodyPr>
          <a:lstStyle/>
          <a:p>
            <a:pPr algn="ctr" fontAlgn="auto">
              <a:spcAft>
                <a:spcPts val="0"/>
              </a:spcAft>
              <a:defRPr/>
            </a:pPr>
            <a:r>
              <a:rPr lang="he-IL" sz="4000" dirty="0" smtClean="0">
                <a:solidFill>
                  <a:srgbClr val="0000FF"/>
                </a:solidFill>
              </a:rPr>
              <a:t>ארגון תקנות </a:t>
            </a:r>
            <a:r>
              <a:rPr lang="he-IL" sz="4000" dirty="0" err="1" smtClean="0">
                <a:solidFill>
                  <a:srgbClr val="0000FF"/>
                </a:solidFill>
              </a:rPr>
              <a:t>קדסטר</a:t>
            </a:r>
            <a:r>
              <a:rPr lang="he-IL" sz="4000" dirty="0" smtClean="0">
                <a:solidFill>
                  <a:srgbClr val="0000FF"/>
                </a:solidFill>
              </a:rPr>
              <a:t> 2013</a:t>
            </a:r>
            <a:endParaRPr lang="en-US" sz="4000" dirty="0">
              <a:solidFill>
                <a:srgbClr val="0000FF"/>
              </a:solidFill>
            </a:endParaRPr>
          </a:p>
        </p:txBody>
      </p:sp>
      <p:pic>
        <p:nvPicPr>
          <p:cNvPr id="205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 y="1340768"/>
            <a:ext cx="4234145" cy="365986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659321576"/>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כותרת 1"/>
          <p:cNvSpPr>
            <a:spLocks noGrp="1"/>
          </p:cNvSpPr>
          <p:nvPr>
            <p:ph type="title"/>
          </p:nvPr>
        </p:nvSpPr>
        <p:spPr>
          <a:xfrm>
            <a:off x="1285852" y="115888"/>
            <a:ext cx="7072362" cy="649287"/>
          </a:xfrm>
          <a:solidFill>
            <a:schemeClr val="bg1">
              <a:lumMod val="85000"/>
            </a:schemeClr>
          </a:solidFill>
          <a:ln>
            <a:solidFill>
              <a:schemeClr val="bg1">
                <a:lumMod val="85000"/>
              </a:schemeClr>
            </a:solidFill>
          </a:ln>
        </p:spPr>
        <p:txBody>
          <a:bodyPr>
            <a:normAutofit fontScale="90000"/>
          </a:bodyPr>
          <a:lstStyle/>
          <a:p>
            <a:r>
              <a:rPr lang="he-IL" sz="3200" dirty="0" smtClean="0">
                <a:solidFill>
                  <a:srgbClr val="0000FF"/>
                </a:solidFill>
              </a:rPr>
              <a:t>1. איך בא לידי ביטוי </a:t>
            </a:r>
            <a:r>
              <a:rPr lang="he-IL" sz="3200" dirty="0" err="1" smtClean="0">
                <a:solidFill>
                  <a:srgbClr val="0000FF"/>
                </a:solidFill>
              </a:rPr>
              <a:t>הקמ"ק</a:t>
            </a:r>
            <a:r>
              <a:rPr lang="he-IL" sz="3200" dirty="0" smtClean="0">
                <a:solidFill>
                  <a:srgbClr val="0000FF"/>
                </a:solidFill>
              </a:rPr>
              <a:t> בתקנות המדידה החדשות?</a:t>
            </a:r>
          </a:p>
        </p:txBody>
      </p:sp>
      <p:sp>
        <p:nvSpPr>
          <p:cNvPr id="3" name="מציין מיקום תוכן 2"/>
          <p:cNvSpPr>
            <a:spLocks noGrp="1"/>
          </p:cNvSpPr>
          <p:nvPr>
            <p:ph idx="1"/>
          </p:nvPr>
        </p:nvSpPr>
        <p:spPr>
          <a:xfrm>
            <a:off x="250825" y="836613"/>
            <a:ext cx="8713788" cy="6021387"/>
          </a:xfrm>
        </p:spPr>
        <p:txBody>
          <a:bodyPr>
            <a:normAutofit/>
          </a:bodyPr>
          <a:lstStyle/>
          <a:p>
            <a:pPr>
              <a:defRPr/>
            </a:pPr>
            <a:r>
              <a:rPr lang="he-IL" sz="2200" b="1" u="sng" dirty="0" smtClean="0"/>
              <a:t>הגדרות</a:t>
            </a:r>
            <a:r>
              <a:rPr lang="he-IL" sz="2200" dirty="0" smtClean="0"/>
              <a:t> – </a:t>
            </a:r>
          </a:p>
          <a:p>
            <a:pPr>
              <a:defRPr/>
            </a:pPr>
            <a:r>
              <a:rPr lang="he-IL" sz="2200" b="1" dirty="0" err="1" smtClean="0"/>
              <a:t>קמ'ק</a:t>
            </a:r>
            <a:r>
              <a:rPr lang="he-IL" sz="2200" b="1" dirty="0" smtClean="0"/>
              <a:t> (</a:t>
            </a:r>
            <a:r>
              <a:rPr lang="he-IL" sz="2200" b="1" dirty="0" err="1" smtClean="0"/>
              <a:t>קדסטר</a:t>
            </a:r>
            <a:r>
              <a:rPr lang="he-IL" sz="2200" b="1" dirty="0" smtClean="0"/>
              <a:t> מבוסס קואורדינטות) </a:t>
            </a:r>
            <a:r>
              <a:rPr lang="he-IL" sz="2200" dirty="0" smtClean="0"/>
              <a:t>- מערכת המאפשרת הגדרה ושחזור נקודות גבול באמצעות הקואורדינטות שלהן ברשת ישראל התקפה;</a:t>
            </a:r>
          </a:p>
          <a:p>
            <a:pPr>
              <a:defRPr/>
            </a:pPr>
            <a:r>
              <a:rPr lang="he-IL" sz="2200" b="1" dirty="0" smtClean="0"/>
              <a:t>בנק"ל (בסיס נתונים </a:t>
            </a:r>
            <a:r>
              <a:rPr lang="he-IL" sz="2200" b="1" dirty="0" err="1" smtClean="0"/>
              <a:t>קדסטרי</a:t>
            </a:r>
            <a:r>
              <a:rPr lang="he-IL" sz="2200" b="1" dirty="0" smtClean="0"/>
              <a:t> לאומי) </a:t>
            </a:r>
            <a:r>
              <a:rPr lang="he-IL" sz="2200" dirty="0" smtClean="0"/>
              <a:t>- בסיס נתונים </a:t>
            </a:r>
            <a:r>
              <a:rPr lang="he-IL" sz="2200" dirty="0" err="1" smtClean="0"/>
              <a:t>קדסטרי</a:t>
            </a:r>
            <a:r>
              <a:rPr lang="he-IL" sz="2200" dirty="0" smtClean="0"/>
              <a:t> ספרתי גאו-מרחבי הכולל (בין השאר)  קואורדינטות של נקודות גבול וסיווגיהן וכן חומר ביסוס אחר; קואורדינטות של נקודות גבול  בסיווג 1 (הגבוה ביותר), מהוות אסמכתא למיקומיהן ברשת ישראל התקפה;</a:t>
            </a:r>
          </a:p>
          <a:p>
            <a:pPr marL="0" indent="0">
              <a:buFont typeface="Arial" pitchFamily="34" charset="0"/>
              <a:buNone/>
              <a:defRPr/>
            </a:pPr>
            <a:endParaRPr lang="en-US" sz="2200" b="1" u="sng" dirty="0" smtClean="0"/>
          </a:p>
          <a:p>
            <a:pPr marL="0" indent="0">
              <a:buFont typeface="Arial" pitchFamily="34" charset="0"/>
              <a:buNone/>
              <a:defRPr/>
            </a:pPr>
            <a:r>
              <a:rPr lang="he-IL" sz="2200" b="1" u="sng" dirty="0" smtClean="0"/>
              <a:t>דיוק </a:t>
            </a:r>
            <a:r>
              <a:rPr lang="he-IL" sz="2200" b="1" u="sng" dirty="0"/>
              <a:t>הגדרת קואורדינטות של נקודות גבול</a:t>
            </a:r>
          </a:p>
          <a:p>
            <a:pPr>
              <a:defRPr/>
            </a:pPr>
            <a:r>
              <a:rPr lang="en-US" sz="2200" dirty="0" smtClean="0"/>
              <a:t>18</a:t>
            </a:r>
            <a:r>
              <a:rPr lang="he-IL" sz="2200" dirty="0" smtClean="0"/>
              <a:t>.	 </a:t>
            </a:r>
            <a:r>
              <a:rPr lang="he-IL" sz="2200" dirty="0" err="1" smtClean="0"/>
              <a:t>קואורדינטות</a:t>
            </a:r>
            <a:r>
              <a:rPr lang="he-IL" sz="2200" dirty="0" smtClean="0"/>
              <a:t> של נקודות גבול או של פרטים שמשמשים לשחזור נקודות גבול ימדדו ברשת ישראל התקפה בדיוק טוב מ- 5 ס"מ, ברמת מובהקות סטטיסטית של 95% ביחס לערכים הנומינליים של התחנות הקבועות.</a:t>
            </a:r>
            <a:endParaRPr lang="en-US" sz="2200" dirty="0" smtClean="0"/>
          </a:p>
          <a:p>
            <a:pPr>
              <a:defRPr/>
            </a:pPr>
            <a:r>
              <a:rPr lang="en-US" sz="2200" dirty="0" smtClean="0"/>
              <a:t>. 18</a:t>
            </a:r>
            <a:r>
              <a:rPr lang="he-IL" sz="2200" dirty="0" smtClean="0"/>
              <a:t>המרחק </a:t>
            </a:r>
            <a:r>
              <a:rPr lang="he-IL" sz="2200" dirty="0" smtClean="0"/>
              <a:t>המרבי המותר בין </a:t>
            </a:r>
            <a:r>
              <a:rPr lang="he-IL" sz="2200" dirty="0" err="1" smtClean="0"/>
              <a:t>הקואורדינטות</a:t>
            </a:r>
            <a:r>
              <a:rPr lang="he-IL" sz="2200" dirty="0" smtClean="0"/>
              <a:t> של נקודת גבול בסיווג 1 </a:t>
            </a:r>
            <a:r>
              <a:rPr lang="he-IL" sz="2200" dirty="0" err="1" smtClean="0"/>
              <a:t>מהבנק"ל</a:t>
            </a:r>
            <a:r>
              <a:rPr lang="he-IL" sz="2200" dirty="0" smtClean="0"/>
              <a:t>,  לבין </a:t>
            </a:r>
            <a:r>
              <a:rPr lang="he-IL" sz="2200" dirty="0" err="1" smtClean="0"/>
              <a:t>הקואורדינטות</a:t>
            </a:r>
            <a:r>
              <a:rPr lang="he-IL" sz="2200" dirty="0" smtClean="0"/>
              <a:t> של מדידה חדשה שלה, לא יעלה על 5 ס"מ. עלה המרחק על האמור יפעל המודד כפי שיורה המנהל. </a:t>
            </a:r>
            <a:r>
              <a:rPr lang="he-IL" sz="2400" dirty="0" smtClean="0"/>
              <a:t>	</a:t>
            </a:r>
          </a:p>
          <a:p>
            <a:pPr>
              <a:defRPr/>
            </a:pPr>
            <a:endParaRPr lang="en-US" sz="2400" dirty="0" smtClean="0"/>
          </a:p>
          <a:p>
            <a:pPr>
              <a:defRPr/>
            </a:pPr>
            <a:endParaRPr lang="he-IL" dirty="0"/>
          </a:p>
        </p:txBody>
      </p:sp>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כותרת 1"/>
          <p:cNvSpPr>
            <a:spLocks noGrp="1"/>
          </p:cNvSpPr>
          <p:nvPr>
            <p:ph type="title"/>
          </p:nvPr>
        </p:nvSpPr>
        <p:spPr>
          <a:xfrm>
            <a:off x="1285852" y="115888"/>
            <a:ext cx="7072362" cy="649287"/>
          </a:xfrm>
          <a:solidFill>
            <a:schemeClr val="bg1">
              <a:lumMod val="85000"/>
            </a:schemeClr>
          </a:solidFill>
          <a:ln>
            <a:solidFill>
              <a:schemeClr val="bg1">
                <a:lumMod val="85000"/>
              </a:schemeClr>
            </a:solidFill>
          </a:ln>
        </p:spPr>
        <p:txBody>
          <a:bodyPr>
            <a:normAutofit fontScale="90000"/>
          </a:bodyPr>
          <a:lstStyle/>
          <a:p>
            <a:r>
              <a:rPr lang="he-IL" sz="3200" dirty="0" smtClean="0">
                <a:solidFill>
                  <a:srgbClr val="0000FF"/>
                </a:solidFill>
              </a:rPr>
              <a:t>1. איך בא לידי ביטוי </a:t>
            </a:r>
            <a:r>
              <a:rPr lang="he-IL" sz="3200" dirty="0" err="1" smtClean="0">
                <a:solidFill>
                  <a:srgbClr val="0000FF"/>
                </a:solidFill>
              </a:rPr>
              <a:t>הקמ"ק</a:t>
            </a:r>
            <a:r>
              <a:rPr lang="he-IL" sz="3200" dirty="0" smtClean="0">
                <a:solidFill>
                  <a:srgbClr val="0000FF"/>
                </a:solidFill>
              </a:rPr>
              <a:t> בתקנות המדידה החדשות?</a:t>
            </a:r>
          </a:p>
        </p:txBody>
      </p:sp>
      <p:sp>
        <p:nvSpPr>
          <p:cNvPr id="3" name="מציין מיקום תוכן 2"/>
          <p:cNvSpPr>
            <a:spLocks noGrp="1"/>
          </p:cNvSpPr>
          <p:nvPr>
            <p:ph idx="1"/>
          </p:nvPr>
        </p:nvSpPr>
        <p:spPr>
          <a:xfrm>
            <a:off x="250825" y="836613"/>
            <a:ext cx="8713788" cy="6021387"/>
          </a:xfrm>
        </p:spPr>
        <p:txBody>
          <a:bodyPr>
            <a:normAutofit/>
          </a:bodyPr>
          <a:lstStyle/>
          <a:p>
            <a:pPr>
              <a:defRPr/>
            </a:pPr>
            <a:endParaRPr lang="he-IL" sz="2400" b="1" u="sng" dirty="0" smtClean="0"/>
          </a:p>
          <a:p>
            <a:pPr>
              <a:defRPr/>
            </a:pPr>
            <a:r>
              <a:rPr lang="he-IL" sz="2400" b="1" u="sng" dirty="0" smtClean="0"/>
              <a:t>סיווג נקודות גבול </a:t>
            </a:r>
            <a:r>
              <a:rPr lang="he-IL" sz="2400" b="1" u="sng" dirty="0" err="1" smtClean="0"/>
              <a:t>בבנק"ל</a:t>
            </a:r>
            <a:endParaRPr lang="he-IL" sz="2400" b="1" u="sng" dirty="0" smtClean="0"/>
          </a:p>
          <a:p>
            <a:pPr>
              <a:defRPr/>
            </a:pPr>
            <a:r>
              <a:rPr lang="en-US" sz="2400" dirty="0" smtClean="0"/>
              <a:t>19</a:t>
            </a:r>
            <a:r>
              <a:rPr lang="he-IL" sz="2400" dirty="0" smtClean="0"/>
              <a:t>.</a:t>
            </a:r>
            <a:r>
              <a:rPr lang="he-IL" sz="2400" dirty="0" smtClean="0"/>
              <a:t>	(א)	נקודות גבול יקבלו </a:t>
            </a:r>
            <a:r>
              <a:rPr lang="he-IL" sz="2400" dirty="0" err="1" smtClean="0"/>
              <a:t>בבנק"ל</a:t>
            </a:r>
            <a:r>
              <a:rPr lang="he-IL" sz="2400" dirty="0" smtClean="0"/>
              <a:t> סיווג 1 בכל אחד ממקרים אלה:</a:t>
            </a:r>
          </a:p>
          <a:p>
            <a:pPr marL="914400" lvl="1" indent="-457200">
              <a:buFont typeface="+mj-lt"/>
              <a:buAutoNum type="arabicPeriod"/>
            </a:pPr>
            <a:r>
              <a:rPr lang="he-IL" sz="2000" dirty="0" smtClean="0"/>
              <a:t>אם </a:t>
            </a:r>
            <a:r>
              <a:rPr lang="he-IL" sz="2000" dirty="0" smtClean="0"/>
              <a:t>הן נמדדו או הוגדרו בדיוק שבתקנה 18 (א) ואושרו על ידי המנהל כסיווג 1.</a:t>
            </a:r>
            <a:endParaRPr lang="en-US" sz="2000" dirty="0" smtClean="0"/>
          </a:p>
          <a:p>
            <a:pPr marL="914400" lvl="1" indent="-457200">
              <a:buFont typeface="+mj-lt"/>
              <a:buAutoNum type="arabicPeriod"/>
            </a:pPr>
            <a:r>
              <a:rPr lang="he-IL" sz="2000" dirty="0" smtClean="0"/>
              <a:t>אם </a:t>
            </a:r>
            <a:r>
              <a:rPr lang="he-IL" sz="2000" dirty="0" smtClean="0"/>
              <a:t>בעת הסדר המקרקעין הן לא סומנו בשדה ונקבעו להן </a:t>
            </a:r>
            <a:r>
              <a:rPr lang="he-IL" sz="2000" dirty="0" err="1" smtClean="0"/>
              <a:t>קואורדינטות</a:t>
            </a:r>
            <a:r>
              <a:rPr lang="he-IL" sz="2000" dirty="0" smtClean="0"/>
              <a:t> ברשת ישראל התקפה, שלא על סמך מדידתן בשדה.</a:t>
            </a:r>
            <a:endParaRPr lang="en-US" sz="2000" dirty="0" smtClean="0"/>
          </a:p>
          <a:p>
            <a:pPr marL="914400" lvl="1" indent="-457200">
              <a:buFont typeface="+mj-lt"/>
              <a:buAutoNum type="arabicPeriod"/>
            </a:pPr>
            <a:r>
              <a:rPr lang="he-IL" sz="2000" dirty="0" smtClean="0"/>
              <a:t>אם </a:t>
            </a:r>
            <a:r>
              <a:rPr lang="he-IL" sz="2000" dirty="0" smtClean="0"/>
              <a:t>בעת הכנת </a:t>
            </a:r>
            <a:r>
              <a:rPr lang="he-IL" sz="2000" dirty="0" err="1" smtClean="0"/>
              <a:t>תצ"ר</a:t>
            </a:r>
            <a:r>
              <a:rPr lang="he-IL" sz="2000" dirty="0" smtClean="0"/>
              <a:t> נקבעו להן </a:t>
            </a:r>
            <a:r>
              <a:rPr lang="he-IL" sz="2000" dirty="0" err="1" smtClean="0"/>
              <a:t>קואורדינטות</a:t>
            </a:r>
            <a:r>
              <a:rPr lang="he-IL" sz="2000" dirty="0" smtClean="0"/>
              <a:t> ברשת ישראל התקפה, ואושר לא לסמנן בשטח בהתאם להנחיות המנהל.</a:t>
            </a:r>
            <a:endParaRPr lang="en-US" sz="2000" dirty="0" smtClean="0"/>
          </a:p>
          <a:p>
            <a:r>
              <a:rPr lang="he-IL" sz="2400" dirty="0" smtClean="0"/>
              <a:t>(ב) נקודות </a:t>
            </a:r>
            <a:r>
              <a:rPr lang="he-IL" sz="2400" dirty="0" smtClean="0"/>
              <a:t>גבול בסיווג נמוך מ- 1 יסווגו בהתאם להנחיות המנהל.</a:t>
            </a:r>
            <a:endParaRPr lang="en-US" sz="2400" dirty="0" smtClean="0"/>
          </a:p>
          <a:p>
            <a:pPr>
              <a:defRPr/>
            </a:pPr>
            <a:endParaRPr lang="he-IL" sz="2400" dirty="0" smtClean="0"/>
          </a:p>
          <a:p>
            <a:pPr>
              <a:defRPr/>
            </a:pPr>
            <a:r>
              <a:rPr lang="he-IL" sz="2400" b="1" u="sng" dirty="0" smtClean="0"/>
              <a:t>קביעת </a:t>
            </a:r>
            <a:r>
              <a:rPr lang="he-IL" sz="2400" b="1" u="sng" dirty="0" err="1" smtClean="0"/>
              <a:t>קואורדינטות</a:t>
            </a:r>
            <a:r>
              <a:rPr lang="he-IL" sz="2400" b="1" u="sng" dirty="0" smtClean="0"/>
              <a:t> של נקודות גבול</a:t>
            </a:r>
          </a:p>
          <a:p>
            <a:pPr>
              <a:defRPr/>
            </a:pPr>
            <a:r>
              <a:rPr lang="he-IL" sz="2400" dirty="0" smtClean="0"/>
              <a:t>21. </a:t>
            </a:r>
            <a:r>
              <a:rPr lang="he-IL" sz="2400" dirty="0" err="1" smtClean="0"/>
              <a:t>הקואורדינטות</a:t>
            </a:r>
            <a:r>
              <a:rPr lang="he-IL" sz="2400" dirty="0" smtClean="0"/>
              <a:t> </a:t>
            </a:r>
            <a:r>
              <a:rPr lang="he-IL" sz="2400" dirty="0" smtClean="0"/>
              <a:t>של נקודת גבול בסיווג 1 </a:t>
            </a:r>
            <a:r>
              <a:rPr lang="he-IL" sz="2400" dirty="0" err="1" smtClean="0"/>
              <a:t>בבנק"ל</a:t>
            </a:r>
            <a:r>
              <a:rPr lang="he-IL" sz="2400" dirty="0" smtClean="0"/>
              <a:t> ישמשו כאסמכתא למיקום הגבול, אף אם אינן זהות </a:t>
            </a:r>
            <a:r>
              <a:rPr lang="he-IL" sz="2400" dirty="0" err="1" smtClean="0"/>
              <a:t>לקואורדינטות</a:t>
            </a:r>
            <a:r>
              <a:rPr lang="he-IL" sz="2400" dirty="0" smtClean="0"/>
              <a:t> של סימן גבול שנמצא בשדה. </a:t>
            </a:r>
            <a:endParaRPr lang="en-US" sz="2400" dirty="0" smtClean="0"/>
          </a:p>
          <a:p>
            <a:pPr>
              <a:defRPr/>
            </a:pPr>
            <a:endParaRPr lang="he-IL" dirty="0"/>
          </a:p>
        </p:txBody>
      </p:sp>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כותרת 1"/>
          <p:cNvSpPr>
            <a:spLocks noGrp="1"/>
          </p:cNvSpPr>
          <p:nvPr>
            <p:ph type="title"/>
          </p:nvPr>
        </p:nvSpPr>
        <p:spPr>
          <a:xfrm>
            <a:off x="0" y="0"/>
            <a:ext cx="9144000" cy="981075"/>
          </a:xfrm>
          <a:solidFill>
            <a:schemeClr val="bg1">
              <a:lumMod val="85000"/>
            </a:schemeClr>
          </a:solidFill>
          <a:ln>
            <a:solidFill>
              <a:srgbClr val="FF00FF"/>
            </a:solidFill>
          </a:ln>
        </p:spPr>
        <p:txBody>
          <a:bodyPr>
            <a:normAutofit fontScale="90000"/>
          </a:bodyPr>
          <a:lstStyle/>
          <a:p>
            <a:r>
              <a:rPr lang="he-IL" sz="3200" smtClean="0">
                <a:solidFill>
                  <a:srgbClr val="0000FF"/>
                </a:solidFill>
              </a:rPr>
              <a:t>2. איך בא לידי חיזוק הקשר בין שלבי התכנון, מדידה והגדרת גבולות, ורישום בתקנות המדידה</a:t>
            </a:r>
            <a:r>
              <a:rPr lang="he-IL" sz="4000" smtClean="0">
                <a:solidFill>
                  <a:srgbClr val="0000FF"/>
                </a:solidFill>
              </a:rPr>
              <a:t>?</a:t>
            </a:r>
          </a:p>
        </p:txBody>
      </p:sp>
      <p:sp>
        <p:nvSpPr>
          <p:cNvPr id="3" name="מציין מיקום תוכן 2"/>
          <p:cNvSpPr>
            <a:spLocks noGrp="1"/>
          </p:cNvSpPr>
          <p:nvPr>
            <p:ph idx="1"/>
          </p:nvPr>
        </p:nvSpPr>
        <p:spPr>
          <a:xfrm>
            <a:off x="107950" y="1052513"/>
            <a:ext cx="8856663" cy="5805487"/>
          </a:xfrm>
        </p:spPr>
        <p:txBody>
          <a:bodyPr>
            <a:normAutofit fontScale="85000" lnSpcReduction="20000"/>
          </a:bodyPr>
          <a:lstStyle/>
          <a:p>
            <a:pPr>
              <a:defRPr/>
            </a:pPr>
            <a:r>
              <a:rPr lang="he-IL" sz="2400" b="1" u="sng" dirty="0" smtClean="0"/>
              <a:t>הגדרות</a:t>
            </a:r>
            <a:r>
              <a:rPr lang="he-IL" sz="2400" dirty="0" smtClean="0"/>
              <a:t> – </a:t>
            </a:r>
          </a:p>
          <a:p>
            <a:pPr>
              <a:defRPr/>
            </a:pPr>
            <a:r>
              <a:rPr lang="he-IL" sz="2400" b="1" dirty="0" smtClean="0"/>
              <a:t>תשריט </a:t>
            </a:r>
            <a:r>
              <a:rPr lang="he-IL" sz="2400" b="1" dirty="0" err="1" smtClean="0"/>
              <a:t>לתעוד</a:t>
            </a:r>
            <a:r>
              <a:rPr lang="he-IL" sz="2400" b="1" dirty="0" smtClean="0"/>
              <a:t> </a:t>
            </a:r>
            <a:r>
              <a:rPr lang="he-IL" sz="2400" b="1" dirty="0" smtClean="0"/>
              <a:t>גבולות </a:t>
            </a:r>
            <a:r>
              <a:rPr lang="he-IL" sz="2400" b="1" dirty="0" smtClean="0"/>
              <a:t>(</a:t>
            </a:r>
            <a:r>
              <a:rPr lang="he-IL" sz="2400" b="1" dirty="0" err="1" smtClean="0"/>
              <a:t>תת”ג</a:t>
            </a:r>
            <a:r>
              <a:rPr lang="he-IL" sz="2400" b="1" dirty="0" smtClean="0"/>
              <a:t>)</a:t>
            </a:r>
            <a:r>
              <a:rPr lang="he-IL" sz="2400" dirty="0" smtClean="0"/>
              <a:t> </a:t>
            </a:r>
            <a:r>
              <a:rPr lang="he-IL" sz="2600" dirty="0" smtClean="0"/>
              <a:t>- ת</a:t>
            </a:r>
            <a:r>
              <a:rPr lang="he-IL" sz="2400" dirty="0" smtClean="0"/>
              <a:t>שריט </a:t>
            </a:r>
            <a:r>
              <a:rPr lang="he-IL" sz="2400" dirty="0" smtClean="0"/>
              <a:t>המתעד את שיחזור הגבולות של חלקות רשומות. תשריט מסוג זה יוכן רק כאשר </a:t>
            </a:r>
            <a:r>
              <a:rPr lang="he-IL" sz="2400" dirty="0" err="1" smtClean="0"/>
              <a:t>בבנק"ל</a:t>
            </a:r>
            <a:r>
              <a:rPr lang="he-IL" sz="2400" dirty="0" smtClean="0"/>
              <a:t> אין </a:t>
            </a:r>
            <a:r>
              <a:rPr lang="he-IL" sz="2400" dirty="0" err="1" smtClean="0"/>
              <a:t>קואורדינטות</a:t>
            </a:r>
            <a:r>
              <a:rPr lang="he-IL" sz="2400" dirty="0" smtClean="0"/>
              <a:t> בסיווג 1 לנקודות הגבול של החלקות המשתתפות בו. </a:t>
            </a:r>
            <a:endParaRPr lang="en-US" sz="2600" dirty="0"/>
          </a:p>
          <a:p>
            <a:pPr marL="0" indent="0">
              <a:buFont typeface="Arial" pitchFamily="34" charset="0"/>
              <a:buNone/>
              <a:defRPr/>
            </a:pPr>
            <a:endParaRPr lang="he-IL" sz="2400" b="1" u="sng" dirty="0" smtClean="0"/>
          </a:p>
          <a:p>
            <a:pPr marL="0" indent="0">
              <a:buFont typeface="Arial" pitchFamily="34" charset="0"/>
              <a:buNone/>
              <a:defRPr/>
            </a:pPr>
            <a:r>
              <a:rPr lang="he-IL" sz="2400" dirty="0"/>
              <a:t>הגשת תכנית לצורכי רישום </a:t>
            </a:r>
            <a:r>
              <a:rPr lang="he-IL" sz="2400" dirty="0" smtClean="0"/>
              <a:t>ותשריט </a:t>
            </a:r>
            <a:r>
              <a:rPr lang="he-IL" sz="2400" dirty="0"/>
              <a:t>לתיעוד גבולות לביקורת </a:t>
            </a:r>
            <a:r>
              <a:rPr lang="he-IL" sz="2400" dirty="0" smtClean="0"/>
              <a:t>ואישור:</a:t>
            </a:r>
          </a:p>
          <a:p>
            <a:pPr>
              <a:defRPr/>
            </a:pPr>
            <a:r>
              <a:rPr lang="he-IL" sz="2400" dirty="0" smtClean="0"/>
              <a:t>12.	(ב)	</a:t>
            </a:r>
            <a:r>
              <a:rPr lang="he-IL" sz="2400" dirty="0"/>
              <a:t>מודד יגיש כל תכנית לתיעוד גבולות לביקורת המנהל או של מודד – מבקר. תכנית  לתיעוד גבולות תאושר בכתב ע"י המנהל </a:t>
            </a:r>
            <a:r>
              <a:rPr lang="he-IL" sz="2500" dirty="0"/>
              <a:t>בנוסח: </a:t>
            </a:r>
            <a:r>
              <a:rPr lang="he-IL" sz="2500" dirty="0" smtClean="0"/>
              <a:t>""התשריט מאושר </a:t>
            </a:r>
            <a:r>
              <a:rPr lang="he-IL" sz="2500" dirty="0" err="1" smtClean="0"/>
              <a:t>לתעוד</a:t>
            </a:r>
            <a:r>
              <a:rPr lang="he-IL" sz="2500" dirty="0" smtClean="0"/>
              <a:t> גבולות</a:t>
            </a:r>
            <a:r>
              <a:rPr lang="he-IL" sz="2500" dirty="0" smtClean="0"/>
              <a:t>".</a:t>
            </a:r>
            <a:endParaRPr lang="he-IL" sz="2500" dirty="0" smtClean="0"/>
          </a:p>
          <a:p>
            <a:pPr>
              <a:defRPr/>
            </a:pPr>
            <a:endParaRPr lang="he-IL" sz="2400" dirty="0" smtClean="0"/>
          </a:p>
          <a:p>
            <a:pPr marL="0" indent="0">
              <a:buFont typeface="Arial" pitchFamily="34" charset="0"/>
              <a:buNone/>
              <a:defRPr/>
            </a:pPr>
            <a:r>
              <a:rPr lang="he-IL" sz="2500" dirty="0" smtClean="0"/>
              <a:t>32. עריכת </a:t>
            </a:r>
            <a:r>
              <a:rPr lang="he-IL" sz="2500" dirty="0"/>
              <a:t>תכנית לצורכי רישום </a:t>
            </a:r>
            <a:r>
              <a:rPr lang="he-IL" sz="2500" dirty="0" smtClean="0"/>
              <a:t>ותשריט </a:t>
            </a:r>
            <a:r>
              <a:rPr lang="he-IL" sz="2500" dirty="0"/>
              <a:t>לתיעוד </a:t>
            </a:r>
            <a:r>
              <a:rPr lang="he-IL" sz="2500" dirty="0" smtClean="0"/>
              <a:t>גבולות:</a:t>
            </a:r>
          </a:p>
          <a:p>
            <a:pPr>
              <a:defRPr/>
            </a:pPr>
            <a:r>
              <a:rPr lang="he-IL" sz="2500" dirty="0" smtClean="0"/>
              <a:t>ג </a:t>
            </a:r>
            <a:r>
              <a:rPr lang="he-IL" sz="2500" dirty="0" smtClean="0"/>
              <a:t>(1) לצד עמודת השטחים הרשומים של החלקות בטבלת השטחים של </a:t>
            </a:r>
            <a:r>
              <a:rPr lang="he-IL" sz="2500" dirty="0" err="1" smtClean="0"/>
              <a:t>תת”ג</a:t>
            </a:r>
            <a:r>
              <a:rPr lang="he-IL" sz="2500" dirty="0" smtClean="0"/>
              <a:t> </a:t>
            </a:r>
            <a:r>
              <a:rPr lang="he-IL" sz="2500" dirty="0" err="1" smtClean="0"/>
              <a:t>יצויינו</a:t>
            </a:r>
            <a:r>
              <a:rPr lang="he-IL" sz="2500" dirty="0" smtClean="0"/>
              <a:t> שטחיהן המחושבים.</a:t>
            </a:r>
          </a:p>
          <a:p>
            <a:pPr>
              <a:defRPr/>
            </a:pPr>
            <a:endParaRPr lang="he-IL" sz="2400" dirty="0"/>
          </a:p>
          <a:p>
            <a:pPr>
              <a:buNone/>
            </a:pPr>
            <a:r>
              <a:rPr lang="he-IL" sz="2400" dirty="0" smtClean="0"/>
              <a:t>40 תיקון </a:t>
            </a:r>
            <a:r>
              <a:rPr lang="he-IL" sz="2400" dirty="0" err="1" smtClean="0"/>
              <a:t>תת”ג</a:t>
            </a:r>
            <a:r>
              <a:rPr lang="he-IL" sz="2400" dirty="0" smtClean="0"/>
              <a:t> שאושר</a:t>
            </a:r>
            <a:endParaRPr lang="en-US" sz="2400" dirty="0" smtClean="0"/>
          </a:p>
          <a:p>
            <a:r>
              <a:rPr lang="he-IL" sz="2400" dirty="0" smtClean="0"/>
              <a:t>(</a:t>
            </a:r>
            <a:r>
              <a:rPr lang="he-IL" sz="2400" dirty="0" smtClean="0"/>
              <a:t>1)  תיקון שגיאה </a:t>
            </a:r>
            <a:r>
              <a:rPr lang="he-IL" sz="2400" dirty="0" err="1" smtClean="0"/>
              <a:t>בתת"ג</a:t>
            </a:r>
            <a:r>
              <a:rPr lang="he-IL" sz="2400" dirty="0" smtClean="0"/>
              <a:t> שאושר יבוצע לאחר אישור המנהל, ובהתאם להנחיות המנהל.</a:t>
            </a:r>
            <a:endParaRPr lang="en-US" sz="2400" dirty="0" smtClean="0"/>
          </a:p>
          <a:p>
            <a:r>
              <a:rPr lang="he-IL" sz="2400" dirty="0" smtClean="0"/>
              <a:t>(</a:t>
            </a:r>
            <a:r>
              <a:rPr lang="he-IL" sz="2400" dirty="0" smtClean="0"/>
              <a:t>2)  מצא המנהל שגיאה </a:t>
            </a:r>
            <a:r>
              <a:rPr lang="he-IL" sz="2400" dirty="0" err="1" smtClean="0"/>
              <a:t>בתת"ג</a:t>
            </a:r>
            <a:r>
              <a:rPr lang="he-IL" sz="2400" dirty="0" smtClean="0"/>
              <a:t> שאושר, יודיע על כך למזמין </a:t>
            </a:r>
            <a:r>
              <a:rPr lang="he-IL" sz="2400" dirty="0" err="1" smtClean="0"/>
              <a:t>התת"ג</a:t>
            </a:r>
            <a:r>
              <a:rPr lang="he-IL" sz="2400" dirty="0" smtClean="0"/>
              <a:t> ולמודד שהכין אותו, על השהיית האישור, וירשום זאת בחומר ביסוס של המרכז למיפוי ישראל. בתום הטיפול בתיקון השגיאה יודיע המנהל למזמין </a:t>
            </a:r>
            <a:r>
              <a:rPr lang="he-IL" sz="2400" dirty="0" err="1" smtClean="0"/>
              <a:t>התת"ג</a:t>
            </a:r>
            <a:r>
              <a:rPr lang="he-IL" sz="2400" dirty="0" smtClean="0"/>
              <a:t> ולמודד שהכין אותו, על תוצאות הטיפול לפי העניין, וירשום זאת בחומר ביסוס של המרכז למיפוי ישראל.</a:t>
            </a:r>
            <a:endParaRPr lang="en-US" sz="2400" dirty="0" smtClean="0"/>
          </a:p>
          <a:p>
            <a:pPr>
              <a:defRPr/>
            </a:pPr>
            <a:endParaRPr lang="en-US" sz="2400" dirty="0" smtClean="0"/>
          </a:p>
          <a:p>
            <a:pPr>
              <a:defRPr/>
            </a:pPr>
            <a:endParaRPr lang="he-IL"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 calcmode="lin" valueType="num">
                                      <p:cBhvr additive="base">
                                        <p:cTn id="4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 calcmode="lin" valueType="num">
                                      <p:cBhvr additive="base">
                                        <p:cTn id="4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285852" y="214290"/>
            <a:ext cx="7072362" cy="700110"/>
          </a:xfrm>
          <a:solidFill>
            <a:schemeClr val="bg1">
              <a:lumMod val="85000"/>
            </a:schemeClr>
          </a:solidFill>
          <a:ln>
            <a:solidFill>
              <a:schemeClr val="bg1">
                <a:lumMod val="85000"/>
              </a:schemeClr>
            </a:solidFill>
          </a:ln>
        </p:spPr>
        <p:txBody>
          <a:bodyPr>
            <a:normAutofit fontScale="90000"/>
          </a:bodyPr>
          <a:lstStyle/>
          <a:p>
            <a:pPr eaLnBrk="1" hangingPunct="1"/>
            <a:r>
              <a:rPr lang="he-IL" sz="4000" b="1" smtClean="0">
                <a:solidFill>
                  <a:srgbClr val="0000FF"/>
                </a:solidFill>
              </a:rPr>
              <a:t>3. דגש ועדיפות למסמכים ממוחשבים</a:t>
            </a:r>
            <a:endParaRPr lang="en-US" sz="4000" b="1" smtClean="0">
              <a:solidFill>
                <a:srgbClr val="0000FF"/>
              </a:solidFill>
              <a:cs typeface="Times New Roman" pitchFamily="18" charset="0"/>
            </a:endParaRPr>
          </a:p>
        </p:txBody>
      </p:sp>
      <p:pic>
        <p:nvPicPr>
          <p:cNvPr id="12291" name="Picture 3" descr="MVC-002F"/>
          <p:cNvPicPr>
            <a:picLocks noChangeAspect="1" noChangeArrowheads="1"/>
          </p:cNvPicPr>
          <p:nvPr/>
        </p:nvPicPr>
        <p:blipFill>
          <a:blip r:embed="rId2" cstate="print"/>
          <a:srcRect/>
          <a:stretch>
            <a:fillRect/>
          </a:stretch>
        </p:blipFill>
        <p:spPr bwMode="auto">
          <a:xfrm>
            <a:off x="3492500" y="2414588"/>
            <a:ext cx="5638800" cy="4416425"/>
          </a:xfrm>
          <a:prstGeom prst="rect">
            <a:avLst/>
          </a:prstGeom>
          <a:noFill/>
          <a:ln w="9525">
            <a:noFill/>
            <a:miter lim="800000"/>
            <a:headEnd/>
            <a:tailEnd/>
          </a:ln>
        </p:spPr>
      </p:pic>
      <p:sp>
        <p:nvSpPr>
          <p:cNvPr id="12292" name="Text Box 8"/>
          <p:cNvSpPr txBox="1">
            <a:spLocks noChangeArrowheads="1"/>
          </p:cNvSpPr>
          <p:nvPr/>
        </p:nvSpPr>
        <p:spPr bwMode="auto">
          <a:xfrm>
            <a:off x="5559425" y="1511300"/>
            <a:ext cx="3465513" cy="539750"/>
          </a:xfrm>
          <a:prstGeom prst="rect">
            <a:avLst/>
          </a:prstGeom>
          <a:noFill/>
          <a:ln w="9525">
            <a:noFill/>
            <a:miter lim="800000"/>
            <a:headEnd/>
            <a:tailEnd/>
          </a:ln>
        </p:spPr>
        <p:txBody>
          <a:bodyPr>
            <a:spAutoFit/>
          </a:bodyPr>
          <a:lstStyle/>
          <a:p>
            <a:pPr>
              <a:spcBef>
                <a:spcPct val="50000"/>
              </a:spcBef>
            </a:pPr>
            <a:r>
              <a:rPr lang="he-IL" sz="3200">
                <a:solidFill>
                  <a:schemeClr val="tx2"/>
                </a:solidFill>
                <a:latin typeface="Times New Roman" pitchFamily="18" charset="0"/>
                <a:cs typeface="Times New Roman" pitchFamily="18" charset="0"/>
              </a:rPr>
              <a:t>ממפות ומסמכי נייר</a:t>
            </a:r>
            <a:endParaRPr lang="en-US" sz="3200">
              <a:solidFill>
                <a:schemeClr val="tx2"/>
              </a:solidFill>
              <a:latin typeface="Times New Roman" pitchFamily="18" charset="0"/>
              <a:cs typeface="Times New Roman" pitchFamily="18" charset="0"/>
            </a:endParaRPr>
          </a:p>
        </p:txBody>
      </p:sp>
      <p:sp>
        <p:nvSpPr>
          <p:cNvPr id="12293" name="AutoShape 9"/>
          <p:cNvSpPr>
            <a:spLocks noChangeArrowheads="1"/>
          </p:cNvSpPr>
          <p:nvPr/>
        </p:nvSpPr>
        <p:spPr bwMode="auto">
          <a:xfrm rot="10800000">
            <a:off x="2484438" y="4183063"/>
            <a:ext cx="1416050" cy="381000"/>
          </a:xfrm>
          <a:prstGeom prst="rightArrow">
            <a:avLst>
              <a:gd name="adj1" fmla="val 50000"/>
              <a:gd name="adj2" fmla="val 144898"/>
            </a:avLst>
          </a:prstGeom>
          <a:solidFill>
            <a:srgbClr val="FFFF00"/>
          </a:solidFill>
          <a:ln w="9525">
            <a:solidFill>
              <a:srgbClr val="FF0066"/>
            </a:solidFill>
            <a:miter lim="800000"/>
            <a:headEnd/>
            <a:tailEnd/>
          </a:ln>
        </p:spPr>
        <p:txBody>
          <a:bodyPr wrap="none" anchor="ctr"/>
          <a:lstStyle/>
          <a:p>
            <a:endParaRPr lang="he-IL"/>
          </a:p>
        </p:txBody>
      </p:sp>
      <p:grpSp>
        <p:nvGrpSpPr>
          <p:cNvPr id="2" name="קבוצה 3"/>
          <p:cNvGrpSpPr>
            <a:grpSpLocks/>
          </p:cNvGrpSpPr>
          <p:nvPr/>
        </p:nvGrpSpPr>
        <p:grpSpPr bwMode="auto">
          <a:xfrm>
            <a:off x="-12700" y="1541463"/>
            <a:ext cx="2563813" cy="3419475"/>
            <a:chOff x="-13053" y="1542072"/>
            <a:chExt cx="2564095" cy="3418965"/>
          </a:xfrm>
        </p:grpSpPr>
        <p:pic>
          <p:nvPicPr>
            <p:cNvPr id="12295" name="Picture 8" descr="http://www.pocketpcfreak.com/archive/Pretec_solid_1.jpg"/>
            <p:cNvPicPr>
              <a:picLocks noChangeAspect="1" noChangeArrowheads="1"/>
            </p:cNvPicPr>
            <p:nvPr/>
          </p:nvPicPr>
          <p:blipFill>
            <a:blip r:embed="rId3" cstate="print"/>
            <a:srcRect t="12083" r="24205"/>
            <a:stretch>
              <a:fillRect/>
            </a:stretch>
          </p:blipFill>
          <p:spPr bwMode="auto">
            <a:xfrm>
              <a:off x="-13053" y="2730411"/>
              <a:ext cx="2564095" cy="2230626"/>
            </a:xfrm>
            <a:prstGeom prst="rect">
              <a:avLst/>
            </a:prstGeom>
            <a:noFill/>
            <a:ln w="9525">
              <a:noFill/>
              <a:miter lim="800000"/>
              <a:headEnd/>
              <a:tailEnd/>
            </a:ln>
          </p:spPr>
        </p:pic>
        <p:sp>
          <p:nvSpPr>
            <p:cNvPr id="12296" name="Text Box 10"/>
            <p:cNvSpPr txBox="1">
              <a:spLocks noChangeArrowheads="1"/>
            </p:cNvSpPr>
            <p:nvPr/>
          </p:nvSpPr>
          <p:spPr bwMode="auto">
            <a:xfrm>
              <a:off x="188874" y="1542072"/>
              <a:ext cx="2160240" cy="584775"/>
            </a:xfrm>
            <a:prstGeom prst="rect">
              <a:avLst/>
            </a:prstGeom>
            <a:noFill/>
            <a:ln w="9525">
              <a:noFill/>
              <a:miter lim="800000"/>
              <a:headEnd/>
              <a:tailEnd/>
            </a:ln>
          </p:spPr>
          <p:txBody>
            <a:bodyPr>
              <a:spAutoFit/>
            </a:bodyPr>
            <a:lstStyle/>
            <a:p>
              <a:pPr>
                <a:spcBef>
                  <a:spcPct val="50000"/>
                </a:spcBef>
              </a:pPr>
              <a:r>
                <a:rPr lang="he-IL" sz="3200">
                  <a:solidFill>
                    <a:schemeClr val="tx2"/>
                  </a:solidFill>
                  <a:latin typeface="Times New Roman" pitchFamily="18" charset="0"/>
                  <a:cs typeface="Times New Roman" pitchFamily="18" charset="0"/>
                </a:rPr>
                <a:t>למדיה מגנטית</a:t>
              </a:r>
              <a:endParaRPr lang="en-US" sz="3200">
                <a:solidFill>
                  <a:schemeClr val="tx2"/>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כותרת 1"/>
          <p:cNvSpPr>
            <a:spLocks noGrp="1"/>
          </p:cNvSpPr>
          <p:nvPr>
            <p:ph type="title"/>
          </p:nvPr>
        </p:nvSpPr>
        <p:spPr>
          <a:xfrm>
            <a:off x="0" y="0"/>
            <a:ext cx="9144000" cy="908050"/>
          </a:xfrm>
          <a:solidFill>
            <a:schemeClr val="bg1">
              <a:lumMod val="85000"/>
            </a:schemeClr>
          </a:solidFill>
          <a:ln>
            <a:solidFill>
              <a:schemeClr val="bg1">
                <a:lumMod val="85000"/>
              </a:schemeClr>
            </a:solidFill>
          </a:ln>
        </p:spPr>
        <p:txBody>
          <a:bodyPr>
            <a:normAutofit fontScale="90000"/>
          </a:bodyPr>
          <a:lstStyle/>
          <a:p>
            <a:r>
              <a:rPr lang="he-IL" sz="3200" smtClean="0">
                <a:solidFill>
                  <a:srgbClr val="0000FF"/>
                </a:solidFill>
              </a:rPr>
              <a:t>3. איך בא לידי ביטוי הדגש ועדיפות למסמכים ממוחשבים בתקנות החדשות?</a:t>
            </a:r>
          </a:p>
        </p:txBody>
      </p:sp>
      <p:sp>
        <p:nvSpPr>
          <p:cNvPr id="3" name="מציין מיקום תוכן 2"/>
          <p:cNvSpPr>
            <a:spLocks noGrp="1"/>
          </p:cNvSpPr>
          <p:nvPr>
            <p:ph idx="1"/>
          </p:nvPr>
        </p:nvSpPr>
        <p:spPr>
          <a:xfrm>
            <a:off x="4643438" y="1412875"/>
            <a:ext cx="4321175" cy="5445125"/>
          </a:xfrm>
          <a:ln>
            <a:solidFill>
              <a:srgbClr val="FF0000"/>
            </a:solidFill>
          </a:ln>
        </p:spPr>
        <p:txBody>
          <a:bodyPr>
            <a:normAutofit fontScale="85000" lnSpcReduction="10000"/>
          </a:bodyPr>
          <a:lstStyle/>
          <a:p>
            <a:pPr marL="0" indent="0">
              <a:buFont typeface="Arial" pitchFamily="34" charset="0"/>
              <a:buNone/>
              <a:defRPr/>
            </a:pPr>
            <a:r>
              <a:rPr lang="he-IL" sz="2400" dirty="0" smtClean="0"/>
              <a:t>52</a:t>
            </a:r>
            <a:r>
              <a:rPr lang="he-IL" sz="2400" dirty="0"/>
              <a:t>	מודד המגיש תכנית לאישור המנהל, כאמור בתקנה 51(א), יצרף גם מסמכים אלה: </a:t>
            </a:r>
            <a:endParaRPr lang="en-US" sz="2400" dirty="0"/>
          </a:p>
          <a:p>
            <a:pPr marL="0" indent="0">
              <a:buFont typeface="Arial" pitchFamily="34" charset="0"/>
              <a:buNone/>
              <a:defRPr/>
            </a:pPr>
            <a:r>
              <a:rPr lang="he-IL" sz="2400" dirty="0"/>
              <a:t>(1)	העקב מקורי של התכנית או עותק שלה מותווה בתוויין, כמפורט בתקנה 66; </a:t>
            </a:r>
            <a:endParaRPr lang="en-US" sz="2400" dirty="0"/>
          </a:p>
          <a:p>
            <a:pPr marL="0" indent="0">
              <a:buFont typeface="Arial" pitchFamily="34" charset="0"/>
              <a:buNone/>
              <a:defRPr/>
            </a:pPr>
            <a:r>
              <a:rPr lang="he-IL" sz="2400" dirty="0"/>
              <a:t>(2)	שני העתקי אור של התכנית, או שני העתקים נוספים מותווים בתוויין, על נייר שרטוט; </a:t>
            </a:r>
            <a:endParaRPr lang="en-US" sz="2400" dirty="0"/>
          </a:p>
          <a:p>
            <a:pPr marL="0" indent="0">
              <a:buFont typeface="Arial" pitchFamily="34" charset="0"/>
              <a:buNone/>
              <a:defRPr/>
            </a:pPr>
            <a:r>
              <a:rPr lang="he-IL" sz="2400" dirty="0"/>
              <a:t> </a:t>
            </a:r>
            <a:r>
              <a:rPr lang="he-IL" sz="2400" dirty="0" smtClean="0"/>
              <a:t>(</a:t>
            </a:r>
            <a:r>
              <a:rPr lang="he-IL" sz="2400" dirty="0"/>
              <a:t>3)	החישובים שערך המודד לצורך התכנית ערוכים על דפים בגודל גיליון 4</a:t>
            </a:r>
            <a:r>
              <a:rPr lang="en-US" sz="2400" dirty="0"/>
              <a:t>A</a:t>
            </a:r>
            <a:r>
              <a:rPr lang="he-IL" sz="2400" dirty="0"/>
              <a:t>, או על דפי פלט של מחשב, ממוספרים ומסודרים, בצירוף מפתח לנקודות ורשימות קואורדינטות, וכן תדפיס פרטי המדידה או צילומים של פנקסי השדה; </a:t>
            </a:r>
            <a:endParaRPr lang="en-US" sz="2400" dirty="0"/>
          </a:p>
          <a:p>
            <a:pPr marL="0" indent="0">
              <a:buFont typeface="Arial" pitchFamily="34" charset="0"/>
              <a:buNone/>
              <a:defRPr/>
            </a:pPr>
            <a:r>
              <a:rPr lang="he-IL" sz="2400" dirty="0"/>
              <a:t>(4)	רישומים על אמצעים מגנטיים בהתאם להנחיות הטכניות שיפרסם המנהל או בכל דרך אחרת שאישר המנהל. </a:t>
            </a:r>
            <a:endParaRPr lang="en-US" sz="2400" dirty="0"/>
          </a:p>
          <a:p>
            <a:pPr>
              <a:defRPr/>
            </a:pPr>
            <a:endParaRPr lang="en-US" sz="2400" dirty="0" smtClean="0"/>
          </a:p>
          <a:p>
            <a:pPr>
              <a:defRPr/>
            </a:pPr>
            <a:endParaRPr lang="en-US" sz="2400" dirty="0" smtClean="0"/>
          </a:p>
          <a:p>
            <a:pPr>
              <a:defRPr/>
            </a:pPr>
            <a:endParaRPr lang="he-IL" dirty="0"/>
          </a:p>
        </p:txBody>
      </p:sp>
      <p:sp>
        <p:nvSpPr>
          <p:cNvPr id="4" name="מציין מיקום תוכן 2"/>
          <p:cNvSpPr txBox="1">
            <a:spLocks/>
          </p:cNvSpPr>
          <p:nvPr/>
        </p:nvSpPr>
        <p:spPr bwMode="auto">
          <a:xfrm>
            <a:off x="0" y="1412875"/>
            <a:ext cx="4321175" cy="5445125"/>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a:normAutofit/>
          </a:bodyPr>
          <a:lstStyle>
            <a:lvl1pPr marL="342900" indent="-342900" algn="r" rtl="1"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he-IL" sz="2400" dirty="0" smtClean="0"/>
              <a:t>13. </a:t>
            </a:r>
            <a:r>
              <a:rPr lang="he-IL" sz="2400" dirty="0" err="1" smtClean="0"/>
              <a:t>תצ"ר</a:t>
            </a:r>
            <a:r>
              <a:rPr lang="he-IL" sz="2400" dirty="0" smtClean="0"/>
              <a:t> </a:t>
            </a:r>
            <a:r>
              <a:rPr lang="he-IL" sz="2400" dirty="0" smtClean="0"/>
              <a:t>או </a:t>
            </a:r>
            <a:r>
              <a:rPr lang="he-IL" sz="2400" dirty="0" err="1" smtClean="0"/>
              <a:t>תת"ג</a:t>
            </a:r>
            <a:r>
              <a:rPr lang="he-IL" sz="2400" dirty="0" smtClean="0"/>
              <a:t> המוגשים לאישור המנהל, כאמור בתקנות משנה 12 (א) ו-12 (ב), יכללו את המסמכים הבאים:</a:t>
            </a:r>
            <a:endParaRPr lang="en-US" sz="2400" dirty="0" smtClean="0"/>
          </a:p>
          <a:p>
            <a:r>
              <a:rPr lang="he-IL" sz="2400" dirty="0" smtClean="0"/>
              <a:t>(1) מפה ערוכה לפי תקנה 32, הנושאת חתימה של המודד לפי תקנה 33.</a:t>
            </a:r>
            <a:endParaRPr lang="en-US" sz="2400" dirty="0" smtClean="0"/>
          </a:p>
          <a:p>
            <a:r>
              <a:rPr lang="he-IL" sz="2400" dirty="0" smtClean="0"/>
              <a:t>(2) פרשה טכנית המפרטת את אופן שחזור הגבולות הרשומים, בהתאם להנחיות המנהל.</a:t>
            </a:r>
            <a:endParaRPr lang="en-US" sz="2400" dirty="0" smtClean="0"/>
          </a:p>
          <a:p>
            <a:r>
              <a:rPr lang="he-IL" sz="2400" dirty="0" smtClean="0"/>
              <a:t>(3)  קבצים ומסמכים בהתאם להנחיות המנהל.</a:t>
            </a:r>
            <a:endParaRPr lang="en-US" sz="2400" dirty="0" smtClean="0"/>
          </a:p>
          <a:p>
            <a:pPr>
              <a:defRPr/>
            </a:pPr>
            <a:endParaRPr lang="en-US" sz="2400" dirty="0" smtClean="0"/>
          </a:p>
          <a:p>
            <a:pPr>
              <a:defRPr/>
            </a:pPr>
            <a:endParaRPr lang="en-US" sz="2400" dirty="0" smtClean="0"/>
          </a:p>
          <a:p>
            <a:pPr>
              <a:defRPr/>
            </a:pPr>
            <a:endParaRPr lang="he-IL" dirty="0"/>
          </a:p>
        </p:txBody>
      </p:sp>
      <p:sp>
        <p:nvSpPr>
          <p:cNvPr id="7" name="חץ ימינה 6"/>
          <p:cNvSpPr/>
          <p:nvPr/>
        </p:nvSpPr>
        <p:spPr>
          <a:xfrm rot="10800000">
            <a:off x="4276725" y="3824288"/>
            <a:ext cx="431800" cy="288925"/>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3318" name="TextBox 7"/>
          <p:cNvSpPr txBox="1">
            <a:spLocks noChangeArrowheads="1"/>
          </p:cNvSpPr>
          <p:nvPr/>
        </p:nvSpPr>
        <p:spPr bwMode="auto">
          <a:xfrm>
            <a:off x="5148263" y="1042988"/>
            <a:ext cx="3240087" cy="369887"/>
          </a:xfrm>
          <a:prstGeom prst="rect">
            <a:avLst/>
          </a:prstGeom>
          <a:noFill/>
          <a:ln w="9525">
            <a:noFill/>
            <a:miter lim="800000"/>
            <a:headEnd/>
            <a:tailEnd/>
          </a:ln>
        </p:spPr>
        <p:txBody>
          <a:bodyPr>
            <a:spAutoFit/>
          </a:bodyPr>
          <a:lstStyle/>
          <a:p>
            <a:pPr algn="ctr"/>
            <a:r>
              <a:rPr lang="he-IL">
                <a:solidFill>
                  <a:srgbClr val="0000FF"/>
                </a:solidFill>
              </a:rPr>
              <a:t>תקנות 1998</a:t>
            </a:r>
          </a:p>
        </p:txBody>
      </p:sp>
      <p:sp>
        <p:nvSpPr>
          <p:cNvPr id="13319" name="TextBox 8"/>
          <p:cNvSpPr txBox="1">
            <a:spLocks noChangeArrowheads="1"/>
          </p:cNvSpPr>
          <p:nvPr/>
        </p:nvSpPr>
        <p:spPr bwMode="auto">
          <a:xfrm>
            <a:off x="395288" y="1042988"/>
            <a:ext cx="3240087" cy="369887"/>
          </a:xfrm>
          <a:prstGeom prst="rect">
            <a:avLst/>
          </a:prstGeom>
          <a:noFill/>
          <a:ln w="9525">
            <a:noFill/>
            <a:miter lim="800000"/>
            <a:headEnd/>
            <a:tailEnd/>
          </a:ln>
        </p:spPr>
        <p:txBody>
          <a:bodyPr>
            <a:spAutoFit/>
          </a:bodyPr>
          <a:lstStyle/>
          <a:p>
            <a:pPr algn="ctr"/>
            <a:r>
              <a:rPr lang="he-IL" dirty="0">
                <a:solidFill>
                  <a:srgbClr val="0000FF"/>
                </a:solidFill>
              </a:rPr>
              <a:t>טיוטה </a:t>
            </a:r>
            <a:r>
              <a:rPr lang="he-IL" dirty="0" smtClean="0">
                <a:solidFill>
                  <a:srgbClr val="0000FF"/>
                </a:solidFill>
              </a:rPr>
              <a:t>2013</a:t>
            </a:r>
            <a:endParaRPr lang="he-IL" dirty="0">
              <a:solidFill>
                <a:srgbClr val="0000FF"/>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כותרת 1"/>
          <p:cNvSpPr>
            <a:spLocks noGrp="1"/>
          </p:cNvSpPr>
          <p:nvPr>
            <p:ph type="title"/>
          </p:nvPr>
        </p:nvSpPr>
        <p:spPr>
          <a:xfrm>
            <a:off x="0" y="0"/>
            <a:ext cx="9144000" cy="908050"/>
          </a:xfrm>
          <a:solidFill>
            <a:schemeClr val="bg1">
              <a:lumMod val="85000"/>
            </a:schemeClr>
          </a:solidFill>
          <a:ln>
            <a:solidFill>
              <a:schemeClr val="bg1">
                <a:lumMod val="85000"/>
              </a:schemeClr>
            </a:solidFill>
          </a:ln>
        </p:spPr>
        <p:txBody>
          <a:bodyPr/>
          <a:lstStyle/>
          <a:p>
            <a:r>
              <a:rPr lang="he-IL" sz="3200" smtClean="0">
                <a:solidFill>
                  <a:srgbClr val="0000FF"/>
                </a:solidFill>
              </a:rPr>
              <a:t>4. איך בא לידי ביטוי העברת נושאים טכניים להנחיות?</a:t>
            </a:r>
          </a:p>
        </p:txBody>
      </p:sp>
      <p:sp>
        <p:nvSpPr>
          <p:cNvPr id="3" name="מציין מיקום תוכן 2"/>
          <p:cNvSpPr>
            <a:spLocks noGrp="1"/>
          </p:cNvSpPr>
          <p:nvPr>
            <p:ph idx="1"/>
          </p:nvPr>
        </p:nvSpPr>
        <p:spPr>
          <a:xfrm>
            <a:off x="4643438" y="1412875"/>
            <a:ext cx="4321175" cy="5445125"/>
          </a:xfrm>
          <a:ln>
            <a:solidFill>
              <a:srgbClr val="FF0000"/>
            </a:solidFill>
          </a:ln>
        </p:spPr>
        <p:txBody>
          <a:bodyPr>
            <a:normAutofit fontScale="62500" lnSpcReduction="20000"/>
          </a:bodyPr>
          <a:lstStyle/>
          <a:p>
            <a:pPr marL="0" indent="0">
              <a:buFont typeface="Arial" pitchFamily="34" charset="0"/>
              <a:buNone/>
              <a:defRPr/>
            </a:pPr>
            <a:r>
              <a:rPr lang="he-IL" sz="2400" dirty="0" smtClean="0"/>
              <a:t>64 (א)  מודד ימדוד ויציין בתכנית, נוסף על הגבולות של החלקות, את הפרטים שלהלן, בין אם הם נמצאים בתכנית ובין אם מחוץ לגבולה בשטחים פתוחים או ציבוריים, עד למרחק של 10 מטרים או יותר: </a:t>
            </a:r>
          </a:p>
          <a:p>
            <a:pPr marL="0" indent="0">
              <a:buFont typeface="Arial" pitchFamily="34" charset="0"/>
              <a:buNone/>
              <a:defRPr/>
            </a:pPr>
            <a:endParaRPr lang="he-IL" sz="2400" dirty="0" smtClean="0"/>
          </a:p>
          <a:p>
            <a:pPr marL="0" indent="0">
              <a:buFont typeface="Arial" pitchFamily="34" charset="0"/>
              <a:buNone/>
              <a:defRPr/>
            </a:pPr>
            <a:r>
              <a:rPr lang="he-IL" sz="2400" dirty="0" smtClean="0"/>
              <a:t>(1) מבנים קבועים; </a:t>
            </a:r>
          </a:p>
          <a:p>
            <a:pPr marL="0" indent="0">
              <a:buFont typeface="Arial" pitchFamily="34" charset="0"/>
              <a:buNone/>
              <a:defRPr/>
            </a:pPr>
            <a:r>
              <a:rPr lang="he-IL" sz="2400" dirty="0" smtClean="0"/>
              <a:t>(2)נקודות בקרה אופקית לרבות מספריהן ותיאוריהן; </a:t>
            </a:r>
          </a:p>
          <a:p>
            <a:pPr marL="0" indent="0">
              <a:buFont typeface="Arial" pitchFamily="34" charset="0"/>
              <a:buNone/>
              <a:defRPr/>
            </a:pPr>
            <a:r>
              <a:rPr lang="he-IL" sz="2400" dirty="0" smtClean="0"/>
              <a:t>(3) גבולות אדמיניסטרטיביים אם הם מסומנים בקרקע; אם אינם מסומנים בקרקע — יצוינו לפי נתוני הכרזתם בידי שר הפנים והערה על כך תירשם בתכנית; </a:t>
            </a:r>
          </a:p>
          <a:p>
            <a:pPr marL="0" indent="0">
              <a:buFont typeface="Arial" pitchFamily="34" charset="0"/>
              <a:buNone/>
              <a:defRPr/>
            </a:pPr>
            <a:r>
              <a:rPr lang="he-IL" sz="2400" dirty="0" smtClean="0"/>
              <a:t>(4) מבנים ציבוריים ומיוחדים, בציון ייעודם; </a:t>
            </a:r>
          </a:p>
          <a:p>
            <a:pPr marL="0" indent="0">
              <a:buFont typeface="Arial" pitchFamily="34" charset="0"/>
              <a:buNone/>
              <a:defRPr/>
            </a:pPr>
            <a:r>
              <a:rPr lang="he-IL" sz="2400" dirty="0" smtClean="0"/>
              <a:t> (5) חורבות, גדרות, לרבות גדר חיה, קירות וחומות; קירות תומכים יימדדו הן בחלקם העליון והן בקווי המגע שלהם עם הקרקע; </a:t>
            </a:r>
          </a:p>
          <a:p>
            <a:pPr marL="0" indent="0">
              <a:buFont typeface="Arial" pitchFamily="34" charset="0"/>
              <a:buNone/>
              <a:defRPr/>
            </a:pPr>
            <a:r>
              <a:rPr lang="he-IL" sz="2400" dirty="0" smtClean="0"/>
              <a:t>(6) כבישים ודרכים סלולות, עמודי קילומטר, מעבירי מים וגשרים; </a:t>
            </a:r>
          </a:p>
          <a:p>
            <a:pPr marL="0" indent="0">
              <a:buFont typeface="Arial" pitchFamily="34" charset="0"/>
              <a:buNone/>
              <a:defRPr/>
            </a:pPr>
            <a:r>
              <a:rPr lang="he-IL" sz="2400" dirty="0" smtClean="0"/>
              <a:t>(7) צירי מסילת ברזל, עמודי קילומטר ועמודי גבול של שטחי רכבת; </a:t>
            </a:r>
          </a:p>
          <a:p>
            <a:pPr marL="0" indent="0">
              <a:buFont typeface="Arial" pitchFamily="34" charset="0"/>
              <a:buNone/>
              <a:defRPr/>
            </a:pPr>
            <a:r>
              <a:rPr lang="he-IL" sz="2400" dirty="0" smtClean="0"/>
              <a:t>(8) מעיינות, בארות, בורות מים, נהרות, נחלים, ואדיות ותעלות. </a:t>
            </a:r>
          </a:p>
          <a:p>
            <a:pPr marL="0" indent="0">
              <a:buFont typeface="Arial" pitchFamily="34" charset="0"/>
              <a:buNone/>
              <a:defRPr/>
            </a:pPr>
            <a:endParaRPr lang="he-IL" sz="2400" dirty="0" smtClean="0"/>
          </a:p>
          <a:p>
            <a:pPr marL="0" indent="0">
              <a:buFont typeface="Arial" pitchFamily="34" charset="0"/>
              <a:buNone/>
              <a:defRPr/>
            </a:pPr>
            <a:r>
              <a:rPr lang="he-IL" sz="2400" dirty="0" smtClean="0"/>
              <a:t>(ב)	במקרה שאין מבנים וקירות קבועים בשטח שבו מתבצעת המדידה, יימדדו גם הפרטים שלהלן: </a:t>
            </a:r>
          </a:p>
          <a:p>
            <a:pPr marL="0" indent="0">
              <a:buFont typeface="Arial" pitchFamily="34" charset="0"/>
              <a:buNone/>
              <a:defRPr/>
            </a:pPr>
            <a:r>
              <a:rPr lang="he-IL" sz="2400" dirty="0" smtClean="0"/>
              <a:t>(1)	מתקני חשמל ותקשורת, בציון מספריהם; </a:t>
            </a:r>
          </a:p>
          <a:p>
            <a:pPr marL="0" indent="0">
              <a:buFont typeface="Arial" pitchFamily="34" charset="0"/>
              <a:buNone/>
              <a:defRPr/>
            </a:pPr>
            <a:r>
              <a:rPr lang="he-IL" sz="2400" dirty="0" smtClean="0"/>
              <a:t>(2)	שוחות בקרה.</a:t>
            </a:r>
            <a:endParaRPr lang="en-US" sz="2400" dirty="0" smtClean="0"/>
          </a:p>
          <a:p>
            <a:pPr>
              <a:defRPr/>
            </a:pPr>
            <a:endParaRPr lang="en-US" sz="2400" dirty="0" smtClean="0"/>
          </a:p>
          <a:p>
            <a:pPr>
              <a:defRPr/>
            </a:pPr>
            <a:endParaRPr lang="he-IL" dirty="0"/>
          </a:p>
        </p:txBody>
      </p:sp>
      <p:sp>
        <p:nvSpPr>
          <p:cNvPr id="4" name="מציין מיקום תוכן 2"/>
          <p:cNvSpPr txBox="1">
            <a:spLocks/>
          </p:cNvSpPr>
          <p:nvPr/>
        </p:nvSpPr>
        <p:spPr bwMode="auto">
          <a:xfrm>
            <a:off x="0" y="1412875"/>
            <a:ext cx="4321175" cy="5445125"/>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a:normAutofit/>
          </a:bodyPr>
          <a:lstStyle>
            <a:lvl1pPr marL="342900" indent="-342900" algn="r" rtl="1"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he-IL" sz="2400" dirty="0" smtClean="0"/>
              <a:t>26. פרטים </a:t>
            </a:r>
            <a:r>
              <a:rPr lang="he-IL" sz="2400" dirty="0" smtClean="0"/>
              <a:t>למדידה ולמיפוי </a:t>
            </a:r>
            <a:endParaRPr lang="en-US" sz="2400" dirty="0" smtClean="0"/>
          </a:p>
          <a:p>
            <a:r>
              <a:rPr lang="he-IL" sz="2400" dirty="0" smtClean="0"/>
              <a:t>(א) מודד </a:t>
            </a:r>
            <a:r>
              <a:rPr lang="he-IL" sz="2400" dirty="0" smtClean="0"/>
              <a:t>ימדוד פרטי תכסית </a:t>
            </a:r>
            <a:r>
              <a:rPr lang="he-IL" sz="2400" b="1" dirty="0" smtClean="0"/>
              <a:t>בהתאם להנחיות המנהל.</a:t>
            </a:r>
            <a:endParaRPr lang="en-US" sz="2400" b="1" dirty="0" smtClean="0"/>
          </a:p>
          <a:p>
            <a:r>
              <a:rPr lang="he-IL" sz="2400" dirty="0" smtClean="0"/>
              <a:t> </a:t>
            </a:r>
            <a:r>
              <a:rPr lang="he-IL" sz="2400" dirty="0" smtClean="0"/>
              <a:t>(ב) מודד </a:t>
            </a:r>
            <a:r>
              <a:rPr lang="he-IL" sz="2400" dirty="0" smtClean="0"/>
              <a:t>ימדוד פרטים מקוריים וסימנים מקוריים </a:t>
            </a:r>
            <a:r>
              <a:rPr lang="he-IL" sz="2400" b="1" dirty="0" smtClean="0"/>
              <a:t>בהתאם להנחיות המנהל.</a:t>
            </a:r>
            <a:endParaRPr lang="en-US" sz="2400" b="1" dirty="0" smtClean="0"/>
          </a:p>
          <a:p>
            <a:pPr>
              <a:defRPr/>
            </a:pPr>
            <a:endParaRPr lang="en-US" sz="2400" dirty="0" smtClean="0"/>
          </a:p>
          <a:p>
            <a:pPr>
              <a:defRPr/>
            </a:pPr>
            <a:endParaRPr lang="en-US" sz="2400" dirty="0" smtClean="0"/>
          </a:p>
          <a:p>
            <a:pPr>
              <a:defRPr/>
            </a:pPr>
            <a:endParaRPr lang="he-IL" dirty="0"/>
          </a:p>
        </p:txBody>
      </p:sp>
      <p:sp>
        <p:nvSpPr>
          <p:cNvPr id="7" name="חץ ימינה 6"/>
          <p:cNvSpPr/>
          <p:nvPr/>
        </p:nvSpPr>
        <p:spPr>
          <a:xfrm rot="10800000">
            <a:off x="4276725" y="3824288"/>
            <a:ext cx="431800" cy="288925"/>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sp>
        <p:nvSpPr>
          <p:cNvPr id="14342" name="TextBox 7"/>
          <p:cNvSpPr txBox="1">
            <a:spLocks noChangeArrowheads="1"/>
          </p:cNvSpPr>
          <p:nvPr/>
        </p:nvSpPr>
        <p:spPr bwMode="auto">
          <a:xfrm>
            <a:off x="5148263" y="1042988"/>
            <a:ext cx="3240087" cy="369887"/>
          </a:xfrm>
          <a:prstGeom prst="rect">
            <a:avLst/>
          </a:prstGeom>
          <a:noFill/>
          <a:ln w="9525">
            <a:noFill/>
            <a:miter lim="800000"/>
            <a:headEnd/>
            <a:tailEnd/>
          </a:ln>
        </p:spPr>
        <p:txBody>
          <a:bodyPr>
            <a:spAutoFit/>
          </a:bodyPr>
          <a:lstStyle/>
          <a:p>
            <a:pPr algn="ctr"/>
            <a:r>
              <a:rPr lang="he-IL">
                <a:solidFill>
                  <a:srgbClr val="0000FF"/>
                </a:solidFill>
              </a:rPr>
              <a:t>תקנות 1998</a:t>
            </a:r>
          </a:p>
        </p:txBody>
      </p:sp>
      <p:sp>
        <p:nvSpPr>
          <p:cNvPr id="14343" name="TextBox 8"/>
          <p:cNvSpPr txBox="1">
            <a:spLocks noChangeArrowheads="1"/>
          </p:cNvSpPr>
          <p:nvPr/>
        </p:nvSpPr>
        <p:spPr bwMode="auto">
          <a:xfrm>
            <a:off x="395288" y="1042988"/>
            <a:ext cx="3240087" cy="369887"/>
          </a:xfrm>
          <a:prstGeom prst="rect">
            <a:avLst/>
          </a:prstGeom>
          <a:noFill/>
          <a:ln w="9525">
            <a:noFill/>
            <a:miter lim="800000"/>
            <a:headEnd/>
            <a:tailEnd/>
          </a:ln>
        </p:spPr>
        <p:txBody>
          <a:bodyPr>
            <a:spAutoFit/>
          </a:bodyPr>
          <a:lstStyle/>
          <a:p>
            <a:pPr algn="ctr"/>
            <a:r>
              <a:rPr lang="he-IL" dirty="0">
                <a:solidFill>
                  <a:srgbClr val="0000FF"/>
                </a:solidFill>
              </a:rPr>
              <a:t>טיוטה </a:t>
            </a:r>
            <a:r>
              <a:rPr lang="he-IL" dirty="0" smtClean="0">
                <a:solidFill>
                  <a:srgbClr val="0000FF"/>
                </a:solidFill>
              </a:rPr>
              <a:t>2013</a:t>
            </a:r>
            <a:endParaRPr lang="he-IL" dirty="0">
              <a:solidFill>
                <a:srgbClr val="0000FF"/>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כותרת 1"/>
          <p:cNvSpPr>
            <a:spLocks noGrp="1"/>
          </p:cNvSpPr>
          <p:nvPr>
            <p:ph type="title"/>
          </p:nvPr>
        </p:nvSpPr>
        <p:spPr>
          <a:xfrm>
            <a:off x="0" y="0"/>
            <a:ext cx="9144000" cy="981075"/>
          </a:xfrm>
          <a:solidFill>
            <a:schemeClr val="bg1">
              <a:lumMod val="85000"/>
            </a:schemeClr>
          </a:solidFill>
          <a:ln>
            <a:solidFill>
              <a:srgbClr val="FF00FF"/>
            </a:solidFill>
          </a:ln>
        </p:spPr>
        <p:txBody>
          <a:bodyPr>
            <a:normAutofit/>
          </a:bodyPr>
          <a:lstStyle/>
          <a:p>
            <a:r>
              <a:rPr lang="he-IL" sz="3200" dirty="0" smtClean="0">
                <a:solidFill>
                  <a:srgbClr val="0000FF"/>
                </a:solidFill>
              </a:rPr>
              <a:t>5. מתי ניתן לבצע חלוקה לא </a:t>
            </a:r>
            <a:r>
              <a:rPr lang="he-IL" sz="3200" dirty="0" err="1" smtClean="0">
                <a:solidFill>
                  <a:srgbClr val="0000FF"/>
                </a:solidFill>
              </a:rPr>
              <a:t>פרופורצינאלית</a:t>
            </a:r>
            <a:r>
              <a:rPr lang="he-IL" sz="3200" dirty="0" smtClean="0">
                <a:solidFill>
                  <a:srgbClr val="0000FF"/>
                </a:solidFill>
              </a:rPr>
              <a:t>?</a:t>
            </a:r>
            <a:endParaRPr lang="he-IL" sz="4000" dirty="0" smtClean="0">
              <a:solidFill>
                <a:srgbClr val="0000FF"/>
              </a:solidFill>
            </a:endParaRPr>
          </a:p>
        </p:txBody>
      </p:sp>
      <p:sp>
        <p:nvSpPr>
          <p:cNvPr id="3" name="מציין מיקום תוכן 2"/>
          <p:cNvSpPr>
            <a:spLocks noGrp="1"/>
          </p:cNvSpPr>
          <p:nvPr>
            <p:ph idx="1"/>
          </p:nvPr>
        </p:nvSpPr>
        <p:spPr>
          <a:xfrm>
            <a:off x="107950" y="1052513"/>
            <a:ext cx="8856663" cy="5805487"/>
          </a:xfrm>
        </p:spPr>
        <p:txBody>
          <a:bodyPr>
            <a:normAutofit lnSpcReduction="10000"/>
          </a:bodyPr>
          <a:lstStyle/>
          <a:p>
            <a:pPr>
              <a:defRPr/>
            </a:pPr>
            <a:r>
              <a:rPr lang="he-IL" sz="2400" b="1" u="sng" dirty="0" smtClean="0"/>
              <a:t>31 איחוד, חלוקה וחישוב שטחים</a:t>
            </a:r>
          </a:p>
          <a:p>
            <a:r>
              <a:rPr lang="he-IL" sz="2600" dirty="0" smtClean="0"/>
              <a:t>(ג) בחלוקת </a:t>
            </a:r>
            <a:r>
              <a:rPr lang="he-IL" sz="2600" dirty="0" smtClean="0"/>
              <a:t>חלקה רשומה או בחלוקת חלקת איחוד; יחולק ההפרש </a:t>
            </a:r>
            <a:r>
              <a:rPr lang="en-GB" sz="2600" dirty="0" smtClean="0"/>
              <a:t>A</a:t>
            </a:r>
            <a:r>
              <a:rPr lang="he-IL" sz="2600" dirty="0" smtClean="0"/>
              <a:t>Δ בין החלקות החדשות ביחס ישר לשטחיהן המחושבים. סכום השטחים לרישום של חלקות אלו יהיה שווה לשטח הרשום של החלקה הרשומה או חלקת האיחוד.</a:t>
            </a:r>
            <a:endParaRPr lang="en-US" sz="2600" dirty="0" smtClean="0"/>
          </a:p>
          <a:p>
            <a:r>
              <a:rPr lang="he-IL" sz="2600" dirty="0" smtClean="0"/>
              <a:t>(</a:t>
            </a:r>
            <a:r>
              <a:rPr lang="he-IL" sz="2600" dirty="0" smtClean="0"/>
              <a:t>ד) למרות </a:t>
            </a:r>
            <a:r>
              <a:rPr lang="he-IL" sz="2600" dirty="0" smtClean="0"/>
              <a:t>האמור בתקנת משנה (ג), ניתן יהיה לחלק את ההפרש </a:t>
            </a:r>
            <a:r>
              <a:rPr lang="en-GB" sz="2600" dirty="0" smtClean="0"/>
              <a:t>A</a:t>
            </a:r>
            <a:r>
              <a:rPr lang="he-IL" sz="2600" dirty="0" smtClean="0"/>
              <a:t>Δ ביחס לא ישר לשטחים המחושבים של החלקות החדשות בהתאם להנחיות המנהל, באחד מהמקרים הבאים:</a:t>
            </a:r>
            <a:endParaRPr lang="en-US" sz="2600" dirty="0" smtClean="0"/>
          </a:p>
          <a:p>
            <a:pPr lvl="1"/>
            <a:r>
              <a:rPr lang="he-IL" sz="2600" b="1" dirty="0" smtClean="0"/>
              <a:t> </a:t>
            </a:r>
            <a:r>
              <a:rPr lang="he-IL" sz="2600" b="1" dirty="0" smtClean="0"/>
              <a:t>(</a:t>
            </a:r>
            <a:r>
              <a:rPr lang="he-IL" sz="2600" b="1" dirty="0" smtClean="0"/>
              <a:t>1) השטח של אחת או יותר מהחלקות החדשות אינו עומד בדרישות של תקנה 30(א</a:t>
            </a:r>
            <a:r>
              <a:rPr lang="he-IL" sz="2600" b="1" dirty="0" smtClean="0"/>
              <a:t>) </a:t>
            </a:r>
            <a:r>
              <a:rPr lang="he-IL" sz="2000" b="1" i="1" dirty="0" smtClean="0"/>
              <a:t>(</a:t>
            </a:r>
            <a:r>
              <a:rPr lang="he-IL" sz="2000" b="1" i="1" dirty="0" smtClean="0"/>
              <a:t>נוסחה 1: </a:t>
            </a:r>
            <a:r>
              <a:rPr lang="en-US" sz="2000" b="1" i="1" dirty="0" smtClean="0"/>
              <a:t>A=0.3</a:t>
            </a:r>
            <a:r>
              <a:rPr lang="en-US" sz="2000" b="1" i="1" dirty="0" smtClean="0">
                <a:sym typeface="Symbol"/>
              </a:rPr>
              <a:t></a:t>
            </a:r>
            <a:r>
              <a:rPr lang="en-US" sz="2000" b="1" i="1" dirty="0" smtClean="0"/>
              <a:t>A+0.005A</a:t>
            </a:r>
            <a:r>
              <a:rPr lang="he-IL" sz="2000" b="1" i="1" dirty="0" smtClean="0"/>
              <a:t> Δ...)</a:t>
            </a:r>
            <a:endParaRPr lang="en-US" sz="2000" b="1" i="1" dirty="0" smtClean="0"/>
          </a:p>
          <a:p>
            <a:pPr lvl="1"/>
            <a:r>
              <a:rPr lang="he-IL" sz="2600" b="1" dirty="0" smtClean="0"/>
              <a:t> </a:t>
            </a:r>
            <a:r>
              <a:rPr lang="he-IL" sz="2600" b="1" dirty="0" smtClean="0"/>
              <a:t>(</a:t>
            </a:r>
            <a:r>
              <a:rPr lang="he-IL" sz="2600" b="1" dirty="0" smtClean="0"/>
              <a:t>2) בהסכמת כל בעלי החלקות </a:t>
            </a:r>
            <a:r>
              <a:rPr lang="he-IL" sz="2600" b="1" dirty="0" err="1" smtClean="0"/>
              <a:t>בתצ"ר</a:t>
            </a:r>
            <a:r>
              <a:rPr lang="he-IL" sz="2600" b="1" dirty="0" smtClean="0"/>
              <a:t>.</a:t>
            </a:r>
            <a:endParaRPr lang="en-US" sz="2600" b="1" dirty="0" smtClean="0"/>
          </a:p>
          <a:p>
            <a:r>
              <a:rPr lang="he-IL" sz="2600" dirty="0" smtClean="0"/>
              <a:t>(</a:t>
            </a:r>
            <a:r>
              <a:rPr lang="he-IL" sz="2600" dirty="0" smtClean="0"/>
              <a:t>ה) במקרה </a:t>
            </a:r>
            <a:r>
              <a:rPr lang="he-IL" sz="2600" dirty="0" smtClean="0"/>
              <a:t>שלאחר ביצוע תקנת משנה (ד)(</a:t>
            </a:r>
            <a:r>
              <a:rPr lang="en-GB" sz="2600" dirty="0" smtClean="0"/>
              <a:t>1</a:t>
            </a:r>
            <a:r>
              <a:rPr lang="he-IL" sz="2600" dirty="0" smtClean="0"/>
              <a:t>), השטח של אחת או יותר מהחלקות החדשות אינו עומד בדרישות של תקנה 30(א), יפעל המודד כפי שיורה המנהל.</a:t>
            </a:r>
            <a:endParaRPr lang="en-US" sz="2600" dirty="0" smtClean="0"/>
          </a:p>
          <a:p>
            <a:pPr>
              <a:defRPr/>
            </a:pPr>
            <a:endParaRPr lang="he-IL"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כותרת 1"/>
          <p:cNvSpPr>
            <a:spLocks noGrp="1"/>
          </p:cNvSpPr>
          <p:nvPr>
            <p:ph type="title"/>
          </p:nvPr>
        </p:nvSpPr>
        <p:spPr>
          <a:xfrm>
            <a:off x="0" y="0"/>
            <a:ext cx="9144000" cy="981075"/>
          </a:xfrm>
          <a:solidFill>
            <a:schemeClr val="bg1">
              <a:lumMod val="85000"/>
            </a:schemeClr>
          </a:solidFill>
          <a:ln>
            <a:solidFill>
              <a:srgbClr val="FF00FF"/>
            </a:solidFill>
          </a:ln>
        </p:spPr>
        <p:txBody>
          <a:bodyPr>
            <a:normAutofit/>
          </a:bodyPr>
          <a:lstStyle/>
          <a:p>
            <a:r>
              <a:rPr lang="he-IL" sz="3200" dirty="0" smtClean="0">
                <a:solidFill>
                  <a:srgbClr val="0000FF"/>
                </a:solidFill>
              </a:rPr>
              <a:t>6. מתי מתיישנת </a:t>
            </a:r>
            <a:r>
              <a:rPr lang="he-IL" sz="3200" dirty="0" err="1" smtClean="0">
                <a:solidFill>
                  <a:srgbClr val="0000FF"/>
                </a:solidFill>
              </a:rPr>
              <a:t>תצ"ר</a:t>
            </a:r>
            <a:r>
              <a:rPr lang="he-IL" sz="3200" dirty="0" smtClean="0">
                <a:solidFill>
                  <a:srgbClr val="0000FF"/>
                </a:solidFill>
              </a:rPr>
              <a:t>?</a:t>
            </a:r>
            <a:endParaRPr lang="he-IL" sz="4000" dirty="0" smtClean="0">
              <a:solidFill>
                <a:srgbClr val="0000FF"/>
              </a:solidFill>
            </a:endParaRPr>
          </a:p>
        </p:txBody>
      </p:sp>
      <p:sp>
        <p:nvSpPr>
          <p:cNvPr id="3" name="מציין מיקום תוכן 2"/>
          <p:cNvSpPr>
            <a:spLocks noGrp="1"/>
          </p:cNvSpPr>
          <p:nvPr>
            <p:ph idx="1"/>
          </p:nvPr>
        </p:nvSpPr>
        <p:spPr>
          <a:xfrm>
            <a:off x="107950" y="1052513"/>
            <a:ext cx="8856663" cy="5805487"/>
          </a:xfrm>
        </p:spPr>
        <p:txBody>
          <a:bodyPr>
            <a:normAutofit/>
          </a:bodyPr>
          <a:lstStyle/>
          <a:p>
            <a:pPr>
              <a:defRPr/>
            </a:pPr>
            <a:r>
              <a:rPr lang="he-IL" sz="2400" b="1" u="sng" dirty="0" smtClean="0"/>
              <a:t>38 התיישנות וביטול </a:t>
            </a:r>
            <a:r>
              <a:rPr lang="he-IL" sz="2400" b="1" u="sng" dirty="0" err="1" smtClean="0"/>
              <a:t>תצ"ר</a:t>
            </a:r>
            <a:endParaRPr lang="he-IL" sz="2400" b="1" u="sng" dirty="0" smtClean="0"/>
          </a:p>
          <a:p>
            <a:r>
              <a:rPr lang="he-IL" sz="2800" dirty="0" smtClean="0"/>
              <a:t>(</a:t>
            </a:r>
            <a:r>
              <a:rPr lang="he-IL" sz="2800" dirty="0" smtClean="0"/>
              <a:t>ד) </a:t>
            </a:r>
            <a:r>
              <a:rPr lang="he-IL" sz="2800" dirty="0" err="1" smtClean="0"/>
              <a:t>תצ"ר</a:t>
            </a:r>
            <a:r>
              <a:rPr lang="he-IL" sz="2800" dirty="0" smtClean="0"/>
              <a:t> </a:t>
            </a:r>
            <a:r>
              <a:rPr lang="he-IL" sz="2800" dirty="0" smtClean="0"/>
              <a:t>שהוכנה על פי תקנות אלו, אושרה ולא נרשמה תוך שלוש שנים מתאריך אישורה, תעודכן בהתאם להנחיות המנהל</a:t>
            </a:r>
            <a:r>
              <a:rPr lang="he-IL" sz="2800" dirty="0" smtClean="0"/>
              <a:t>.</a:t>
            </a:r>
          </a:p>
          <a:p>
            <a:endParaRPr lang="he-IL" sz="2800" dirty="0" smtClean="0"/>
          </a:p>
        </p:txBody>
      </p:sp>
      <p:pic>
        <p:nvPicPr>
          <p:cNvPr id="51202" name="Picture 2" descr="http://files.myopera.com/Roshan%20Animator/albums/378168/old%20map%20effect.jpg"/>
          <p:cNvPicPr>
            <a:picLocks noChangeAspect="1" noChangeArrowheads="1"/>
          </p:cNvPicPr>
          <p:nvPr/>
        </p:nvPicPr>
        <p:blipFill>
          <a:blip r:embed="rId2" cstate="print"/>
          <a:srcRect/>
          <a:stretch>
            <a:fillRect/>
          </a:stretch>
        </p:blipFill>
        <p:spPr bwMode="auto">
          <a:xfrm>
            <a:off x="0" y="4393389"/>
            <a:ext cx="3286148" cy="2464611"/>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7950" y="1052513"/>
            <a:ext cx="8856663" cy="5805487"/>
          </a:xfrm>
        </p:spPr>
        <p:txBody>
          <a:bodyPr>
            <a:normAutofit lnSpcReduction="10000"/>
          </a:bodyPr>
          <a:lstStyle/>
          <a:p>
            <a:endParaRPr lang="he-IL" sz="2800" dirty="0" smtClean="0"/>
          </a:p>
          <a:p>
            <a:r>
              <a:rPr lang="he-IL" sz="2800" dirty="0" smtClean="0"/>
              <a:t>מותרות סטיות </a:t>
            </a:r>
            <a:r>
              <a:rPr lang="he-IL" sz="2800" dirty="0" smtClean="0"/>
              <a:t>ובלבד </a:t>
            </a:r>
            <a:r>
              <a:rPr lang="he-IL" sz="2800" dirty="0" err="1" smtClean="0"/>
              <a:t>שתצ"ר</a:t>
            </a:r>
            <a:r>
              <a:rPr lang="he-IL" sz="2800" dirty="0" smtClean="0"/>
              <a:t> עומדת </a:t>
            </a:r>
            <a:r>
              <a:rPr lang="he-IL" sz="2800" dirty="0" smtClean="0"/>
              <a:t>בתנאים המפורטים בסעיף (ג</a:t>
            </a:r>
            <a:r>
              <a:rPr lang="he-IL" sz="2800" dirty="0" smtClean="0"/>
              <a:t>) שהם:</a:t>
            </a:r>
          </a:p>
          <a:p>
            <a:pPr lvl="1"/>
            <a:r>
              <a:rPr lang="he-IL" sz="2400" dirty="0" smtClean="0"/>
              <a:t>(1)  שטח מחושב של כל חלקה הנוצרת </a:t>
            </a:r>
            <a:r>
              <a:rPr lang="he-IL" sz="2400" dirty="0" err="1" smtClean="0"/>
              <a:t>בתצ"ר</a:t>
            </a:r>
            <a:r>
              <a:rPr lang="he-IL" sz="2400" dirty="0" smtClean="0"/>
              <a:t> לא יסטה ביותר מ- 3 אחוזים או 10 מ"ר, הגדול מביניהם, משטח המגרש התואם לה בתכנית </a:t>
            </a:r>
            <a:r>
              <a:rPr lang="he-IL" sz="2400" dirty="0" smtClean="0"/>
              <a:t>מאושרת</a:t>
            </a:r>
            <a:endParaRPr lang="en-US" sz="2400" dirty="0" smtClean="0"/>
          </a:p>
          <a:p>
            <a:pPr lvl="1"/>
            <a:r>
              <a:rPr lang="he-IL" sz="2400" dirty="0" smtClean="0"/>
              <a:t>(2) ההפרש בין היחס בין שטחי הציבור בתוכנית מאושרת כמשמעותם בחוק התכנון והבניה לבין שטח תוכנית זו, ובין היחס המתאים </a:t>
            </a:r>
            <a:r>
              <a:rPr lang="he-IL" sz="2400" dirty="0" err="1" smtClean="0"/>
              <a:t>בתצ"ר</a:t>
            </a:r>
            <a:r>
              <a:rPr lang="he-IL" sz="2400" dirty="0" smtClean="0"/>
              <a:t>, לא יעלה על שני אחוזים.</a:t>
            </a:r>
            <a:endParaRPr lang="en-US" sz="2400" dirty="0" smtClean="0"/>
          </a:p>
          <a:p>
            <a:pPr lvl="1"/>
            <a:r>
              <a:rPr lang="he-IL" sz="2400" dirty="0" smtClean="0"/>
              <a:t>(3) אורך חזית חלקה </a:t>
            </a:r>
            <a:r>
              <a:rPr lang="he-IL" sz="2400" dirty="0" err="1" smtClean="0"/>
              <a:t>בתצ"ר</a:t>
            </a:r>
            <a:r>
              <a:rPr lang="he-IL" sz="2400" dirty="0" smtClean="0"/>
              <a:t> לא יפחת ביותר מאחוז אחד מאורך חזית מזערי כפי שהוא מוגדר בתכנית המאושרת.</a:t>
            </a:r>
            <a:endParaRPr lang="en-US" sz="2400" dirty="0" smtClean="0"/>
          </a:p>
          <a:p>
            <a:pPr lvl="1"/>
            <a:r>
              <a:rPr lang="he-IL" sz="2400" dirty="0" smtClean="0"/>
              <a:t>(4) תישמר צורת המגרש שנקבעה בתכנית מאושרת.</a:t>
            </a:r>
            <a:endParaRPr lang="en-US" sz="2400" dirty="0" smtClean="0"/>
          </a:p>
          <a:p>
            <a:endParaRPr lang="en-US" sz="2800" dirty="0" smtClean="0"/>
          </a:p>
          <a:p>
            <a:pPr>
              <a:defRPr/>
            </a:pPr>
            <a:r>
              <a:rPr lang="he-IL" dirty="0" smtClean="0"/>
              <a:t> </a:t>
            </a:r>
            <a:endParaRPr lang="he-IL" dirty="0"/>
          </a:p>
        </p:txBody>
      </p:sp>
      <p:sp>
        <p:nvSpPr>
          <p:cNvPr id="4" name="כותרת 1"/>
          <p:cNvSpPr txBox="1">
            <a:spLocks/>
          </p:cNvSpPr>
          <p:nvPr/>
        </p:nvSpPr>
        <p:spPr>
          <a:xfrm>
            <a:off x="0" y="0"/>
            <a:ext cx="9144000" cy="981075"/>
          </a:xfrm>
          <a:prstGeom prst="rect">
            <a:avLst/>
          </a:prstGeom>
          <a:solidFill>
            <a:schemeClr val="bg1">
              <a:lumMod val="85000"/>
            </a:schemeClr>
          </a:solidFill>
          <a:ln>
            <a:solidFill>
              <a:srgbClr val="FF00FF"/>
            </a:solidFill>
          </a:ln>
        </p:spPr>
        <p:txBody>
          <a:bodyPr vert="horz" lIns="91440" tIns="45720" rIns="91440" bIns="45720" rtlCol="1" anchor="ctr">
            <a:noAutofit/>
          </a:bodyPr>
          <a:lstStyle/>
          <a:p>
            <a:pPr lvl="0" algn="ctr">
              <a:spcBef>
                <a:spcPct val="0"/>
              </a:spcBef>
            </a:pPr>
            <a:r>
              <a:rPr lang="he-IL" sz="3200" dirty="0" smtClean="0">
                <a:solidFill>
                  <a:srgbClr val="0000FF"/>
                </a:solidFill>
                <a:latin typeface="+mj-lt"/>
                <a:ea typeface="+mj-ea"/>
                <a:cs typeface="+mj-cs"/>
              </a:rPr>
              <a:t>7. מה </a:t>
            </a:r>
            <a:r>
              <a:rPr lang="he-IL" sz="3200" dirty="0" err="1" smtClean="0">
                <a:solidFill>
                  <a:srgbClr val="0000FF"/>
                </a:solidFill>
                <a:latin typeface="+mj-lt"/>
                <a:ea typeface="+mj-ea"/>
                <a:cs typeface="+mj-cs"/>
              </a:rPr>
              <a:t>הסטיה</a:t>
            </a:r>
            <a:r>
              <a:rPr lang="he-IL" sz="3200" dirty="0" smtClean="0">
                <a:solidFill>
                  <a:srgbClr val="0000FF"/>
                </a:solidFill>
                <a:latin typeface="+mj-lt"/>
                <a:ea typeface="+mj-ea"/>
                <a:cs typeface="+mj-cs"/>
              </a:rPr>
              <a:t> המותרת בין </a:t>
            </a:r>
            <a:r>
              <a:rPr lang="he-IL" sz="3200" dirty="0" err="1" smtClean="0">
                <a:solidFill>
                  <a:srgbClr val="0000FF"/>
                </a:solidFill>
                <a:latin typeface="+mj-lt"/>
                <a:ea typeface="+mj-ea"/>
                <a:cs typeface="+mj-cs"/>
              </a:rPr>
              <a:t>תצ"ר</a:t>
            </a:r>
            <a:r>
              <a:rPr lang="he-IL" sz="3200" dirty="0" smtClean="0">
                <a:solidFill>
                  <a:srgbClr val="0000FF"/>
                </a:solidFill>
                <a:latin typeface="+mj-lt"/>
                <a:ea typeface="+mj-ea"/>
                <a:cs typeface="+mj-cs"/>
              </a:rPr>
              <a:t> המוגשת לאישור </a:t>
            </a:r>
            <a:r>
              <a:rPr lang="he-IL" sz="3200" dirty="0" smtClean="0">
                <a:solidFill>
                  <a:srgbClr val="0000FF"/>
                </a:solidFill>
                <a:latin typeface="+mj-lt"/>
                <a:ea typeface="+mj-ea"/>
                <a:cs typeface="+mj-cs"/>
              </a:rPr>
              <a:t>המנהל </a:t>
            </a:r>
            <a:r>
              <a:rPr lang="he-IL" sz="3200" dirty="0" err="1" smtClean="0">
                <a:solidFill>
                  <a:srgbClr val="0000FF"/>
                </a:solidFill>
                <a:latin typeface="+mj-lt"/>
                <a:ea typeface="+mj-ea"/>
                <a:cs typeface="+mj-cs"/>
              </a:rPr>
              <a:t>לתצ"ר</a:t>
            </a:r>
            <a:r>
              <a:rPr lang="he-IL" sz="3200" dirty="0" smtClean="0">
                <a:solidFill>
                  <a:srgbClr val="0000FF"/>
                </a:solidFill>
                <a:latin typeface="+mj-lt"/>
                <a:ea typeface="+mj-ea"/>
                <a:cs typeface="+mj-cs"/>
              </a:rPr>
              <a:t> </a:t>
            </a:r>
            <a:r>
              <a:rPr lang="he-IL" sz="3200" dirty="0" smtClean="0">
                <a:solidFill>
                  <a:srgbClr val="0000FF"/>
                </a:solidFill>
                <a:latin typeface="+mj-lt"/>
                <a:ea typeface="+mj-ea"/>
                <a:cs typeface="+mj-cs"/>
              </a:rPr>
              <a:t>שאושרה על ידי יו"ר הוועדה </a:t>
            </a:r>
            <a:r>
              <a:rPr lang="he-IL" sz="3200" dirty="0" smtClean="0">
                <a:solidFill>
                  <a:srgbClr val="0000FF"/>
                </a:solidFill>
                <a:latin typeface="+mj-lt"/>
                <a:ea typeface="+mj-ea"/>
                <a:cs typeface="+mj-cs"/>
              </a:rPr>
              <a:t>המקומית?</a:t>
            </a:r>
            <a:endParaRPr lang="he-IL" sz="3200" dirty="0" smtClean="0">
              <a:solidFill>
                <a:srgbClr val="0000FF"/>
              </a:solidFill>
              <a:latin typeface="+mj-lt"/>
              <a:ea typeface="+mj-ea"/>
              <a:cs typeface="+mj-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לבן 2"/>
          <p:cNvSpPr/>
          <p:nvPr/>
        </p:nvSpPr>
        <p:spPr>
          <a:xfrm>
            <a:off x="1395571" y="664722"/>
            <a:ext cx="6350253" cy="646331"/>
          </a:xfrm>
          <a:prstGeom prst="rect">
            <a:avLst/>
          </a:prstGeom>
        </p:spPr>
        <p:txBody>
          <a:bodyPr wrap="square">
            <a:spAutoFit/>
          </a:bodyPr>
          <a:lstStyle/>
          <a:p>
            <a:pPr algn="ctr"/>
            <a:r>
              <a:rPr lang="he-IL" sz="3600" dirty="0" smtClean="0">
                <a:solidFill>
                  <a:srgbClr val="000066"/>
                </a:solidFill>
              </a:rPr>
              <a:t>סיכום והמשך פעילות</a:t>
            </a:r>
            <a:endParaRPr lang="he-IL" sz="3600" dirty="0">
              <a:solidFill>
                <a:srgbClr val="000066"/>
              </a:solidFill>
            </a:endParaRPr>
          </a:p>
        </p:txBody>
      </p:sp>
      <p:sp>
        <p:nvSpPr>
          <p:cNvPr id="4" name="TextBox 3"/>
          <p:cNvSpPr txBox="1"/>
          <p:nvPr/>
        </p:nvSpPr>
        <p:spPr>
          <a:xfrm>
            <a:off x="557121" y="1556792"/>
            <a:ext cx="8335357" cy="4893647"/>
          </a:xfrm>
          <a:prstGeom prst="rect">
            <a:avLst/>
          </a:prstGeom>
          <a:noFill/>
        </p:spPr>
        <p:txBody>
          <a:bodyPr wrap="square" rtlCol="1">
            <a:spAutoFit/>
          </a:bodyPr>
          <a:lstStyle/>
          <a:p>
            <a:pPr marL="342900" indent="-342900">
              <a:buFont typeface="Arial" pitchFamily="34" charset="0"/>
              <a:buChar char="•"/>
            </a:pPr>
            <a:r>
              <a:rPr lang="he-IL" sz="2400" dirty="0"/>
              <a:t>תהליך עדכון תקנות המודדים והנחיות המנהל הוא תהליך </a:t>
            </a:r>
            <a:r>
              <a:rPr lang="he-IL" sz="2400" b="1" dirty="0"/>
              <a:t>מתמשך</a:t>
            </a:r>
            <a:r>
              <a:rPr lang="he-IL" sz="2400" dirty="0"/>
              <a:t>. </a:t>
            </a:r>
            <a:r>
              <a:rPr lang="he-IL" sz="2400" dirty="0" smtClean="0"/>
              <a:t>שיש לבצע </a:t>
            </a:r>
            <a:r>
              <a:rPr lang="he-IL" sz="2400" dirty="0"/>
              <a:t>באופן שוטף כאשר בכל תקופה נבחנים הטכנולוגיות, שיטות העבודה והצרכים ומתבצע עדכון מתאים. </a:t>
            </a:r>
            <a:endParaRPr lang="he-IL" sz="2400" dirty="0" smtClean="0"/>
          </a:p>
          <a:p>
            <a:pPr marL="342900" indent="-342900">
              <a:buFont typeface="Arial" pitchFamily="34" charset="0"/>
              <a:buChar char="•"/>
            </a:pPr>
            <a:r>
              <a:rPr lang="he-IL" sz="2400" dirty="0" smtClean="0"/>
              <a:t>התקנות </a:t>
            </a:r>
            <a:r>
              <a:rPr lang="he-IL" sz="2400" dirty="0"/>
              <a:t>החדשות הכניסו מספר שינויי מחשבה משמעותיים ולכן היה עיכוב בפרסומן. במקביל לתקנות הגיאודזיה </a:t>
            </a:r>
            <a:r>
              <a:rPr lang="he-IL" sz="2400" dirty="0" err="1"/>
              <a:t>והקדסטר</a:t>
            </a:r>
            <a:r>
              <a:rPr lang="he-IL" sz="2400" dirty="0"/>
              <a:t> יש פעילות לעדכון </a:t>
            </a:r>
            <a:r>
              <a:rPr lang="he-IL" sz="2400" b="1" dirty="0"/>
              <a:t>תקנות המיפוי הטופוגרפי</a:t>
            </a:r>
            <a:r>
              <a:rPr lang="he-IL" sz="2400" dirty="0"/>
              <a:t>. </a:t>
            </a:r>
          </a:p>
          <a:p>
            <a:pPr marL="342900" indent="-342900">
              <a:buFont typeface="Arial" pitchFamily="34" charset="0"/>
              <a:buChar char="•"/>
            </a:pPr>
            <a:r>
              <a:rPr lang="he-IL" sz="2400" dirty="0" smtClean="0"/>
              <a:t>החידושים </a:t>
            </a:r>
            <a:r>
              <a:rPr lang="he-IL" sz="2400" dirty="0"/>
              <a:t>העיקריים בפרק </a:t>
            </a:r>
            <a:r>
              <a:rPr lang="he-IL" sz="2400" dirty="0" smtClean="0"/>
              <a:t> המיפוי הטופוגרפי יכללו: הגדרת רמות מפה, שימוש </a:t>
            </a:r>
            <a:r>
              <a:rPr lang="he-IL" sz="2400" dirty="0"/>
              <a:t>בקובץ </a:t>
            </a:r>
            <a:r>
              <a:rPr lang="he-IL" sz="2400" dirty="0" smtClean="0"/>
              <a:t>מטא-דאטה, מפה </a:t>
            </a:r>
            <a:r>
              <a:rPr lang="he-IL" sz="2400" dirty="0"/>
              <a:t>המשלבת שכבות מידע </a:t>
            </a:r>
            <a:r>
              <a:rPr lang="he-IL" sz="2400" dirty="0" smtClean="0"/>
              <a:t>שונות, תהליך </a:t>
            </a:r>
            <a:r>
              <a:rPr lang="he-IL" sz="2400" dirty="0"/>
              <a:t>בקרת </a:t>
            </a:r>
            <a:r>
              <a:rPr lang="he-IL" sz="2400" dirty="0" smtClean="0"/>
              <a:t>איכות, סורקי </a:t>
            </a:r>
            <a:r>
              <a:rPr lang="he-IL" sz="2400" dirty="0"/>
              <a:t>לייזר (</a:t>
            </a:r>
            <a:r>
              <a:rPr lang="en-US" sz="2400" dirty="0"/>
              <a:t>LIDAR</a:t>
            </a:r>
            <a:r>
              <a:rPr lang="he-IL" sz="2400" dirty="0"/>
              <a:t>), מערכות צילום </a:t>
            </a:r>
            <a:r>
              <a:rPr lang="he-IL" sz="2400" dirty="0" smtClean="0"/>
              <a:t>דיגיטליות למיפוי ומוצרי </a:t>
            </a:r>
            <a:r>
              <a:rPr lang="he-IL" sz="2400" dirty="0"/>
              <a:t>מיפוי חדישים כולל מודלים תלת-ממדיים וענני נקודות. </a:t>
            </a:r>
            <a:endParaRPr lang="he-IL" sz="2400" dirty="0" smtClean="0"/>
          </a:p>
          <a:p>
            <a:pPr marL="342900" indent="-342900">
              <a:buFont typeface="Arial" pitchFamily="34" charset="0"/>
              <a:buChar char="•"/>
            </a:pPr>
            <a:r>
              <a:rPr lang="he-IL" sz="2400" dirty="0" smtClean="0"/>
              <a:t>כל התהליך יסתיים השנה</a:t>
            </a:r>
            <a:endParaRPr lang="en-US" sz="2400" dirty="0"/>
          </a:p>
          <a:p>
            <a:pPr marL="342900" indent="-342900">
              <a:buFont typeface="Arial" pitchFamily="34" charset="0"/>
              <a:buChar char="•"/>
            </a:pPr>
            <a:endParaRPr lang="he-IL" sz="2400" dirty="0">
              <a:solidFill>
                <a:srgbClr val="000066"/>
              </a:solidFill>
            </a:endParaRPr>
          </a:p>
        </p:txBody>
      </p:sp>
    </p:spTree>
    <p:extLst>
      <p:ext uri="{BB962C8B-B14F-4D97-AF65-F5344CB8AC3E}">
        <p14:creationId xmlns:p14="http://schemas.microsoft.com/office/powerpoint/2010/main" xmlns="" val="37331254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4119" name="Picture 7" descr="j0428117"/>
          <p:cNvPicPr>
            <a:picLocks noChangeAspect="1" noChangeArrowheads="1"/>
          </p:cNvPicPr>
          <p:nvPr/>
        </p:nvPicPr>
        <p:blipFill>
          <a:blip r:embed="rId2" cstate="print"/>
          <a:srcRect/>
          <a:stretch>
            <a:fillRect/>
          </a:stretch>
        </p:blipFill>
        <p:spPr bwMode="auto">
          <a:xfrm>
            <a:off x="3786182" y="642918"/>
            <a:ext cx="1584256" cy="1428760"/>
          </a:xfrm>
          <a:prstGeom prst="rect">
            <a:avLst/>
          </a:prstGeom>
          <a:noFill/>
          <a:ln w="9525">
            <a:noFill/>
            <a:miter lim="800000"/>
            <a:headEnd/>
            <a:tailEnd/>
          </a:ln>
        </p:spPr>
      </p:pic>
      <p:sp>
        <p:nvSpPr>
          <p:cNvPr id="474120" name="WordArt 8"/>
          <p:cNvSpPr>
            <a:spLocks noChangeArrowheads="1" noChangeShapeType="1" noTextEdit="1"/>
          </p:cNvSpPr>
          <p:nvPr/>
        </p:nvSpPr>
        <p:spPr bwMode="auto">
          <a:xfrm>
            <a:off x="1357290" y="2143116"/>
            <a:ext cx="6480175" cy="1654175"/>
          </a:xfrm>
          <a:prstGeom prst="rect">
            <a:avLst/>
          </a:prstGeom>
        </p:spPr>
        <p:txBody>
          <a:bodyPr wrap="none" fromWordArt="1">
            <a:prstTxWarp prst="textWave1">
              <a:avLst>
                <a:gd name="adj1" fmla="val 13005"/>
                <a:gd name="adj2" fmla="val 0"/>
              </a:avLst>
            </a:prstTxWarp>
          </a:bodyPr>
          <a:lstStyle/>
          <a:p>
            <a:pPr algn="r" rtl="1"/>
            <a:r>
              <a:rPr lang="he-IL" sz="3600" b="1" kern="10" dirty="0">
                <a:ln w="9525">
                  <a:solidFill>
                    <a:srgbClr val="3366FF"/>
                  </a:solidFill>
                  <a:round/>
                  <a:headEnd/>
                  <a:tailEnd/>
                </a:ln>
                <a:gradFill rotWithShape="1">
                  <a:gsLst>
                    <a:gs pos="0">
                      <a:srgbClr val="9999FF"/>
                    </a:gs>
                    <a:gs pos="100000">
                      <a:srgbClr val="009999"/>
                    </a:gs>
                  </a:gsLst>
                  <a:lin ang="5400000" scaled="1"/>
                </a:gradFill>
                <a:effectLst>
                  <a:outerShdw dist="53882" dir="2700000" algn="ctr" rotWithShape="0">
                    <a:srgbClr val="C0C0C0">
                      <a:alpha val="79999"/>
                    </a:srgbClr>
                  </a:outerShdw>
                </a:effectLst>
                <a:latin typeface="Times New Roman"/>
                <a:cs typeface="Times New Roman"/>
              </a:rPr>
              <a:t>תודה על ההקשבה</a:t>
            </a:r>
          </a:p>
        </p:txBody>
      </p:sp>
      <p:pic>
        <p:nvPicPr>
          <p:cNvPr id="9" name="Picture 2" descr="https://sites.google.com/site/apexlandsurveying/Home/survey_stake.jpg?attredirects=0"/>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214678" y="3929066"/>
            <a:ext cx="2699792" cy="26997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 xmlns:p14="http://schemas.microsoft.com/office/powerpoint/2010/main" val="1850208763"/>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474120"/>
                                        </p:tgtEl>
                                        <p:attrNameLst>
                                          <p:attrName>style.visibility</p:attrName>
                                        </p:attrNameLst>
                                      </p:cBhvr>
                                      <p:to>
                                        <p:strVal val="visible"/>
                                      </p:to>
                                    </p:set>
                                    <p:animEffect transition="in" filter="slide(fromRight)">
                                      <p:cBhvr>
                                        <p:cTn id="7" dur="1000"/>
                                        <p:tgtEl>
                                          <p:spTgt spid="474120"/>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474119"/>
                                        </p:tgtEl>
                                        <p:attrNameLst>
                                          <p:attrName>style.visibility</p:attrName>
                                        </p:attrNameLst>
                                      </p:cBhvr>
                                      <p:to>
                                        <p:strVal val="visible"/>
                                      </p:to>
                                    </p:set>
                                    <p:animEffect transition="in" filter="slide(fromBottom)">
                                      <p:cBhvr>
                                        <p:cTn id="11" dur="1000"/>
                                        <p:tgtEl>
                                          <p:spTgt spid="474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20" grpId="0" animBg="1"/>
    </p:bld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5084</TotalTime>
  <Words>1867</Words>
  <Application>Microsoft Office PowerPoint</Application>
  <PresentationFormat>‫הצגה על המסך (4:3)</PresentationFormat>
  <Paragraphs>346</Paragraphs>
  <Slides>26</Slides>
  <Notes>0</Notes>
  <HiddenSlides>3</HiddenSlides>
  <MMClips>0</MMClips>
  <ScaleCrop>false</ScaleCrop>
  <HeadingPairs>
    <vt:vector size="4" baseType="variant">
      <vt:variant>
        <vt:lpstr>ערכת נושא</vt:lpstr>
      </vt:variant>
      <vt:variant>
        <vt:i4>2</vt:i4>
      </vt:variant>
      <vt:variant>
        <vt:lpstr>כותרות שקופיות</vt:lpstr>
      </vt:variant>
      <vt:variant>
        <vt:i4>26</vt:i4>
      </vt:variant>
    </vt:vector>
  </HeadingPairs>
  <TitlesOfParts>
    <vt:vector size="28" baseType="lpstr">
      <vt:lpstr>ערכת נושא Office</vt:lpstr>
      <vt:lpstr>1_ערכת נושא Office</vt:lpstr>
      <vt:lpstr>שקופית 1</vt:lpstr>
      <vt:lpstr>שקופית 2</vt:lpstr>
      <vt:lpstr>שקופית 3</vt:lpstr>
      <vt:lpstr>הנחיות המנהל לקדסטר – תוכנית עבודה</vt:lpstr>
      <vt:lpstr>שקופית 5</vt:lpstr>
      <vt:lpstr>שקופית 6</vt:lpstr>
      <vt:lpstr>שקופית 7</vt:lpstr>
      <vt:lpstr>שקופית 8</vt:lpstr>
      <vt:lpstr>שקופית 9</vt:lpstr>
      <vt:lpstr>שקופית 10</vt:lpstr>
      <vt:lpstr>שקופית 11</vt:lpstr>
      <vt:lpstr>רשת הבקרה האנכית</vt:lpstr>
      <vt:lpstr>שקופית 13</vt:lpstr>
      <vt:lpstr>שקופית 14</vt:lpstr>
      <vt:lpstr>שקופית 15</vt:lpstr>
      <vt:lpstr>1. איך בא לידי ביטוי הקמ"ק בתקנות המדידה החדשות?</vt:lpstr>
      <vt:lpstr>1. איך בא לידי ביטוי הקמ"ק בתקנות המדידה החדשות?</vt:lpstr>
      <vt:lpstr>2. איך בא לידי חיזוק הקשר בין שלבי התכנון, מדידה והגדרת גבולות, ורישום בתקנות המדידה?</vt:lpstr>
      <vt:lpstr>3. דגש ועדיפות למסמכים ממוחשבים</vt:lpstr>
      <vt:lpstr>3. איך בא לידי ביטוי הדגש ועדיפות למסמכים ממוחשבים בתקנות החדשות?</vt:lpstr>
      <vt:lpstr>4. איך בא לידי ביטוי העברת נושאים טכניים להנחיות?</vt:lpstr>
      <vt:lpstr>5. מתי ניתן לבצע חלוקה לא פרופורצינאלית?</vt:lpstr>
      <vt:lpstr>6. מתי מתיישנת תצ"ר?</vt:lpstr>
      <vt:lpstr>שקופית 24</vt:lpstr>
      <vt:lpstr>שקופית 25</vt:lpstr>
      <vt:lpstr>שקופית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לאה עזרא (פנימי)</dc:creator>
  <cp:lastModifiedBy>yaron-felus</cp:lastModifiedBy>
  <cp:revision>78</cp:revision>
  <cp:lastPrinted>2013-03-13T06:58:02Z</cp:lastPrinted>
  <dcterms:created xsi:type="dcterms:W3CDTF">2013-01-20T07:13:22Z</dcterms:created>
  <dcterms:modified xsi:type="dcterms:W3CDTF">2013-06-22T19:59:11Z</dcterms:modified>
</cp:coreProperties>
</file>